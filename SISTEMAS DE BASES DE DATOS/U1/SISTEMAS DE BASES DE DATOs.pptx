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4"/>
  </p:sldMasterIdLst>
  <p:notesMasterIdLst>
    <p:notesMasterId r:id="rId46"/>
  </p:notesMasterIdLst>
  <p:sldIdLst>
    <p:sldId id="256" r:id="rId5"/>
    <p:sldId id="310" r:id="rId6"/>
    <p:sldId id="311" r:id="rId7"/>
    <p:sldId id="259" r:id="rId8"/>
    <p:sldId id="260" r:id="rId9"/>
    <p:sldId id="261" r:id="rId10"/>
    <p:sldId id="262" r:id="rId11"/>
    <p:sldId id="302" r:id="rId12"/>
    <p:sldId id="303" r:id="rId13"/>
    <p:sldId id="304" r:id="rId14"/>
    <p:sldId id="305" r:id="rId15"/>
    <p:sldId id="306" r:id="rId16"/>
    <p:sldId id="300" r:id="rId17"/>
    <p:sldId id="299" r:id="rId18"/>
    <p:sldId id="266" r:id="rId19"/>
    <p:sldId id="265" r:id="rId20"/>
    <p:sldId id="316" r:id="rId21"/>
    <p:sldId id="318" r:id="rId22"/>
    <p:sldId id="320" r:id="rId23"/>
    <p:sldId id="338" r:id="rId24"/>
    <p:sldId id="339" r:id="rId25"/>
    <p:sldId id="340" r:id="rId26"/>
    <p:sldId id="341" r:id="rId27"/>
    <p:sldId id="342" r:id="rId28"/>
    <p:sldId id="343" r:id="rId29"/>
    <p:sldId id="319" r:id="rId30"/>
    <p:sldId id="315" r:id="rId31"/>
    <p:sldId id="322" r:id="rId32"/>
    <p:sldId id="325" r:id="rId33"/>
    <p:sldId id="326" r:id="rId34"/>
    <p:sldId id="328" r:id="rId35"/>
    <p:sldId id="309" r:id="rId36"/>
    <p:sldId id="327" r:id="rId37"/>
    <p:sldId id="312" r:id="rId38"/>
    <p:sldId id="329" r:id="rId39"/>
    <p:sldId id="332" r:id="rId40"/>
    <p:sldId id="330" r:id="rId41"/>
    <p:sldId id="335" r:id="rId42"/>
    <p:sldId id="333" r:id="rId43"/>
    <p:sldId id="334" r:id="rId44"/>
    <p:sldId id="344" r:id="rId45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47"/>
    </p:embeddedFont>
    <p:embeddedFont>
      <p:font typeface="Lato" panose="020F0502020204030203" pitchFamily="34" charset="0"/>
      <p:regular r:id="rId48"/>
      <p:bold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3FF9B4-D055-445E-AAFF-C0D27C9D06A3}" v="1" dt="2025-04-30T03:46:53.112"/>
  </p1510:revLst>
</p1510:revInfo>
</file>

<file path=ppt/tableStyles.xml><?xml version="1.0" encoding="utf-8"?>
<a:tblStyleLst xmlns:a="http://schemas.openxmlformats.org/drawingml/2006/main" def="{8637C9FD-A732-41DD-B7DA-FF528884E396}">
  <a:tblStyle styleId="{8637C9FD-A732-41DD-B7DA-FF528884E396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84226D-5A93-446A-9A70-D3B1AA63903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8" y="10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2.fntdata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ad96be1b45_0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ad96be1b45_0_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ad96be1b45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ad96be1b45_0_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ad96be1b45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ad96be1b45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a32b52f43e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a32b52f43e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>
          <a:extLst>
            <a:ext uri="{FF2B5EF4-FFF2-40B4-BE49-F238E27FC236}">
              <a16:creationId xmlns:a16="http://schemas.microsoft.com/office/drawing/2014/main" id="{12C58ED4-17F9-EA6F-F46D-92AAD41F7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a32b52f43e_0_200:notes">
            <a:extLst>
              <a:ext uri="{FF2B5EF4-FFF2-40B4-BE49-F238E27FC236}">
                <a16:creationId xmlns:a16="http://schemas.microsoft.com/office/drawing/2014/main" id="{9016393D-50FC-FFC7-8CB0-019A01D119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a32b52f43e_0_200:notes">
            <a:extLst>
              <a:ext uri="{FF2B5EF4-FFF2-40B4-BE49-F238E27FC236}">
                <a16:creationId xmlns:a16="http://schemas.microsoft.com/office/drawing/2014/main" id="{646B6C4B-FD47-0E0C-8BDB-B8816A7876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8528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ad96be1b4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ad96be1b4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ad96be1b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ad96be1b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B3AFF2F3-773F-64FE-9B2F-6AEEC9615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ad96be1b45_0_38:notes">
            <a:extLst>
              <a:ext uri="{FF2B5EF4-FFF2-40B4-BE49-F238E27FC236}">
                <a16:creationId xmlns:a16="http://schemas.microsoft.com/office/drawing/2014/main" id="{3600173E-34D5-FC4F-425D-3334A0AF01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ad96be1b45_0_38:notes">
            <a:extLst>
              <a:ext uri="{FF2B5EF4-FFF2-40B4-BE49-F238E27FC236}">
                <a16:creationId xmlns:a16="http://schemas.microsoft.com/office/drawing/2014/main" id="{3D42E760-18FC-5F1F-260C-41E2D19B43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7032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nota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s-EC" b="1" dirty="0">
                    <a:effectLst/>
                  </a:rPr>
                  <a:t>R1​ </a:t>
                </a:r>
                <a:r>
                  <a:rPr lang="es-EC" b="1" dirty="0" err="1">
                    <a:effectLst/>
                  </a:rPr>
                  <a:t>Pais</a:t>
                </a:r>
                <a:r>
                  <a:rPr lang="es-EC" dirty="0">
                    <a:effectLst/>
                  </a:rPr>
                  <a:t> (</a:t>
                </a:r>
                <a:r>
                  <a:rPr lang="es-EC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id_pais</a:t>
                </a:r>
                <a:r>
                  <a:rPr lang="es-EC" dirty="0">
                    <a:effectLst/>
                  </a:rPr>
                  <a:t>, </a:t>
                </a:r>
                <a:r>
                  <a:rPr lang="es-EC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nombre_pais</a:t>
                </a:r>
                <a:r>
                  <a:rPr lang="es-EC" dirty="0">
                    <a:effectLst/>
                  </a:rPr>
                  <a:t>)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s-EC" sz="1100" b="0" i="1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</m:ctrlPr>
                      </m:sSubPr>
                      <m:e>
                        <m:r>
                          <a:rPr lang="es-EC" sz="1100" b="0" i="1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m:t>𝑅</m:t>
                        </m:r>
                      </m:e>
                      <m:sub>
                        <m:r>
                          <a:rPr lang="es-EC" sz="1100" b="0" i="0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EC" b="1" dirty="0">
                    <a:effectLst/>
                  </a:rPr>
                  <a:t> Cliente</a:t>
                </a:r>
                <a:r>
                  <a:rPr lang="es-EC" dirty="0">
                    <a:effectLst/>
                  </a:rPr>
                  <a:t> (</a:t>
                </a:r>
                <a:r>
                  <a:rPr lang="es-EC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id_cliente</a:t>
                </a:r>
                <a:r>
                  <a:rPr lang="es-EC" dirty="0">
                    <a:effectLst/>
                  </a:rPr>
                  <a:t>, </a:t>
                </a:r>
                <a:r>
                  <a:rPr lang="es-EC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nombre_cliente</a:t>
                </a:r>
                <a:r>
                  <a:rPr lang="es-EC" dirty="0">
                    <a:effectLst/>
                  </a:rPr>
                  <a:t>, </a:t>
                </a:r>
                <a:r>
                  <a:rPr lang="es-EC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id_pais</a:t>
                </a:r>
                <a:r>
                  <a:rPr lang="es-EC" dirty="0">
                    <a:effectLst/>
                  </a:rPr>
                  <a:t>)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s-EC" sz="1100" b="0" i="1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</m:ctrlPr>
                      </m:sSubPr>
                      <m:e>
                        <m:r>
                          <a:rPr lang="es-EC" sz="1100" b="0" i="1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m:t>𝑅</m:t>
                        </m:r>
                      </m:e>
                      <m:sub>
                        <m:r>
                          <a:rPr lang="es-EC" sz="1100" b="0" i="0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m:t>3</m:t>
                        </m:r>
                      </m:sub>
                    </m:sSub>
                  </m:oMath>
                </a14:m>
                <a:r>
                  <a:rPr lang="es-EC" b="1" dirty="0">
                    <a:effectLst/>
                  </a:rPr>
                  <a:t> Pedido</a:t>
                </a:r>
                <a:r>
                  <a:rPr lang="es-EC" dirty="0">
                    <a:effectLst/>
                  </a:rPr>
                  <a:t> (</a:t>
                </a:r>
                <a:r>
                  <a:rPr lang="es-EC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id_pedido</a:t>
                </a:r>
                <a:r>
                  <a:rPr lang="es-EC" dirty="0">
                    <a:effectLst/>
                  </a:rPr>
                  <a:t>, </a:t>
                </a:r>
                <a:r>
                  <a:rPr lang="es-EC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fecha_pedido</a:t>
                </a:r>
                <a:r>
                  <a:rPr lang="es-EC" dirty="0">
                    <a:effectLst/>
                  </a:rPr>
                  <a:t>, </a:t>
                </a:r>
                <a:r>
                  <a:rPr lang="es-EC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id_cliente</a:t>
                </a:r>
                <a:r>
                  <a:rPr lang="es-EC" dirty="0">
                    <a:effectLst/>
                  </a:rPr>
                  <a:t>)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s-EC" sz="1100" b="0" i="1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</m:ctrlPr>
                      </m:sSubPr>
                      <m:e>
                        <m:r>
                          <a:rPr lang="es-EC" sz="1100" b="0" i="1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m:t>𝑅</m:t>
                        </m:r>
                      </m:e>
                      <m:sub>
                        <m:r>
                          <a:rPr lang="es-EC" sz="1100" b="0" i="0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m:t>4</m:t>
                        </m:r>
                      </m:sub>
                    </m:sSub>
                  </m:oMath>
                </a14:m>
                <a:r>
                  <a:rPr lang="es-EC" b="1" dirty="0">
                    <a:effectLst/>
                  </a:rPr>
                  <a:t> Producto</a:t>
                </a:r>
                <a:r>
                  <a:rPr lang="es-EC" dirty="0">
                    <a:effectLst/>
                  </a:rPr>
                  <a:t> (</a:t>
                </a:r>
                <a:r>
                  <a:rPr lang="es-EC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id_producto</a:t>
                </a:r>
                <a:r>
                  <a:rPr lang="es-EC" dirty="0">
                    <a:effectLst/>
                  </a:rPr>
                  <a:t>, </a:t>
                </a:r>
                <a:r>
                  <a:rPr lang="es-EC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descripcion_producto</a:t>
                </a:r>
                <a:r>
                  <a:rPr lang="es-EC" dirty="0">
                    <a:effectLst/>
                  </a:rPr>
                  <a:t>)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s-EC" sz="1100" b="0" i="1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</m:ctrlPr>
                      </m:sSubPr>
                      <m:e>
                        <m:r>
                          <a:rPr lang="es-EC" sz="1100" b="0" i="1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m:t>𝑅</m:t>
                        </m:r>
                      </m:e>
                      <m:sub>
                        <m:r>
                          <a:rPr lang="es-EC" sz="1100" b="0" i="0" u="none" strike="noStrike" cap="none">
                            <a:solidFill>
                              <a:srgbClr val="00000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m:t>5</m:t>
                        </m:r>
                      </m:sub>
                    </m:sSub>
                  </m:oMath>
                </a14:m>
                <a:r>
                  <a:rPr lang="es-EC" b="1" dirty="0">
                    <a:effectLst/>
                  </a:rPr>
                  <a:t> </a:t>
                </a:r>
                <a:r>
                  <a:rPr lang="es-EC" b="1" dirty="0" err="1">
                    <a:effectLst/>
                  </a:rPr>
                  <a:t>DetallePedido</a:t>
                </a:r>
                <a:r>
                  <a:rPr lang="es-EC" dirty="0">
                    <a:effectLst/>
                  </a:rPr>
                  <a:t> (</a:t>
                </a:r>
                <a:r>
                  <a:rPr lang="es-EC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id_pedido</a:t>
                </a:r>
                <a:r>
                  <a:rPr lang="es-EC" dirty="0">
                    <a:effectLst/>
                  </a:rPr>
                  <a:t>, </a:t>
                </a:r>
                <a:r>
                  <a:rPr lang="es-EC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id_producto</a:t>
                </a:r>
                <a:r>
                  <a:rPr lang="es-EC" dirty="0">
                    <a:effectLst/>
                  </a:rPr>
                  <a:t>)</a:t>
                </a:r>
              </a:p>
              <a:p>
                <a:pPr marL="158750" indent="0">
                  <a:buNone/>
                </a:pPr>
                <a:endParaRPr lang="es-EC" dirty="0"/>
              </a:p>
            </p:txBody>
          </p:sp>
        </mc:Choice>
        <mc:Fallback>
          <p:sp>
            <p:nvSpPr>
              <p:cNvPr id="3" name="Marcador de nota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s-EC" b="1" dirty="0">
                    <a:effectLst/>
                  </a:rPr>
                  <a:t>R1​ </a:t>
                </a:r>
                <a:r>
                  <a:rPr lang="es-EC" b="1" dirty="0" err="1">
                    <a:effectLst/>
                  </a:rPr>
                  <a:t>Pais</a:t>
                </a:r>
                <a:r>
                  <a:rPr lang="es-EC" dirty="0">
                    <a:effectLst/>
                  </a:rPr>
                  <a:t> (</a:t>
                </a:r>
                <a:r>
                  <a:rPr lang="es-EC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id_pais</a:t>
                </a:r>
                <a:r>
                  <a:rPr lang="es-EC" dirty="0">
                    <a:effectLst/>
                  </a:rPr>
                  <a:t>, </a:t>
                </a:r>
                <a:r>
                  <a:rPr lang="es-EC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nombre_pais</a:t>
                </a:r>
                <a:r>
                  <a:rPr lang="es-EC" dirty="0">
                    <a:effectLst/>
                  </a:rPr>
                  <a:t>)</a:t>
                </a:r>
              </a:p>
              <a:p>
                <a:pPr lvl="0"/>
                <a:r>
                  <a:rPr lang="es-EC"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𝑅_2</a:t>
                </a:r>
                <a:r>
                  <a:rPr lang="es-EC" b="1" dirty="0">
                    <a:effectLst/>
                  </a:rPr>
                  <a:t> Cliente</a:t>
                </a:r>
                <a:r>
                  <a:rPr lang="es-EC" dirty="0">
                    <a:effectLst/>
                  </a:rPr>
                  <a:t> (</a:t>
                </a:r>
                <a:r>
                  <a:rPr lang="es-EC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id_cliente</a:t>
                </a:r>
                <a:r>
                  <a:rPr lang="es-EC" dirty="0">
                    <a:effectLst/>
                  </a:rPr>
                  <a:t>, </a:t>
                </a:r>
                <a:r>
                  <a:rPr lang="es-EC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nombre_cliente</a:t>
                </a:r>
                <a:r>
                  <a:rPr lang="es-EC" dirty="0">
                    <a:effectLst/>
                  </a:rPr>
                  <a:t>, </a:t>
                </a:r>
                <a:r>
                  <a:rPr lang="es-EC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id_pais</a:t>
                </a:r>
                <a:r>
                  <a:rPr lang="es-EC" dirty="0">
                    <a:effectLst/>
                  </a:rPr>
                  <a:t>)</a:t>
                </a:r>
              </a:p>
              <a:p>
                <a:pPr lvl="0"/>
                <a:r>
                  <a:rPr lang="es-EC"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𝑅_3</a:t>
                </a:r>
                <a:r>
                  <a:rPr lang="es-EC" b="1" dirty="0">
                    <a:effectLst/>
                  </a:rPr>
                  <a:t> Pedido</a:t>
                </a:r>
                <a:r>
                  <a:rPr lang="es-EC" dirty="0">
                    <a:effectLst/>
                  </a:rPr>
                  <a:t> (</a:t>
                </a:r>
                <a:r>
                  <a:rPr lang="es-EC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id_pedido</a:t>
                </a:r>
                <a:r>
                  <a:rPr lang="es-EC" dirty="0">
                    <a:effectLst/>
                  </a:rPr>
                  <a:t>, </a:t>
                </a:r>
                <a:r>
                  <a:rPr lang="es-EC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fecha_pedido</a:t>
                </a:r>
                <a:r>
                  <a:rPr lang="es-EC" dirty="0">
                    <a:effectLst/>
                  </a:rPr>
                  <a:t>, </a:t>
                </a:r>
                <a:r>
                  <a:rPr lang="es-EC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id_cliente</a:t>
                </a:r>
                <a:r>
                  <a:rPr lang="es-EC" dirty="0">
                    <a:effectLst/>
                  </a:rPr>
                  <a:t>)</a:t>
                </a:r>
              </a:p>
              <a:p>
                <a:pPr lvl="0"/>
                <a:r>
                  <a:rPr lang="es-EC"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𝑅_4</a:t>
                </a:r>
                <a:r>
                  <a:rPr lang="es-EC" b="1" dirty="0">
                    <a:effectLst/>
                  </a:rPr>
                  <a:t> Producto</a:t>
                </a:r>
                <a:r>
                  <a:rPr lang="es-EC" dirty="0">
                    <a:effectLst/>
                  </a:rPr>
                  <a:t> (</a:t>
                </a:r>
                <a:r>
                  <a:rPr lang="es-EC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id_producto</a:t>
                </a:r>
                <a:r>
                  <a:rPr lang="es-EC" dirty="0">
                    <a:effectLst/>
                  </a:rPr>
                  <a:t>, </a:t>
                </a:r>
                <a:r>
                  <a:rPr lang="es-EC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descripcion_producto</a:t>
                </a:r>
                <a:r>
                  <a:rPr lang="es-EC" dirty="0">
                    <a:effectLst/>
                  </a:rPr>
                  <a:t>)</a:t>
                </a:r>
              </a:p>
              <a:p>
                <a:pPr lvl="0"/>
                <a:r>
                  <a:rPr lang="es-EC"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𝑅_5</a:t>
                </a:r>
                <a:r>
                  <a:rPr lang="es-EC" b="1" dirty="0">
                    <a:effectLst/>
                  </a:rPr>
                  <a:t> </a:t>
                </a:r>
                <a:r>
                  <a:rPr lang="es-EC" b="1" dirty="0" err="1">
                    <a:effectLst/>
                  </a:rPr>
                  <a:t>DetallePedido</a:t>
                </a:r>
                <a:r>
                  <a:rPr lang="es-EC" dirty="0">
                    <a:effectLst/>
                  </a:rPr>
                  <a:t> (</a:t>
                </a:r>
                <a:r>
                  <a:rPr lang="es-EC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id_pedido</a:t>
                </a:r>
                <a:r>
                  <a:rPr lang="es-EC" dirty="0">
                    <a:effectLst/>
                  </a:rPr>
                  <a:t>, </a:t>
                </a:r>
                <a:r>
                  <a:rPr lang="es-EC" sz="1100" b="0" i="0" u="none" strike="noStrike" cap="none" dirty="0" err="1">
                    <a:solidFill>
                      <a:srgbClr val="000000"/>
                    </a:solidFill>
                    <a:effectLst/>
                    <a:latin typeface="Arial"/>
                    <a:ea typeface="Arial"/>
                    <a:cs typeface="Arial"/>
                    <a:sym typeface="Arial"/>
                  </a:rPr>
                  <a:t>id_producto</a:t>
                </a:r>
                <a:r>
                  <a:rPr lang="es-EC" dirty="0">
                    <a:effectLst/>
                  </a:rPr>
                  <a:t>)</a:t>
                </a:r>
              </a:p>
              <a:p>
                <a:pPr marL="158750" indent="0">
                  <a:buNone/>
                </a:pPr>
                <a:endParaRPr lang="es-EC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9030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85800" y="527275"/>
            <a:ext cx="2746800" cy="26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85800" y="3514825"/>
            <a:ext cx="27468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5248200" y="1172875"/>
            <a:ext cx="3895800" cy="261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5821500" y="2152100"/>
            <a:ext cx="2636700" cy="13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5821500" y="1307400"/>
            <a:ext cx="26367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4366500" y="527275"/>
            <a:ext cx="4091700" cy="6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4366500" y="1352300"/>
            <a:ext cx="4091700" cy="16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5259600" y="527275"/>
            <a:ext cx="3198600" cy="25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685800" y="527275"/>
            <a:ext cx="7772400" cy="6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4572000" y="1172875"/>
            <a:ext cx="3886200" cy="47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bas Neue"/>
              <a:buNone/>
              <a:defRPr sz="1800"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body" idx="2"/>
          </p:nvPr>
        </p:nvSpPr>
        <p:spPr>
          <a:xfrm>
            <a:off x="4572000" y="1818500"/>
            <a:ext cx="3886200" cy="124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6_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>
            <a:spLocks noGrp="1"/>
          </p:cNvSpPr>
          <p:nvPr>
            <p:ph type="title"/>
          </p:nvPr>
        </p:nvSpPr>
        <p:spPr>
          <a:xfrm>
            <a:off x="685800" y="1409625"/>
            <a:ext cx="3231000" cy="204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1"/>
          </p:nvPr>
        </p:nvSpPr>
        <p:spPr>
          <a:xfrm>
            <a:off x="685800" y="3458875"/>
            <a:ext cx="3231000" cy="116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5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body" idx="1"/>
          </p:nvPr>
        </p:nvSpPr>
        <p:spPr>
          <a:xfrm>
            <a:off x="685800" y="1706275"/>
            <a:ext cx="4734600" cy="111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ubTitle" idx="2"/>
          </p:nvPr>
        </p:nvSpPr>
        <p:spPr>
          <a:xfrm>
            <a:off x="685800" y="2825275"/>
            <a:ext cx="4734600" cy="49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and three columns">
  <p:cSld name="CUSTOM_2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title"/>
          </p:nvPr>
        </p:nvSpPr>
        <p:spPr>
          <a:xfrm>
            <a:off x="678600" y="527275"/>
            <a:ext cx="7786800" cy="6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body" idx="1"/>
          </p:nvPr>
        </p:nvSpPr>
        <p:spPr>
          <a:xfrm>
            <a:off x="678600" y="3669325"/>
            <a:ext cx="2209500" cy="9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subTitle" idx="2"/>
          </p:nvPr>
        </p:nvSpPr>
        <p:spPr>
          <a:xfrm>
            <a:off x="678612" y="3131425"/>
            <a:ext cx="2209500" cy="53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3"/>
          </p:nvPr>
        </p:nvSpPr>
        <p:spPr>
          <a:xfrm>
            <a:off x="6242075" y="3669325"/>
            <a:ext cx="2209500" cy="9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ubTitle" idx="4"/>
          </p:nvPr>
        </p:nvSpPr>
        <p:spPr>
          <a:xfrm>
            <a:off x="6242087" y="3131425"/>
            <a:ext cx="2209500" cy="53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5"/>
          </p:nvPr>
        </p:nvSpPr>
        <p:spPr>
          <a:xfrm>
            <a:off x="3460338" y="2069125"/>
            <a:ext cx="2209500" cy="9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subTitle" idx="6"/>
          </p:nvPr>
        </p:nvSpPr>
        <p:spPr>
          <a:xfrm>
            <a:off x="3460350" y="1531225"/>
            <a:ext cx="2209500" cy="53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and four columns">
  <p:cSld name="CUSTOM_2_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>
            <a:spLocks noGrp="1"/>
          </p:cNvSpPr>
          <p:nvPr>
            <p:ph type="title"/>
          </p:nvPr>
        </p:nvSpPr>
        <p:spPr>
          <a:xfrm>
            <a:off x="678600" y="527275"/>
            <a:ext cx="7786800" cy="6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body" idx="1"/>
          </p:nvPr>
        </p:nvSpPr>
        <p:spPr>
          <a:xfrm>
            <a:off x="678600" y="3916800"/>
            <a:ext cx="28185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subTitle" idx="2"/>
          </p:nvPr>
        </p:nvSpPr>
        <p:spPr>
          <a:xfrm>
            <a:off x="678600" y="3583200"/>
            <a:ext cx="2818500" cy="3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body" idx="3"/>
          </p:nvPr>
        </p:nvSpPr>
        <p:spPr>
          <a:xfrm>
            <a:off x="678600" y="2388900"/>
            <a:ext cx="28185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subTitle" idx="4"/>
          </p:nvPr>
        </p:nvSpPr>
        <p:spPr>
          <a:xfrm>
            <a:off x="678600" y="2055300"/>
            <a:ext cx="2818500" cy="3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body" idx="5"/>
          </p:nvPr>
        </p:nvSpPr>
        <p:spPr>
          <a:xfrm>
            <a:off x="5639700" y="3916800"/>
            <a:ext cx="28185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subTitle" idx="6"/>
          </p:nvPr>
        </p:nvSpPr>
        <p:spPr>
          <a:xfrm>
            <a:off x="5639700" y="3583200"/>
            <a:ext cx="2818500" cy="3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1600"/>
              </a:spcBef>
              <a:spcAft>
                <a:spcPts val="16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body" idx="7"/>
          </p:nvPr>
        </p:nvSpPr>
        <p:spPr>
          <a:xfrm>
            <a:off x="5639700" y="2388900"/>
            <a:ext cx="28185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subTitle" idx="8"/>
          </p:nvPr>
        </p:nvSpPr>
        <p:spPr>
          <a:xfrm>
            <a:off x="5639700" y="2055300"/>
            <a:ext cx="2818500" cy="3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160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1600"/>
              </a:spcBef>
              <a:spcAft>
                <a:spcPts val="160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7_1">
    <p:bg>
      <p:bgPr>
        <a:solidFill>
          <a:schemeClr val="accent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78600" y="527275"/>
            <a:ext cx="7786800" cy="6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1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78600" y="1657100"/>
            <a:ext cx="7786800" cy="29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8" r:id="rId6"/>
    <p:sldLayoutId id="2147483662" r:id="rId7"/>
    <p:sldLayoutId id="2147483663" r:id="rId8"/>
    <p:sldLayoutId id="2147483665" r:id="rId9"/>
    <p:sldLayoutId id="2147483666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32">
          <p15:clr>
            <a:srgbClr val="EA4335"/>
          </p15:clr>
        </p15:guide>
        <p15:guide id="2" orient="horz" pos="332">
          <p15:clr>
            <a:srgbClr val="EA4335"/>
          </p15:clr>
        </p15:guide>
        <p15:guide id="3" pos="5328">
          <p15:clr>
            <a:srgbClr val="EA4335"/>
          </p15:clr>
        </p15:guide>
        <p15:guide id="4" orient="horz" pos="2908">
          <p15:clr>
            <a:srgbClr val="EA4335"/>
          </p15:clr>
        </p15:guide>
        <p15:guide id="5" orient="horz" pos="739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/>
          <p:nvPr/>
        </p:nvSpPr>
        <p:spPr>
          <a:xfrm>
            <a:off x="0" y="4387175"/>
            <a:ext cx="3457500" cy="1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9"/>
          <p:cNvSpPr txBox="1">
            <a:spLocks noGrp="1"/>
          </p:cNvSpPr>
          <p:nvPr>
            <p:ph type="ctrTitle"/>
          </p:nvPr>
        </p:nvSpPr>
        <p:spPr>
          <a:xfrm>
            <a:off x="705343" y="1027147"/>
            <a:ext cx="3276600" cy="26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/>
              <a:t>B</a:t>
            </a:r>
            <a:r>
              <a:rPr lang="en" dirty="0"/>
              <a:t>ase de datos y sus usuarios</a:t>
            </a:r>
            <a:endParaRPr dirty="0"/>
          </a:p>
        </p:txBody>
      </p:sp>
      <p:sp>
        <p:nvSpPr>
          <p:cNvPr id="138" name="Google Shape;138;p29"/>
          <p:cNvSpPr/>
          <p:nvPr/>
        </p:nvSpPr>
        <p:spPr>
          <a:xfrm>
            <a:off x="0" y="0"/>
            <a:ext cx="418500" cy="269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6" name="Picture 2" descr="Qué es la integración de bases de datos? Descripción general y beneficios">
            <a:extLst>
              <a:ext uri="{FF2B5EF4-FFF2-40B4-BE49-F238E27FC236}">
                <a16:creationId xmlns:a16="http://schemas.microsoft.com/office/drawing/2014/main" id="{19F09CF3-B507-2480-F4F8-2C080FBE2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8787" y="0"/>
            <a:ext cx="4875213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FE4C4-18C5-16C2-ADBB-B909B35E1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CONCEPTOS BÁSICOS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DFE19A-491C-288D-ADC6-6DA3657663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092" y="1501622"/>
            <a:ext cx="3886200" cy="473700"/>
          </a:xfrm>
        </p:spPr>
        <p:txBody>
          <a:bodyPr/>
          <a:lstStyle/>
          <a:p>
            <a:r>
              <a:rPr lang="es-EC" dirty="0" err="1"/>
              <a:t>DAtos</a:t>
            </a:r>
            <a:endParaRPr lang="es-EC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FF348A-298D-7D62-413C-C3388CF47D4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5800" y="1706447"/>
            <a:ext cx="7772400" cy="1248300"/>
          </a:xfrm>
        </p:spPr>
        <p:txBody>
          <a:bodyPr/>
          <a:lstStyle/>
          <a:p>
            <a:pPr marL="139700" indent="0">
              <a:buNone/>
            </a:pPr>
            <a:r>
              <a:rPr lang="es-ES" b="1" i="1" dirty="0"/>
              <a:t>(del latín data, plural de datum)</a:t>
            </a:r>
            <a:r>
              <a:rPr lang="es-ES" dirty="0"/>
              <a:t> significa simplemente </a:t>
            </a:r>
            <a:r>
              <a:rPr lang="es-ES" dirty="0">
                <a:solidFill>
                  <a:srgbClr val="FF0000"/>
                </a:solidFill>
              </a:rPr>
              <a:t>hechos</a:t>
            </a:r>
            <a:r>
              <a:rPr lang="es-ES" dirty="0"/>
              <a:t>, entidades independientes sin evaluar. Los datos pueden ser numéricos, alfabéticos, imágenes,......etc. </a:t>
            </a:r>
            <a:endParaRPr lang="es-EC" dirty="0"/>
          </a:p>
        </p:txBody>
      </p: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40559874-0587-9944-D5B9-B9B3CCF94447}"/>
              </a:ext>
            </a:extLst>
          </p:cNvPr>
          <p:cNvSpPr txBox="1">
            <a:spLocks/>
          </p:cNvSpPr>
          <p:nvPr/>
        </p:nvSpPr>
        <p:spPr>
          <a:xfrm>
            <a:off x="685800" y="3251469"/>
            <a:ext cx="7872984" cy="12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39700" indent="0">
              <a:buFont typeface="Lato"/>
              <a:buNone/>
            </a:pPr>
            <a:r>
              <a:rPr lang="es-ES" dirty="0"/>
              <a:t>Es un conjunto ordenado de </a:t>
            </a:r>
            <a:r>
              <a:rPr lang="es-ES" dirty="0">
                <a:solidFill>
                  <a:srgbClr val="FF0000"/>
                </a:solidFill>
              </a:rPr>
              <a:t>datos</a:t>
            </a:r>
            <a:r>
              <a:rPr lang="es-ES" dirty="0"/>
              <a:t>, los cuales pueden recuperarse de acuerdo a la necesidad del usuario.</a:t>
            </a:r>
            <a:endParaRPr lang="es-EC" dirty="0"/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751B09BE-912D-41E8-D32C-8653CD81206D}"/>
              </a:ext>
            </a:extLst>
          </p:cNvPr>
          <p:cNvSpPr txBox="1">
            <a:spLocks/>
          </p:cNvSpPr>
          <p:nvPr/>
        </p:nvSpPr>
        <p:spPr>
          <a:xfrm>
            <a:off x="736092" y="3014619"/>
            <a:ext cx="3886200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ebas Neue"/>
              <a:buNone/>
              <a:defRPr sz="18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None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s-EC" dirty="0"/>
              <a:t>información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E320ACE-3F01-2499-430F-01A4D5368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259" y="527275"/>
            <a:ext cx="3048425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91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40B69F-CEF4-997D-0712-71E6BD690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definiciones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FD8FCB-8D64-ADF4-D058-BB4F03D47EE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85800" y="2010463"/>
            <a:ext cx="7772400" cy="1881154"/>
          </a:xfrm>
        </p:spPr>
        <p:txBody>
          <a:bodyPr/>
          <a:lstStyle/>
          <a:p>
            <a:pPr algn="just"/>
            <a:r>
              <a:rPr lang="es-ES" sz="1800" dirty="0"/>
              <a:t>Es una colección de archivos interrelacionados creados por un DBMS </a:t>
            </a:r>
          </a:p>
          <a:p>
            <a:pPr algn="just"/>
            <a:r>
              <a:rPr lang="es-ES" sz="1800" dirty="0"/>
              <a:t>Una Base de datos es una colección de datos almacenados y organizados con base en relaciones entre ellos mismos </a:t>
            </a:r>
          </a:p>
          <a:p>
            <a:pPr algn="just"/>
            <a:r>
              <a:rPr lang="es-ES" sz="1800" dirty="0"/>
              <a:t>Una base de datos es una fuente central de datos significativos, los cuales son compartidos por numerosos usuarios para diversas aplicaciones </a:t>
            </a:r>
          </a:p>
          <a:p>
            <a:pPr algn="just"/>
            <a:r>
              <a:rPr lang="es-ES" sz="1800" dirty="0"/>
              <a:t>Conjunto de datos organizados de tal manera que pueda extraerse información y se logre compartirla  </a:t>
            </a:r>
          </a:p>
          <a:p>
            <a:pPr algn="just"/>
            <a:r>
              <a:rPr lang="es-ES" sz="1800" dirty="0"/>
              <a:t>Una colección de datos que es administrada por un sistema de administración de base de datos (DBMS)</a:t>
            </a:r>
            <a:endParaRPr lang="es-EC" sz="1800" dirty="0"/>
          </a:p>
        </p:txBody>
      </p:sp>
    </p:spTree>
    <p:extLst>
      <p:ext uri="{BB962C8B-B14F-4D97-AF65-F5344CB8AC3E}">
        <p14:creationId xmlns:p14="http://schemas.microsoft.com/office/powerpoint/2010/main" val="2926536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2"/>
          <p:cNvSpPr txBox="1">
            <a:spLocks noGrp="1"/>
          </p:cNvSpPr>
          <p:nvPr>
            <p:ph type="title"/>
          </p:nvPr>
        </p:nvSpPr>
        <p:spPr>
          <a:xfrm>
            <a:off x="685800" y="527275"/>
            <a:ext cx="7772400" cy="6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Conceptos y caracteristicas </a:t>
            </a:r>
            <a:endParaRPr dirty="0"/>
          </a:p>
        </p:txBody>
      </p:sp>
      <p:sp>
        <p:nvSpPr>
          <p:cNvPr id="344" name="Google Shape;344;p32"/>
          <p:cNvSpPr txBox="1">
            <a:spLocks noGrp="1"/>
          </p:cNvSpPr>
          <p:nvPr>
            <p:ph type="body" idx="2"/>
          </p:nvPr>
        </p:nvSpPr>
        <p:spPr>
          <a:xfrm>
            <a:off x="749808" y="1323450"/>
            <a:ext cx="7644384" cy="124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lvl="0" indent="0" algn="just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2000" dirty="0"/>
              <a:t>Una </a:t>
            </a:r>
            <a:r>
              <a:rPr lang="es-ES" sz="2000" b="1" dirty="0"/>
              <a:t>base de datos </a:t>
            </a:r>
            <a:r>
              <a:rPr lang="es-ES" sz="2000" dirty="0"/>
              <a:t>es un conjunto organizado de datos que se almacenan de manera estructurada, con el fin de facilitar su </a:t>
            </a:r>
            <a:r>
              <a:rPr lang="es-ES" sz="2000" dirty="0">
                <a:solidFill>
                  <a:srgbClr val="FF0000"/>
                </a:solidFill>
              </a:rPr>
              <a:t>acceso, manipulación, administración y actualización.</a:t>
            </a:r>
            <a:endParaRPr sz="2000" dirty="0">
              <a:solidFill>
                <a:srgbClr val="FF0000"/>
              </a:solidFill>
            </a:endParaRPr>
          </a:p>
        </p:txBody>
      </p:sp>
      <p:sp>
        <p:nvSpPr>
          <p:cNvPr id="414" name="Google Shape;414;p32"/>
          <p:cNvSpPr/>
          <p:nvPr/>
        </p:nvSpPr>
        <p:spPr>
          <a:xfrm>
            <a:off x="0" y="1172875"/>
            <a:ext cx="3457500" cy="1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32"/>
          <p:cNvSpPr/>
          <p:nvPr/>
        </p:nvSpPr>
        <p:spPr>
          <a:xfrm>
            <a:off x="8725500" y="2528700"/>
            <a:ext cx="418500" cy="261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44;p32">
            <a:extLst>
              <a:ext uri="{FF2B5EF4-FFF2-40B4-BE49-F238E27FC236}">
                <a16:creationId xmlns:a16="http://schemas.microsoft.com/office/drawing/2014/main" id="{FB5E185A-B485-1316-8C54-5DA8AAC09279}"/>
              </a:ext>
            </a:extLst>
          </p:cNvPr>
          <p:cNvSpPr txBox="1">
            <a:spLocks/>
          </p:cNvSpPr>
          <p:nvPr/>
        </p:nvSpPr>
        <p:spPr>
          <a:xfrm>
            <a:off x="685800" y="2722325"/>
            <a:ext cx="7644384" cy="12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39700" indent="0" algn="just">
              <a:buFont typeface="Lato"/>
              <a:buNone/>
            </a:pPr>
            <a:r>
              <a:rPr lang="es-ES" sz="1800" dirty="0"/>
              <a:t>IMPORTANCIA: Centralizar datos de manera ORGANIZADA evitando la REDUNDANCIA y mejorando la EFICIENCIA en la recuperación de información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3"/>
          <p:cNvSpPr txBox="1">
            <a:spLocks noGrp="1"/>
          </p:cNvSpPr>
          <p:nvPr>
            <p:ph type="subTitle" idx="2"/>
          </p:nvPr>
        </p:nvSpPr>
        <p:spPr>
          <a:xfrm>
            <a:off x="778526" y="4367297"/>
            <a:ext cx="4734600" cy="49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Caracteristicas</a:t>
            </a:r>
            <a:endParaRPr dirty="0"/>
          </a:p>
        </p:txBody>
      </p:sp>
      <p:sp>
        <p:nvSpPr>
          <p:cNvPr id="423" name="Google Shape;423;p33"/>
          <p:cNvSpPr/>
          <p:nvPr/>
        </p:nvSpPr>
        <p:spPr>
          <a:xfrm>
            <a:off x="0" y="4871971"/>
            <a:ext cx="3457500" cy="1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4" name="Google Shape;424;p33"/>
          <p:cNvSpPr/>
          <p:nvPr/>
        </p:nvSpPr>
        <p:spPr>
          <a:xfrm>
            <a:off x="8725500" y="1172875"/>
            <a:ext cx="418500" cy="261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5A30A76-70BB-43A2-B67C-99F188FA4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617743"/>
              </p:ext>
            </p:extLst>
          </p:nvPr>
        </p:nvGraphicFramePr>
        <p:xfrm>
          <a:off x="911380" y="479681"/>
          <a:ext cx="7321240" cy="3308781"/>
        </p:xfrm>
        <a:graphic>
          <a:graphicData uri="http://schemas.openxmlformats.org/drawingml/2006/table">
            <a:tbl>
              <a:tblPr>
                <a:tableStyleId>{0784226D-5A93-446A-9A70-D3B1AA63903F}</a:tableStyleId>
              </a:tblPr>
              <a:tblGrid>
                <a:gridCol w="2200600">
                  <a:extLst>
                    <a:ext uri="{9D8B030D-6E8A-4147-A177-3AD203B41FA5}">
                      <a16:colId xmlns:a16="http://schemas.microsoft.com/office/drawing/2014/main" val="954785576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51478089"/>
                    </a:ext>
                  </a:extLst>
                </a:gridCol>
              </a:tblGrid>
              <a:tr h="256423">
                <a:tc>
                  <a:txBody>
                    <a:bodyPr/>
                    <a:lstStyle/>
                    <a:p>
                      <a:r>
                        <a:rPr lang="es-EC" sz="1200" b="1"/>
                        <a:t>Característica</a:t>
                      </a:r>
                      <a:endParaRPr lang="es-EC" sz="1200"/>
                    </a:p>
                  </a:txBody>
                  <a:tcPr marL="63865" marR="63865" marT="31933" marB="31933" anchor="ctr"/>
                </a:tc>
                <a:tc>
                  <a:txBody>
                    <a:bodyPr/>
                    <a:lstStyle/>
                    <a:p>
                      <a:r>
                        <a:rPr lang="es-EC" sz="1200" b="1"/>
                        <a:t>Descripción</a:t>
                      </a:r>
                      <a:endParaRPr lang="es-EC" sz="1200"/>
                    </a:p>
                  </a:txBody>
                  <a:tcPr marL="63865" marR="63865" marT="31933" marB="31933" anchor="ctr"/>
                </a:tc>
                <a:extLst>
                  <a:ext uri="{0D108BD9-81ED-4DB2-BD59-A6C34878D82A}">
                    <a16:rowId xmlns:a16="http://schemas.microsoft.com/office/drawing/2014/main" val="2211363564"/>
                  </a:ext>
                </a:extLst>
              </a:tr>
              <a:tr h="437122">
                <a:tc>
                  <a:txBody>
                    <a:bodyPr/>
                    <a:lstStyle/>
                    <a:p>
                      <a:r>
                        <a:rPr lang="es-EC" sz="1200" b="1"/>
                        <a:t>Integridad</a:t>
                      </a:r>
                      <a:endParaRPr lang="es-EC" sz="1200"/>
                    </a:p>
                  </a:txBody>
                  <a:tcPr marL="63865" marR="63865" marT="31933" marB="31933" anchor="ctr"/>
                </a:tc>
                <a:tc>
                  <a:txBody>
                    <a:bodyPr/>
                    <a:lstStyle/>
                    <a:p>
                      <a:r>
                        <a:rPr lang="es-ES" sz="1200"/>
                        <a:t>Garantiza la precisión de la información almacenada.</a:t>
                      </a:r>
                    </a:p>
                  </a:txBody>
                  <a:tcPr marL="63865" marR="63865" marT="31933" marB="31933" anchor="ctr"/>
                </a:tc>
                <a:extLst>
                  <a:ext uri="{0D108BD9-81ED-4DB2-BD59-A6C34878D82A}">
                    <a16:rowId xmlns:a16="http://schemas.microsoft.com/office/drawing/2014/main" val="2172409015"/>
                  </a:ext>
                </a:extLst>
              </a:tr>
              <a:tr h="437122">
                <a:tc>
                  <a:txBody>
                    <a:bodyPr/>
                    <a:lstStyle/>
                    <a:p>
                      <a:r>
                        <a:rPr lang="es-EC" sz="1200" b="1"/>
                        <a:t>Consistencia</a:t>
                      </a:r>
                      <a:endParaRPr lang="es-EC" sz="1200"/>
                    </a:p>
                  </a:txBody>
                  <a:tcPr marL="63865" marR="63865" marT="31933" marB="31933" anchor="ctr"/>
                </a:tc>
                <a:tc>
                  <a:txBody>
                    <a:bodyPr/>
                    <a:lstStyle/>
                    <a:p>
                      <a:r>
                        <a:rPr lang="es-ES" sz="1200"/>
                        <a:t>Asegura que los datos mantengan su coherencia tras las operaciones realizadas.</a:t>
                      </a:r>
                    </a:p>
                  </a:txBody>
                  <a:tcPr marL="63865" marR="63865" marT="31933" marB="31933" anchor="ctr"/>
                </a:tc>
                <a:extLst>
                  <a:ext uri="{0D108BD9-81ED-4DB2-BD59-A6C34878D82A}">
                    <a16:rowId xmlns:a16="http://schemas.microsoft.com/office/drawing/2014/main" val="2233900294"/>
                  </a:ext>
                </a:extLst>
              </a:tr>
              <a:tr h="437122">
                <a:tc>
                  <a:txBody>
                    <a:bodyPr/>
                    <a:lstStyle/>
                    <a:p>
                      <a:r>
                        <a:rPr lang="es-EC" sz="1200" b="1"/>
                        <a:t>Escalabilidad</a:t>
                      </a:r>
                      <a:endParaRPr lang="es-EC" sz="1200"/>
                    </a:p>
                  </a:txBody>
                  <a:tcPr marL="63865" marR="63865" marT="31933" marB="31933" anchor="ctr"/>
                </a:tc>
                <a:tc>
                  <a:txBody>
                    <a:bodyPr/>
                    <a:lstStyle/>
                    <a:p>
                      <a:r>
                        <a:rPr lang="es-ES" sz="1200"/>
                        <a:t>Permite que los sistemas puedan crecer sin afectar el rendimiento.</a:t>
                      </a:r>
                    </a:p>
                  </a:txBody>
                  <a:tcPr marL="63865" marR="63865" marT="31933" marB="31933" anchor="ctr"/>
                </a:tc>
                <a:extLst>
                  <a:ext uri="{0D108BD9-81ED-4DB2-BD59-A6C34878D82A}">
                    <a16:rowId xmlns:a16="http://schemas.microsoft.com/office/drawing/2014/main" val="331576897"/>
                  </a:ext>
                </a:extLst>
              </a:tr>
              <a:tr h="437122">
                <a:tc>
                  <a:txBody>
                    <a:bodyPr/>
                    <a:lstStyle/>
                    <a:p>
                      <a:r>
                        <a:rPr lang="es-EC" sz="1200" b="1"/>
                        <a:t>Seguridad</a:t>
                      </a:r>
                      <a:endParaRPr lang="es-EC" sz="1200"/>
                    </a:p>
                  </a:txBody>
                  <a:tcPr marL="63865" marR="63865" marT="31933" marB="31933" anchor="ctr"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Protege la información contra accesos no autorizados y pérdidas.</a:t>
                      </a:r>
                    </a:p>
                  </a:txBody>
                  <a:tcPr marL="63865" marR="63865" marT="31933" marB="31933" anchor="ctr"/>
                </a:tc>
                <a:extLst>
                  <a:ext uri="{0D108BD9-81ED-4DB2-BD59-A6C34878D82A}">
                    <a16:rowId xmlns:a16="http://schemas.microsoft.com/office/drawing/2014/main" val="432947056"/>
                  </a:ext>
                </a:extLst>
              </a:tr>
              <a:tr h="256423">
                <a:tc>
                  <a:txBody>
                    <a:bodyPr/>
                    <a:lstStyle/>
                    <a:p>
                      <a:r>
                        <a:rPr lang="es-EC" sz="1200" b="1"/>
                        <a:t>Reducción de la redundancia</a:t>
                      </a:r>
                      <a:endParaRPr lang="es-EC" sz="1200"/>
                    </a:p>
                  </a:txBody>
                  <a:tcPr marL="63865" marR="63865" marT="31933" marB="31933" anchor="ctr"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Evita la duplicación de datos.</a:t>
                      </a:r>
                    </a:p>
                  </a:txBody>
                  <a:tcPr marL="63865" marR="63865" marT="31933" marB="31933" anchor="ctr"/>
                </a:tc>
                <a:extLst>
                  <a:ext uri="{0D108BD9-81ED-4DB2-BD59-A6C34878D82A}">
                    <a16:rowId xmlns:a16="http://schemas.microsoft.com/office/drawing/2014/main" val="3728186641"/>
                  </a:ext>
                </a:extLst>
              </a:tr>
              <a:tr h="437122">
                <a:tc>
                  <a:txBody>
                    <a:bodyPr/>
                    <a:lstStyle/>
                    <a:p>
                      <a:r>
                        <a:rPr lang="es-EC" sz="1200" b="1"/>
                        <a:t>Acceso concurrente</a:t>
                      </a:r>
                      <a:endParaRPr lang="es-EC" sz="1200"/>
                    </a:p>
                  </a:txBody>
                  <a:tcPr marL="63865" marR="63865" marT="31933" marB="31933" anchor="ctr"/>
                </a:tc>
                <a:tc>
                  <a:txBody>
                    <a:bodyPr/>
                    <a:lstStyle/>
                    <a:p>
                      <a:r>
                        <a:rPr lang="es-ES" sz="1200"/>
                        <a:t>Permite que varios usuarios trabajen sobre la BD al mismo tiempo sin conflictos.</a:t>
                      </a:r>
                    </a:p>
                  </a:txBody>
                  <a:tcPr marL="63865" marR="63865" marT="31933" marB="31933" anchor="ctr"/>
                </a:tc>
                <a:extLst>
                  <a:ext uri="{0D108BD9-81ED-4DB2-BD59-A6C34878D82A}">
                    <a16:rowId xmlns:a16="http://schemas.microsoft.com/office/drawing/2014/main" val="2671229238"/>
                  </a:ext>
                </a:extLst>
              </a:tr>
              <a:tr h="437122">
                <a:tc>
                  <a:txBody>
                    <a:bodyPr/>
                    <a:lstStyle/>
                    <a:p>
                      <a:r>
                        <a:rPr lang="es-EC" sz="1200" b="1"/>
                        <a:t>Persistencia</a:t>
                      </a:r>
                      <a:endParaRPr lang="es-EC" sz="1200"/>
                    </a:p>
                  </a:txBody>
                  <a:tcPr marL="63865" marR="63865" marT="31933" marB="31933" anchor="ctr"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Los datos se mantienen almacenados aunque el sistema se apague.</a:t>
                      </a:r>
                    </a:p>
                  </a:txBody>
                  <a:tcPr marL="63865" marR="63865" marT="31933" marB="31933" anchor="ctr"/>
                </a:tc>
                <a:extLst>
                  <a:ext uri="{0D108BD9-81ED-4DB2-BD59-A6C34878D82A}">
                    <a16:rowId xmlns:a16="http://schemas.microsoft.com/office/drawing/2014/main" val="38900005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4"/>
          <p:cNvSpPr txBox="1">
            <a:spLocks noGrp="1"/>
          </p:cNvSpPr>
          <p:nvPr>
            <p:ph type="title"/>
          </p:nvPr>
        </p:nvSpPr>
        <p:spPr>
          <a:xfrm>
            <a:off x="5538856" y="1890247"/>
            <a:ext cx="3284101" cy="13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Arquitecturas y tipos</a:t>
            </a:r>
            <a:endParaRPr dirty="0"/>
          </a:p>
        </p:txBody>
      </p:sp>
      <p:sp>
        <p:nvSpPr>
          <p:cNvPr id="486" name="Google Shape;486;p34"/>
          <p:cNvSpPr/>
          <p:nvPr/>
        </p:nvSpPr>
        <p:spPr>
          <a:xfrm>
            <a:off x="0" y="0"/>
            <a:ext cx="418500" cy="261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266" name="Picture 2" descr="Arquitectura de base de datos - Iconos gratis de negocios y finanzas">
            <a:extLst>
              <a:ext uri="{FF2B5EF4-FFF2-40B4-BE49-F238E27FC236}">
                <a16:creationId xmlns:a16="http://schemas.microsoft.com/office/drawing/2014/main" id="{DD17515F-7112-7616-1090-E00829CD3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778" y="433339"/>
            <a:ext cx="3955781" cy="3955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5"/>
          <p:cNvSpPr txBox="1">
            <a:spLocks noGrp="1"/>
          </p:cNvSpPr>
          <p:nvPr>
            <p:ph type="title"/>
          </p:nvPr>
        </p:nvSpPr>
        <p:spPr>
          <a:xfrm>
            <a:off x="4366500" y="478507"/>
            <a:ext cx="4091700" cy="6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/>
              <a:t>Arquitecturas</a:t>
            </a:r>
            <a:r>
              <a:rPr lang="pt-BR" dirty="0"/>
              <a:t> de Bases de </a:t>
            </a:r>
            <a:r>
              <a:rPr lang="pt-BR" dirty="0" err="1"/>
              <a:t>Datos</a:t>
            </a:r>
            <a:endParaRPr dirty="0"/>
          </a:p>
        </p:txBody>
      </p:sp>
      <p:sp>
        <p:nvSpPr>
          <p:cNvPr id="493" name="Google Shape;493;p35"/>
          <p:cNvSpPr/>
          <p:nvPr/>
        </p:nvSpPr>
        <p:spPr>
          <a:xfrm>
            <a:off x="0" y="527275"/>
            <a:ext cx="418500" cy="261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5"/>
          <p:cNvSpPr/>
          <p:nvPr/>
        </p:nvSpPr>
        <p:spPr>
          <a:xfrm>
            <a:off x="5000700" y="1172875"/>
            <a:ext cx="3457500" cy="1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E82CBBB-2A18-2641-E9BF-D35A0D25B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251850"/>
              </p:ext>
            </p:extLst>
          </p:nvPr>
        </p:nvGraphicFramePr>
        <p:xfrm>
          <a:off x="1021219" y="1694275"/>
          <a:ext cx="7788274" cy="2895600"/>
        </p:xfrm>
        <a:graphic>
          <a:graphicData uri="http://schemas.openxmlformats.org/drawingml/2006/table">
            <a:tbl>
              <a:tblPr>
                <a:tableStyleId>{0784226D-5A93-446A-9A70-D3B1AA63903F}</a:tableStyleId>
              </a:tblPr>
              <a:tblGrid>
                <a:gridCol w="2880221">
                  <a:extLst>
                    <a:ext uri="{9D8B030D-6E8A-4147-A177-3AD203B41FA5}">
                      <a16:colId xmlns:a16="http://schemas.microsoft.com/office/drawing/2014/main" val="2808273136"/>
                    </a:ext>
                  </a:extLst>
                </a:gridCol>
                <a:gridCol w="4908053">
                  <a:extLst>
                    <a:ext uri="{9D8B030D-6E8A-4147-A177-3AD203B41FA5}">
                      <a16:colId xmlns:a16="http://schemas.microsoft.com/office/drawing/2014/main" val="366955979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s-EC" sz="1400" b="1"/>
                        <a:t>Arquitectura</a:t>
                      </a:r>
                      <a:endParaRPr lang="es-EC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C" sz="1400" b="1"/>
                        <a:t>Descripción</a:t>
                      </a:r>
                      <a:endParaRPr lang="es-EC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451991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s-EC" sz="1400" b="1" dirty="0"/>
                        <a:t>Centralizada</a:t>
                      </a:r>
                      <a:endParaRPr lang="es-EC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Toda la base de datos se encuentra en un único servidor; acceso centralizado.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3601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s-EC" sz="1400" b="1" dirty="0"/>
                        <a:t>Cliente-Servidor</a:t>
                      </a:r>
                      <a:endParaRPr lang="es-EC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Los clientes envían peticiones a un servidor que gestiona la base de datos.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171211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s-EC" sz="1400" b="1" dirty="0"/>
                        <a:t>Distribuida</a:t>
                      </a:r>
                      <a:endParaRPr lang="es-EC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La base de datos está dividida entre múltiples ubicaciones físicas.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952475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s-EC" sz="1400" b="1"/>
                        <a:t>Multinivel</a:t>
                      </a:r>
                      <a:endParaRPr lang="es-EC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Separa la lógica en niveles (presentación, lógica de negocio, datos).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988803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s-EC" sz="1400" b="1"/>
                        <a:t>En la nube</a:t>
                      </a:r>
                      <a:endParaRPr lang="es-EC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Base de datos gestionada por un proveedor de servicios </a:t>
                      </a:r>
                      <a:r>
                        <a:rPr lang="es-ES" sz="1400" dirty="0" err="1"/>
                        <a:t>cloud</a:t>
                      </a:r>
                      <a:r>
                        <a:rPr lang="es-ES" sz="14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48756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D7D0F9-B671-195A-4FD5-A9674A49A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0" y="527275"/>
            <a:ext cx="7786800" cy="645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C" sz="3000" dirty="0"/>
              <a:t>Centralizada</a:t>
            </a:r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81138975-41AC-7CF7-9163-ECCB8B4637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69" b="1"/>
          <a:stretch/>
        </p:blipFill>
        <p:spPr>
          <a:xfrm>
            <a:off x="1113694" y="1485295"/>
            <a:ext cx="3086436" cy="272094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F01112-B67D-5769-1D41-41423E3D4B8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0" y="1485295"/>
            <a:ext cx="4128866" cy="3264408"/>
          </a:xfrm>
        </p:spPr>
        <p:txBody>
          <a:bodyPr anchor="t">
            <a:normAutofit fontScale="62500" lnSpcReduction="20000"/>
          </a:bodyPr>
          <a:lstStyle/>
          <a:p>
            <a:pPr marL="139700" indent="0" algn="just">
              <a:spcAft>
                <a:spcPts val="600"/>
              </a:spcAft>
              <a:buClr>
                <a:srgbClr val="000000"/>
              </a:buClr>
              <a:buNone/>
            </a:pPr>
            <a:r>
              <a:rPr lang="es-ES" sz="2400" b="1" dirty="0"/>
              <a:t>Banco de desarrollo local:</a:t>
            </a:r>
            <a:r>
              <a:rPr lang="es-ES" sz="2400" dirty="0"/>
              <a:t> Un banco pequeño utiliza una única base de datos central instalada en su centro de datos en Quito. </a:t>
            </a:r>
          </a:p>
          <a:p>
            <a:pPr marL="139700" indent="0" algn="just">
              <a:spcAft>
                <a:spcPts val="600"/>
              </a:spcAft>
              <a:buClr>
                <a:srgbClr val="000000"/>
              </a:buClr>
              <a:buNone/>
            </a:pPr>
            <a:r>
              <a:rPr lang="es-ES" sz="2400" dirty="0"/>
              <a:t>Todas las sucursales se conectan directamente a esta base mediante una red privada. El servidor central ejecuta PostgreSQL sobre un sistema Linux, y las terminales en sucursales acceden mediante aplicaciones de escritorio. </a:t>
            </a:r>
          </a:p>
          <a:p>
            <a:pPr marL="139700" indent="0" algn="just">
              <a:spcAft>
                <a:spcPts val="600"/>
              </a:spcAft>
              <a:buClr>
                <a:srgbClr val="000000"/>
              </a:buClr>
              <a:buNone/>
            </a:pPr>
            <a:r>
              <a:rPr lang="es-ES" sz="2400" dirty="0"/>
              <a:t>Este modelo tiene bajo costo inicial, pero presenta cuellos de botella si muchas sucursales acceden simultáneamente.</a:t>
            </a:r>
            <a:endParaRPr lang="en-US" b="0" i="0" u="none" strike="noStrike" cap="none" dirty="0"/>
          </a:p>
        </p:txBody>
      </p:sp>
    </p:spTree>
    <p:extLst>
      <p:ext uri="{BB962C8B-B14F-4D97-AF65-F5344CB8AC3E}">
        <p14:creationId xmlns:p14="http://schemas.microsoft.com/office/powerpoint/2010/main" val="689318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AA41AD-BB9D-FA6C-ABC6-382DE4495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Cliente servidor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ADBEE8-F039-47D0-13A9-083BE3A69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47044" y="1550942"/>
            <a:ext cx="4606812" cy="2435841"/>
          </a:xfrm>
        </p:spPr>
        <p:txBody>
          <a:bodyPr/>
          <a:lstStyle/>
          <a:p>
            <a:pPr marL="139700" indent="0" algn="just">
              <a:buNone/>
            </a:pPr>
            <a:r>
              <a:rPr lang="es-ES" dirty="0"/>
              <a:t>Outlook actúa como cliente de correo electrónico y se conecta a </a:t>
            </a:r>
            <a:r>
              <a:rPr lang="es-ES" b="1" dirty="0"/>
              <a:t>Microsoft Exchange Server</a:t>
            </a:r>
            <a:r>
              <a:rPr lang="es-ES" dirty="0"/>
              <a:t>, que centraliza y gestiona todos los correos, calendarios y contactos.</a:t>
            </a:r>
          </a:p>
          <a:p>
            <a:pPr marL="139700" indent="0" algn="just">
              <a:buNone/>
            </a:pPr>
            <a:endParaRPr lang="es-ES" dirty="0"/>
          </a:p>
          <a:p>
            <a:pPr marL="139700" indent="0" algn="just">
              <a:buNone/>
            </a:pPr>
            <a:r>
              <a:rPr lang="es-ES" dirty="0"/>
              <a:t>Los usuarios interactúan con el servidor desde sus dispositivos (clientes), y el servidor procesa las solicitudes y responde con los datos necesarios.</a:t>
            </a:r>
            <a:endParaRPr lang="es-EC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90D56B0-E3E8-7BD4-2833-0AF59E3D3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22" y="1501040"/>
            <a:ext cx="3257181" cy="248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156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B9BB4-C63B-3FCF-C685-AC9E31959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distribuida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CBD5AE-5FCF-103B-8A1C-E3856C14A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6500" y="1732350"/>
            <a:ext cx="4091700" cy="1678800"/>
          </a:xfrm>
        </p:spPr>
        <p:txBody>
          <a:bodyPr/>
          <a:lstStyle/>
          <a:p>
            <a:pPr marL="139700" indent="0" algn="just">
              <a:buNone/>
            </a:pPr>
            <a:r>
              <a:rPr lang="es-ES" b="1" dirty="0"/>
              <a:t>Google Cloud </a:t>
            </a:r>
            <a:r>
              <a:rPr lang="es-ES" b="1" dirty="0" err="1"/>
              <a:t>Spanner</a:t>
            </a:r>
            <a:r>
              <a:rPr lang="es-ES" b="1" dirty="0"/>
              <a:t>:</a:t>
            </a:r>
            <a:r>
              <a:rPr lang="es-ES" dirty="0"/>
              <a:t> Un sistema de bases de datos distribuido que combina características de consistencia transaccional de SQL con escalabilidad horizontal. </a:t>
            </a:r>
          </a:p>
          <a:p>
            <a:pPr marL="139700" indent="0" algn="just">
              <a:buNone/>
            </a:pPr>
            <a:endParaRPr lang="es-ES" dirty="0"/>
          </a:p>
          <a:p>
            <a:pPr marL="139700" indent="0" algn="just">
              <a:buNone/>
            </a:pPr>
            <a:r>
              <a:rPr lang="es-ES" dirty="0"/>
              <a:t>Los datos están repartidos por múltiples regiones del mundo, sincronizados con relojes atómicos para mantener la coherencia. </a:t>
            </a:r>
            <a:endParaRPr lang="es-EC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B94D6A-8A41-6FE0-9F8D-55CAB9C81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218" y="1458444"/>
            <a:ext cx="3000545" cy="2389656"/>
          </a:xfrm>
          <a:prstGeom prst="rect">
            <a:avLst/>
          </a:prstGeom>
        </p:spPr>
      </p:pic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30ADBE7B-6B50-B750-A9B8-87F320ECA51D}"/>
              </a:ext>
            </a:extLst>
          </p:cNvPr>
          <p:cNvSpPr txBox="1">
            <a:spLocks/>
          </p:cNvSpPr>
          <p:nvPr/>
        </p:nvSpPr>
        <p:spPr>
          <a:xfrm>
            <a:off x="480300" y="3464700"/>
            <a:ext cx="4091700" cy="16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39700" indent="0" algn="just">
              <a:buFont typeface="Lato"/>
              <a:buNone/>
            </a:pPr>
            <a:r>
              <a:rPr lang="es-ES" b="1" i="1" dirty="0"/>
              <a:t>Garantiza baja latencia y alta disponibilidad.</a:t>
            </a:r>
            <a:endParaRPr lang="es-EC" b="1" i="1" dirty="0"/>
          </a:p>
        </p:txBody>
      </p:sp>
    </p:spTree>
    <p:extLst>
      <p:ext uri="{BB962C8B-B14F-4D97-AF65-F5344CB8AC3E}">
        <p14:creationId xmlns:p14="http://schemas.microsoft.com/office/powerpoint/2010/main" val="807786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CCE8A4-6B74-CEAA-F19A-B3B320474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Multinivel (3 capas)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3700F8-0906-05DA-700B-412A24F0C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6500" y="1732350"/>
            <a:ext cx="4091700" cy="1678800"/>
          </a:xfrm>
        </p:spPr>
        <p:txBody>
          <a:bodyPr/>
          <a:lstStyle/>
          <a:p>
            <a:pPr marL="139700" indent="0" algn="l">
              <a:buNone/>
            </a:pPr>
            <a:r>
              <a:rPr lang="es-ES" b="1" dirty="0"/>
              <a:t>Amazon:</a:t>
            </a:r>
          </a:p>
          <a:p>
            <a:pPr marL="139700" indent="0" algn="l">
              <a:buNone/>
            </a:pPr>
            <a:endParaRPr lang="es-ES" b="1" dirty="0"/>
          </a:p>
          <a:p>
            <a:pPr marL="482600" indent="-342900" algn="l">
              <a:buAutoNum type="arabicPeriod"/>
            </a:pPr>
            <a:r>
              <a:rPr lang="es-ES" dirty="0"/>
              <a:t>Un usuario accede a Amazon desde su navegador (capa de presentación)</a:t>
            </a:r>
          </a:p>
          <a:p>
            <a:pPr marL="482600" indent="-342900" algn="l">
              <a:buAutoNum type="arabicPeriod"/>
            </a:pPr>
            <a:r>
              <a:rPr lang="es-ES" dirty="0"/>
              <a:t>Se conecta al servidor de aplicaciones (capa de lógica de negocio, desarrollada en Java o Node.js)</a:t>
            </a:r>
          </a:p>
          <a:p>
            <a:pPr marL="482600" indent="-342900" algn="l">
              <a:buAutoNum type="arabicPeriod"/>
            </a:pPr>
            <a:r>
              <a:rPr lang="es-ES" dirty="0"/>
              <a:t>Consulta una base de datos (capa de datos). </a:t>
            </a:r>
            <a:br>
              <a:rPr lang="es-ES" dirty="0"/>
            </a:br>
            <a:endParaRPr lang="es-ES" dirty="0"/>
          </a:p>
          <a:p>
            <a:pPr marL="139700" indent="0" algn="l">
              <a:buNone/>
            </a:pPr>
            <a:r>
              <a:rPr lang="es-ES" dirty="0"/>
              <a:t>Esta separación permite modificar la interfaz sin afectar la lógica, y escalar cada capa de forma independiente.</a:t>
            </a:r>
            <a:endParaRPr lang="es-EC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093C55B-D8D5-2391-58AE-D6311260B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55" y="1276538"/>
            <a:ext cx="3080076" cy="259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774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95F1A-8762-2D0D-AE18-0359889AE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En la nube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06DB57-676B-F74B-68A5-F5710067F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 algn="just">
              <a:buNone/>
            </a:pPr>
            <a:r>
              <a:rPr lang="es-ES" b="1" dirty="0" err="1"/>
              <a:t>Firebase</a:t>
            </a:r>
            <a:r>
              <a:rPr lang="es-ES" dirty="0"/>
              <a:t>: Aplicaciones móviles como las de mensajería instantánea usan </a:t>
            </a:r>
            <a:r>
              <a:rPr lang="es-ES" dirty="0" err="1"/>
              <a:t>Firebase</a:t>
            </a:r>
            <a:r>
              <a:rPr lang="es-ES" dirty="0"/>
              <a:t> como </a:t>
            </a:r>
            <a:r>
              <a:rPr lang="es-ES" dirty="0" err="1"/>
              <a:t>backend</a:t>
            </a:r>
            <a:r>
              <a:rPr lang="es-ES" dirty="0"/>
              <a:t>. </a:t>
            </a:r>
          </a:p>
          <a:p>
            <a:pPr marL="139700" indent="0" algn="just">
              <a:buNone/>
            </a:pPr>
            <a:endParaRPr lang="es-ES" dirty="0"/>
          </a:p>
          <a:p>
            <a:pPr marL="139700" indent="0" algn="just">
              <a:buNone/>
            </a:pPr>
            <a:r>
              <a:rPr lang="es-ES" dirty="0"/>
              <a:t>Las aplicaciones cliente (Android/iOS) se conectan directamente a la base de datos en la nube, que proporciona sincronización en tiempo real.</a:t>
            </a:r>
            <a:endParaRPr lang="es-EC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B4BE1EB-1CAA-A597-AE1B-A1B26EC56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656" y="1291084"/>
            <a:ext cx="3352636" cy="256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957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>
          <a:extLst>
            <a:ext uri="{FF2B5EF4-FFF2-40B4-BE49-F238E27FC236}">
              <a16:creationId xmlns:a16="http://schemas.microsoft.com/office/drawing/2014/main" id="{26ECE7E7-C34B-63F7-BEE0-A0329A48D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5">
            <a:extLst>
              <a:ext uri="{FF2B5EF4-FFF2-40B4-BE49-F238E27FC236}">
                <a16:creationId xmlns:a16="http://schemas.microsoft.com/office/drawing/2014/main" id="{ECF75919-7897-49E9-367D-5D464E79D2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66500" y="478507"/>
            <a:ext cx="4091700" cy="6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Tipos de Bases de Datos</a:t>
            </a:r>
            <a:endParaRPr dirty="0"/>
          </a:p>
        </p:txBody>
      </p:sp>
      <p:sp>
        <p:nvSpPr>
          <p:cNvPr id="493" name="Google Shape;493;p35">
            <a:extLst>
              <a:ext uri="{FF2B5EF4-FFF2-40B4-BE49-F238E27FC236}">
                <a16:creationId xmlns:a16="http://schemas.microsoft.com/office/drawing/2014/main" id="{6A98F86E-B8BB-2431-8851-CD811D56575A}"/>
              </a:ext>
            </a:extLst>
          </p:cNvPr>
          <p:cNvSpPr/>
          <p:nvPr/>
        </p:nvSpPr>
        <p:spPr>
          <a:xfrm>
            <a:off x="0" y="527275"/>
            <a:ext cx="418500" cy="261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5">
            <a:extLst>
              <a:ext uri="{FF2B5EF4-FFF2-40B4-BE49-F238E27FC236}">
                <a16:creationId xmlns:a16="http://schemas.microsoft.com/office/drawing/2014/main" id="{FD882809-C354-AA94-43DF-22CDFDF95367}"/>
              </a:ext>
            </a:extLst>
          </p:cNvPr>
          <p:cNvSpPr/>
          <p:nvPr/>
        </p:nvSpPr>
        <p:spPr>
          <a:xfrm>
            <a:off x="5000700" y="1172875"/>
            <a:ext cx="3457500" cy="1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285B899-BF11-D1DB-D2DF-4EA9C6461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663805"/>
              </p:ext>
            </p:extLst>
          </p:nvPr>
        </p:nvGraphicFramePr>
        <p:xfrm>
          <a:off x="1460746" y="1481458"/>
          <a:ext cx="6997453" cy="3407535"/>
        </p:xfrm>
        <a:graphic>
          <a:graphicData uri="http://schemas.openxmlformats.org/drawingml/2006/table">
            <a:tbl>
              <a:tblPr>
                <a:tableStyleId>{0784226D-5A93-446A-9A70-D3B1AA63903F}</a:tableStyleId>
              </a:tblPr>
              <a:tblGrid>
                <a:gridCol w="1924611">
                  <a:extLst>
                    <a:ext uri="{9D8B030D-6E8A-4147-A177-3AD203B41FA5}">
                      <a16:colId xmlns:a16="http://schemas.microsoft.com/office/drawing/2014/main" val="3437832408"/>
                    </a:ext>
                  </a:extLst>
                </a:gridCol>
                <a:gridCol w="5072842">
                  <a:extLst>
                    <a:ext uri="{9D8B030D-6E8A-4147-A177-3AD203B41FA5}">
                      <a16:colId xmlns:a16="http://schemas.microsoft.com/office/drawing/2014/main" val="421327973"/>
                    </a:ext>
                  </a:extLst>
                </a:gridCol>
              </a:tblGrid>
              <a:tr h="269076">
                <a:tc>
                  <a:txBody>
                    <a:bodyPr/>
                    <a:lstStyle/>
                    <a:p>
                      <a:r>
                        <a:rPr lang="es-ES" sz="1200" b="1"/>
                        <a:t>Tipo de Base de Datos</a:t>
                      </a:r>
                      <a:endParaRPr lang="es-ES" sz="1200"/>
                    </a:p>
                  </a:txBody>
                  <a:tcPr marL="68816" marR="68816" marT="34408" marB="34408" anchor="ctr"/>
                </a:tc>
                <a:tc>
                  <a:txBody>
                    <a:bodyPr/>
                    <a:lstStyle/>
                    <a:p>
                      <a:r>
                        <a:rPr lang="es-EC" sz="1200" b="1"/>
                        <a:t>Descripción</a:t>
                      </a:r>
                      <a:endParaRPr lang="es-EC" sz="1200"/>
                    </a:p>
                  </a:txBody>
                  <a:tcPr marL="68816" marR="68816" marT="34408" marB="34408" anchor="ctr"/>
                </a:tc>
                <a:extLst>
                  <a:ext uri="{0D108BD9-81ED-4DB2-BD59-A6C34878D82A}">
                    <a16:rowId xmlns:a16="http://schemas.microsoft.com/office/drawing/2014/main" val="2222623872"/>
                  </a:ext>
                </a:extLst>
              </a:tr>
              <a:tr h="443755">
                <a:tc>
                  <a:txBody>
                    <a:bodyPr/>
                    <a:lstStyle/>
                    <a:p>
                      <a:r>
                        <a:rPr lang="es-EC" sz="1200" b="1"/>
                        <a:t>Relacional (SQL)</a:t>
                      </a:r>
                      <a:endParaRPr lang="es-EC" sz="1200"/>
                    </a:p>
                  </a:txBody>
                  <a:tcPr marL="68816" marR="68816" marT="34408" marB="34408" anchor="ctr"/>
                </a:tc>
                <a:tc>
                  <a:txBody>
                    <a:bodyPr/>
                    <a:lstStyle/>
                    <a:p>
                      <a:r>
                        <a:rPr lang="es-ES" sz="1200"/>
                        <a:t>Organiza los datos en tablas con relaciones; usa SQL.</a:t>
                      </a:r>
                    </a:p>
                  </a:txBody>
                  <a:tcPr marL="68816" marR="68816" marT="34408" marB="34408" anchor="ctr"/>
                </a:tc>
                <a:extLst>
                  <a:ext uri="{0D108BD9-81ED-4DB2-BD59-A6C34878D82A}">
                    <a16:rowId xmlns:a16="http://schemas.microsoft.com/office/drawing/2014/main" val="264951066"/>
                  </a:ext>
                </a:extLst>
              </a:tr>
              <a:tr h="459842">
                <a:tc>
                  <a:txBody>
                    <a:bodyPr/>
                    <a:lstStyle/>
                    <a:p>
                      <a:r>
                        <a:rPr lang="es-EC" sz="1200" b="1"/>
                        <a:t>No Relacional (NoSQL)</a:t>
                      </a:r>
                      <a:endParaRPr lang="es-EC" sz="1200"/>
                    </a:p>
                  </a:txBody>
                  <a:tcPr marL="68816" marR="68816" marT="34408" marB="34408" anchor="ctr"/>
                </a:tc>
                <a:tc>
                  <a:txBody>
                    <a:bodyPr/>
                    <a:lstStyle/>
                    <a:p>
                      <a:r>
                        <a:rPr lang="es-EC" sz="1200"/>
                        <a:t>Almacena datos de forma no tabular (documentos, grafos, clave-valor, columnas).</a:t>
                      </a:r>
                    </a:p>
                  </a:txBody>
                  <a:tcPr marL="68816" marR="68816" marT="34408" marB="34408" anchor="ctr"/>
                </a:tc>
                <a:extLst>
                  <a:ext uri="{0D108BD9-81ED-4DB2-BD59-A6C34878D82A}">
                    <a16:rowId xmlns:a16="http://schemas.microsoft.com/office/drawing/2014/main" val="1172277592"/>
                  </a:ext>
                </a:extLst>
              </a:tr>
              <a:tr h="443755">
                <a:tc>
                  <a:txBody>
                    <a:bodyPr/>
                    <a:lstStyle/>
                    <a:p>
                      <a:r>
                        <a:rPr lang="es-EC" sz="1200" b="1"/>
                        <a:t>Jerárquica</a:t>
                      </a:r>
                      <a:endParaRPr lang="es-EC" sz="1200"/>
                    </a:p>
                  </a:txBody>
                  <a:tcPr marL="68816" marR="68816" marT="34408" marB="34408" anchor="ctr"/>
                </a:tc>
                <a:tc>
                  <a:txBody>
                    <a:bodyPr/>
                    <a:lstStyle/>
                    <a:p>
                      <a:r>
                        <a:rPr lang="es-ES" sz="1200"/>
                        <a:t>Organiza los datos en estructura de árbol (padre-hijo).</a:t>
                      </a:r>
                    </a:p>
                  </a:txBody>
                  <a:tcPr marL="68816" marR="68816" marT="34408" marB="34408" anchor="ctr"/>
                </a:tc>
                <a:extLst>
                  <a:ext uri="{0D108BD9-81ED-4DB2-BD59-A6C34878D82A}">
                    <a16:rowId xmlns:a16="http://schemas.microsoft.com/office/drawing/2014/main" val="1802896166"/>
                  </a:ext>
                </a:extLst>
              </a:tr>
              <a:tr h="459842">
                <a:tc>
                  <a:txBody>
                    <a:bodyPr/>
                    <a:lstStyle/>
                    <a:p>
                      <a:r>
                        <a:rPr lang="es-EC" sz="1200" b="1"/>
                        <a:t>Red</a:t>
                      </a:r>
                      <a:endParaRPr lang="es-EC" sz="1200"/>
                    </a:p>
                  </a:txBody>
                  <a:tcPr marL="68816" marR="68816" marT="34408" marB="34408" anchor="ctr"/>
                </a:tc>
                <a:tc>
                  <a:txBody>
                    <a:bodyPr/>
                    <a:lstStyle/>
                    <a:p>
                      <a:r>
                        <a:rPr lang="es-ES" sz="1200"/>
                        <a:t>Similar a la jerárquica pero con relaciones más complejas entre nodos.</a:t>
                      </a:r>
                    </a:p>
                  </a:txBody>
                  <a:tcPr marL="68816" marR="68816" marT="34408" marB="34408" anchor="ctr"/>
                </a:tc>
                <a:extLst>
                  <a:ext uri="{0D108BD9-81ED-4DB2-BD59-A6C34878D82A}">
                    <a16:rowId xmlns:a16="http://schemas.microsoft.com/office/drawing/2014/main" val="1673067230"/>
                  </a:ext>
                </a:extLst>
              </a:tr>
              <a:tr h="443755">
                <a:tc>
                  <a:txBody>
                    <a:bodyPr/>
                    <a:lstStyle/>
                    <a:p>
                      <a:r>
                        <a:rPr lang="es-EC" sz="1200" b="1"/>
                        <a:t>Orientada a objetos</a:t>
                      </a:r>
                      <a:endParaRPr lang="es-EC" sz="1200"/>
                    </a:p>
                  </a:txBody>
                  <a:tcPr marL="68816" marR="68816" marT="34408" marB="34408" anchor="ctr"/>
                </a:tc>
                <a:tc>
                  <a:txBody>
                    <a:bodyPr/>
                    <a:lstStyle/>
                    <a:p>
                      <a:r>
                        <a:rPr lang="es-ES" sz="1200"/>
                        <a:t>Maneja los datos como objetos, similar a la POO.</a:t>
                      </a:r>
                    </a:p>
                  </a:txBody>
                  <a:tcPr marL="68816" marR="68816" marT="34408" marB="34408" anchor="ctr"/>
                </a:tc>
                <a:extLst>
                  <a:ext uri="{0D108BD9-81ED-4DB2-BD59-A6C34878D82A}">
                    <a16:rowId xmlns:a16="http://schemas.microsoft.com/office/drawing/2014/main" val="1526107574"/>
                  </a:ext>
                </a:extLst>
              </a:tr>
              <a:tr h="443755">
                <a:tc>
                  <a:txBody>
                    <a:bodyPr/>
                    <a:lstStyle/>
                    <a:p>
                      <a:r>
                        <a:rPr lang="es-EC" sz="1200" b="1"/>
                        <a:t>Temporal</a:t>
                      </a:r>
                      <a:endParaRPr lang="es-EC" sz="1200"/>
                    </a:p>
                  </a:txBody>
                  <a:tcPr marL="68816" marR="68816" marT="34408" marB="34408" anchor="ctr"/>
                </a:tc>
                <a:tc>
                  <a:txBody>
                    <a:bodyPr/>
                    <a:lstStyle/>
                    <a:p>
                      <a:r>
                        <a:rPr lang="es-ES" sz="1200"/>
                        <a:t>Permite almacenar y consultar datos con base en el tiempo.</a:t>
                      </a:r>
                    </a:p>
                  </a:txBody>
                  <a:tcPr marL="68816" marR="68816" marT="34408" marB="34408" anchor="ctr"/>
                </a:tc>
                <a:extLst>
                  <a:ext uri="{0D108BD9-81ED-4DB2-BD59-A6C34878D82A}">
                    <a16:rowId xmlns:a16="http://schemas.microsoft.com/office/drawing/2014/main" val="586825450"/>
                  </a:ext>
                </a:extLst>
              </a:tr>
              <a:tr h="443755">
                <a:tc>
                  <a:txBody>
                    <a:bodyPr/>
                    <a:lstStyle/>
                    <a:p>
                      <a:r>
                        <a:rPr lang="es-EC" sz="1200" b="1" dirty="0"/>
                        <a:t>Espacial</a:t>
                      </a:r>
                      <a:endParaRPr lang="es-EC" sz="1200" dirty="0"/>
                    </a:p>
                  </a:txBody>
                  <a:tcPr marL="68816" marR="68816" marT="34408" marB="34408" anchor="ctr"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Diseñada para manejar datos geográficos o geométricos.</a:t>
                      </a:r>
                    </a:p>
                  </a:txBody>
                  <a:tcPr marL="68816" marR="68816" marT="34408" marB="34408" anchor="ctr"/>
                </a:tc>
                <a:extLst>
                  <a:ext uri="{0D108BD9-81ED-4DB2-BD59-A6C34878D82A}">
                    <a16:rowId xmlns:a16="http://schemas.microsoft.com/office/drawing/2014/main" val="1211958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328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0966F-3E60-E568-ABAE-85325B6AE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Relacional (SQL)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BD3F4B-540A-C8C1-C5D5-D0379760A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6500" y="1542800"/>
            <a:ext cx="4091700" cy="1678800"/>
          </a:xfrm>
        </p:spPr>
        <p:txBody>
          <a:bodyPr/>
          <a:lstStyle/>
          <a:p>
            <a:pPr marL="139700" indent="0" algn="just">
              <a:buNone/>
            </a:pPr>
            <a:r>
              <a:rPr lang="es-ES" dirty="0"/>
              <a:t>Instagram usa PostgreSQL para manejar relaciones entre usuarios, publicaciones, comentarios y reacciones. Al ser una base relacional, permite usar </a:t>
            </a:r>
            <a:r>
              <a:rPr lang="es-ES" dirty="0" err="1"/>
              <a:t>JOINs</a:t>
            </a:r>
            <a:r>
              <a:rPr lang="es-ES" dirty="0"/>
              <a:t> eficientes, transacciones ACID, y procedimientos almacenados para lógica de negocio. Se replica y particiona para manejar millones de usuarios simultáneos.</a:t>
            </a:r>
            <a:endParaRPr lang="es-EC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1871A42-B50B-73D9-925B-4FD6A4EB0798}"/>
              </a:ext>
            </a:extLst>
          </p:cNvPr>
          <p:cNvSpPr txBox="1"/>
          <p:nvPr/>
        </p:nvSpPr>
        <p:spPr>
          <a:xfrm>
            <a:off x="4366500" y="410084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dirty="0">
                <a:solidFill>
                  <a:srgbClr val="FF0000"/>
                </a:solidFill>
                <a:effectLst/>
                <a:latin typeface="Google Sans"/>
              </a:rPr>
              <a:t>ACID: Atomicidad, consistencia</a:t>
            </a:r>
            <a:r>
              <a:rPr lang="es-ES" dirty="0">
                <a:solidFill>
                  <a:srgbClr val="FF0000"/>
                </a:solidFill>
                <a:latin typeface="Google Sans"/>
              </a:rPr>
              <a:t>, </a:t>
            </a:r>
            <a:r>
              <a:rPr lang="es-ES" b="0" i="0" dirty="0">
                <a:solidFill>
                  <a:srgbClr val="FF0000"/>
                </a:solidFill>
                <a:effectLst/>
                <a:latin typeface="Google Sans"/>
              </a:rPr>
              <a:t>aislamiento y durabilidad</a:t>
            </a:r>
            <a:endParaRPr lang="es-EC" dirty="0">
              <a:solidFill>
                <a:srgbClr val="FF0000"/>
              </a:solidFill>
            </a:endParaRPr>
          </a:p>
        </p:txBody>
      </p:sp>
      <p:pic>
        <p:nvPicPr>
          <p:cNvPr id="10242" name="Picture 2" descr="Bases de datos relacionales | Alura Cursos Online">
            <a:extLst>
              <a:ext uri="{FF2B5EF4-FFF2-40B4-BE49-F238E27FC236}">
                <a16:creationId xmlns:a16="http://schemas.microsoft.com/office/drawing/2014/main" id="{78CA47B8-87E5-58D0-2CEA-564C81927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516" y="1057275"/>
            <a:ext cx="3238420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3476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39"/>
          <p:cNvSpPr txBox="1">
            <a:spLocks noGrp="1"/>
          </p:cNvSpPr>
          <p:nvPr>
            <p:ph type="title"/>
          </p:nvPr>
        </p:nvSpPr>
        <p:spPr>
          <a:xfrm>
            <a:off x="678600" y="527275"/>
            <a:ext cx="7786800" cy="6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Usuarios y administradores de una base de datos</a:t>
            </a:r>
            <a:endParaRPr dirty="0"/>
          </a:p>
        </p:txBody>
      </p:sp>
      <p:sp>
        <p:nvSpPr>
          <p:cNvPr id="884" name="Google Shape;884;p39"/>
          <p:cNvSpPr txBox="1">
            <a:spLocks noGrp="1"/>
          </p:cNvSpPr>
          <p:nvPr>
            <p:ph type="body" idx="1"/>
          </p:nvPr>
        </p:nvSpPr>
        <p:spPr>
          <a:xfrm>
            <a:off x="678600" y="3916800"/>
            <a:ext cx="28185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Crean los programas que interactúan con la base de datos.</a:t>
            </a:r>
            <a:endParaRPr dirty="0"/>
          </a:p>
        </p:txBody>
      </p:sp>
      <p:sp>
        <p:nvSpPr>
          <p:cNvPr id="885" name="Google Shape;885;p39"/>
          <p:cNvSpPr txBox="1">
            <a:spLocks noGrp="1"/>
          </p:cNvSpPr>
          <p:nvPr>
            <p:ph type="subTitle" idx="2"/>
          </p:nvPr>
        </p:nvSpPr>
        <p:spPr>
          <a:xfrm>
            <a:off x="678600" y="3583200"/>
            <a:ext cx="2818500" cy="3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desarrolladores de </a:t>
            </a:r>
            <a:r>
              <a:rPr lang="es-ES" dirty="0" err="1"/>
              <a:t>aPPS</a:t>
            </a:r>
            <a:endParaRPr dirty="0"/>
          </a:p>
        </p:txBody>
      </p:sp>
      <p:sp>
        <p:nvSpPr>
          <p:cNvPr id="886" name="Google Shape;886;p39"/>
          <p:cNvSpPr txBox="1">
            <a:spLocks noGrp="1"/>
          </p:cNvSpPr>
          <p:nvPr>
            <p:ph type="body" idx="3"/>
          </p:nvPr>
        </p:nvSpPr>
        <p:spPr>
          <a:xfrm>
            <a:off x="478125" y="2335137"/>
            <a:ext cx="34575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>
              <a:buNone/>
            </a:pPr>
            <a:r>
              <a:rPr lang="es-ES" sz="1400" dirty="0"/>
              <a:t>Interactúan con la información a través de aplicaciones, accediendo a </a:t>
            </a:r>
            <a:r>
              <a:rPr lang="es-ES" sz="1400" b="1" dirty="0"/>
              <a:t>registros</a:t>
            </a:r>
            <a:r>
              <a:rPr lang="es-ES" sz="1400" dirty="0"/>
              <a:t> y realizando consultas sin necesidad de conocimientos técnicos profundos sobre el sistema.</a:t>
            </a:r>
          </a:p>
        </p:txBody>
      </p:sp>
      <p:sp>
        <p:nvSpPr>
          <p:cNvPr id="887" name="Google Shape;887;p39"/>
          <p:cNvSpPr txBox="1">
            <a:spLocks noGrp="1"/>
          </p:cNvSpPr>
          <p:nvPr>
            <p:ph type="subTitle" idx="4"/>
          </p:nvPr>
        </p:nvSpPr>
        <p:spPr>
          <a:xfrm>
            <a:off x="639000" y="1818475"/>
            <a:ext cx="2818500" cy="3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/>
              <a:t>U</a:t>
            </a:r>
            <a:r>
              <a:rPr lang="en" dirty="0"/>
              <a:t>suarios finales</a:t>
            </a:r>
            <a:endParaRPr dirty="0"/>
          </a:p>
        </p:txBody>
      </p:sp>
      <p:sp>
        <p:nvSpPr>
          <p:cNvPr id="888" name="Google Shape;888;p39"/>
          <p:cNvSpPr txBox="1">
            <a:spLocks noGrp="1"/>
          </p:cNvSpPr>
          <p:nvPr>
            <p:ph type="body" idx="5"/>
          </p:nvPr>
        </p:nvSpPr>
        <p:spPr>
          <a:xfrm>
            <a:off x="5833325" y="3598560"/>
            <a:ext cx="28185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Crear y modificar estructuras de almacenamiento, establecer políticas de seguridad y respaldo, asignar permisos de usuario, optimizar el rendimiento del sistema y recuperar información ante fallos.</a:t>
            </a:r>
            <a:endParaRPr dirty="0"/>
          </a:p>
        </p:txBody>
      </p:sp>
      <p:sp>
        <p:nvSpPr>
          <p:cNvPr id="889" name="Google Shape;889;p39"/>
          <p:cNvSpPr txBox="1">
            <a:spLocks noGrp="1"/>
          </p:cNvSpPr>
          <p:nvPr>
            <p:ph type="subTitle" idx="6"/>
          </p:nvPr>
        </p:nvSpPr>
        <p:spPr>
          <a:xfrm>
            <a:off x="5731475" y="2711527"/>
            <a:ext cx="2818500" cy="3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Administrador de </a:t>
            </a:r>
            <a:r>
              <a:rPr lang="pt-BR" dirty="0" err="1"/>
              <a:t>bd</a:t>
            </a:r>
            <a:endParaRPr dirty="0"/>
          </a:p>
        </p:txBody>
      </p:sp>
      <p:sp>
        <p:nvSpPr>
          <p:cNvPr id="890" name="Google Shape;890;p39"/>
          <p:cNvSpPr txBox="1">
            <a:spLocks noGrp="1"/>
          </p:cNvSpPr>
          <p:nvPr>
            <p:ph type="body" idx="7"/>
          </p:nvPr>
        </p:nvSpPr>
        <p:spPr>
          <a:xfrm>
            <a:off x="5731475" y="1732674"/>
            <a:ext cx="28185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Consultan y transforman la información para obtener conocimiento útil.</a:t>
            </a:r>
            <a:endParaRPr dirty="0"/>
          </a:p>
        </p:txBody>
      </p:sp>
      <p:sp>
        <p:nvSpPr>
          <p:cNvPr id="891" name="Google Shape;891;p39"/>
          <p:cNvSpPr txBox="1">
            <a:spLocks noGrp="1"/>
          </p:cNvSpPr>
          <p:nvPr>
            <p:ph type="subTitle" idx="8"/>
          </p:nvPr>
        </p:nvSpPr>
        <p:spPr>
          <a:xfrm>
            <a:off x="5646900" y="1328875"/>
            <a:ext cx="2818500" cy="3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/>
              <a:t>A</a:t>
            </a:r>
            <a:r>
              <a:rPr lang="en" dirty="0"/>
              <a:t>nalista de datos</a:t>
            </a:r>
            <a:endParaRPr dirty="0"/>
          </a:p>
        </p:txBody>
      </p:sp>
      <p:sp>
        <p:nvSpPr>
          <p:cNvPr id="892" name="Google Shape;892;p39"/>
          <p:cNvSpPr/>
          <p:nvPr/>
        </p:nvSpPr>
        <p:spPr>
          <a:xfrm>
            <a:off x="0" y="1172875"/>
            <a:ext cx="3457500" cy="1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39"/>
          <p:cNvSpPr/>
          <p:nvPr/>
        </p:nvSpPr>
        <p:spPr>
          <a:xfrm rot="-5400000">
            <a:off x="6931475" y="-1098150"/>
            <a:ext cx="418500" cy="261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4" name="Google Shape;894;p39"/>
          <p:cNvGrpSpPr/>
          <p:nvPr/>
        </p:nvGrpSpPr>
        <p:grpSpPr>
          <a:xfrm>
            <a:off x="4085031" y="1359132"/>
            <a:ext cx="1497037" cy="3038389"/>
            <a:chOff x="2903900" y="1160025"/>
            <a:chExt cx="1785375" cy="3623600"/>
          </a:xfrm>
        </p:grpSpPr>
        <p:sp>
          <p:nvSpPr>
            <p:cNvPr id="895" name="Google Shape;895;p39"/>
            <p:cNvSpPr/>
            <p:nvPr/>
          </p:nvSpPr>
          <p:spPr>
            <a:xfrm>
              <a:off x="2903900" y="4115050"/>
              <a:ext cx="739725" cy="661625"/>
            </a:xfrm>
            <a:custGeom>
              <a:avLst/>
              <a:gdLst/>
              <a:ahLst/>
              <a:cxnLst/>
              <a:rect l="l" t="t" r="r" b="b"/>
              <a:pathLst>
                <a:path w="29589" h="26465" extrusionOk="0">
                  <a:moveTo>
                    <a:pt x="28355" y="1"/>
                  </a:moveTo>
                  <a:lnTo>
                    <a:pt x="10875" y="167"/>
                  </a:lnTo>
                  <a:lnTo>
                    <a:pt x="12610" y="13577"/>
                  </a:lnTo>
                  <a:lnTo>
                    <a:pt x="12610" y="14111"/>
                  </a:lnTo>
                  <a:lnTo>
                    <a:pt x="12710" y="16879"/>
                  </a:lnTo>
                  <a:lnTo>
                    <a:pt x="12710" y="17180"/>
                  </a:lnTo>
                  <a:cubicBezTo>
                    <a:pt x="12710" y="17180"/>
                    <a:pt x="2770" y="21750"/>
                    <a:pt x="1769" y="22584"/>
                  </a:cubicBezTo>
                  <a:cubicBezTo>
                    <a:pt x="735" y="23417"/>
                    <a:pt x="1" y="26053"/>
                    <a:pt x="935" y="26353"/>
                  </a:cubicBezTo>
                  <a:cubicBezTo>
                    <a:pt x="1164" y="26429"/>
                    <a:pt x="3016" y="26464"/>
                    <a:pt x="5671" y="26464"/>
                  </a:cubicBezTo>
                  <a:cubicBezTo>
                    <a:pt x="13475" y="26464"/>
                    <a:pt x="28208" y="26159"/>
                    <a:pt x="28955" y="25686"/>
                  </a:cubicBezTo>
                  <a:cubicBezTo>
                    <a:pt x="29322" y="25419"/>
                    <a:pt x="29489" y="21616"/>
                    <a:pt x="29555" y="17013"/>
                  </a:cubicBezTo>
                  <a:lnTo>
                    <a:pt x="29555" y="16879"/>
                  </a:lnTo>
                  <a:cubicBezTo>
                    <a:pt x="29555" y="15912"/>
                    <a:pt x="29589" y="14945"/>
                    <a:pt x="29589" y="13944"/>
                  </a:cubicBezTo>
                  <a:lnTo>
                    <a:pt x="29589" y="13544"/>
                  </a:lnTo>
                  <a:lnTo>
                    <a:pt x="28355" y="1"/>
                  </a:ln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9"/>
            <p:cNvSpPr/>
            <p:nvPr/>
          </p:nvSpPr>
          <p:spPr>
            <a:xfrm>
              <a:off x="2903900" y="4453625"/>
              <a:ext cx="739725" cy="323050"/>
            </a:xfrm>
            <a:custGeom>
              <a:avLst/>
              <a:gdLst/>
              <a:ahLst/>
              <a:cxnLst/>
              <a:rect l="l" t="t" r="r" b="b"/>
              <a:pathLst>
                <a:path w="29589" h="12922" extrusionOk="0">
                  <a:moveTo>
                    <a:pt x="29589" y="1"/>
                  </a:moveTo>
                  <a:lnTo>
                    <a:pt x="12577" y="34"/>
                  </a:lnTo>
                  <a:lnTo>
                    <a:pt x="12577" y="568"/>
                  </a:lnTo>
                  <a:lnTo>
                    <a:pt x="12677" y="3336"/>
                  </a:lnTo>
                  <a:lnTo>
                    <a:pt x="12677" y="3637"/>
                  </a:lnTo>
                  <a:cubicBezTo>
                    <a:pt x="12677" y="3637"/>
                    <a:pt x="2736" y="8207"/>
                    <a:pt x="1736" y="9041"/>
                  </a:cubicBezTo>
                  <a:cubicBezTo>
                    <a:pt x="735" y="9874"/>
                    <a:pt x="1" y="12510"/>
                    <a:pt x="935" y="12810"/>
                  </a:cubicBezTo>
                  <a:cubicBezTo>
                    <a:pt x="1164" y="12886"/>
                    <a:pt x="3016" y="12921"/>
                    <a:pt x="5671" y="12921"/>
                  </a:cubicBezTo>
                  <a:cubicBezTo>
                    <a:pt x="13475" y="12921"/>
                    <a:pt x="28208" y="12616"/>
                    <a:pt x="28955" y="12143"/>
                  </a:cubicBezTo>
                  <a:cubicBezTo>
                    <a:pt x="29322" y="11876"/>
                    <a:pt x="29489" y="8073"/>
                    <a:pt x="29555" y="3470"/>
                  </a:cubicBezTo>
                  <a:lnTo>
                    <a:pt x="29555" y="3336"/>
                  </a:lnTo>
                  <a:cubicBezTo>
                    <a:pt x="29555" y="2369"/>
                    <a:pt x="29589" y="1402"/>
                    <a:pt x="29589" y="401"/>
                  </a:cubicBezTo>
                  <a:lnTo>
                    <a:pt x="29589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9"/>
            <p:cNvSpPr/>
            <p:nvPr/>
          </p:nvSpPr>
          <p:spPr>
            <a:xfrm>
              <a:off x="2903900" y="4537025"/>
              <a:ext cx="738900" cy="239675"/>
            </a:xfrm>
            <a:custGeom>
              <a:avLst/>
              <a:gdLst/>
              <a:ahLst/>
              <a:cxnLst/>
              <a:rect l="l" t="t" r="r" b="b"/>
              <a:pathLst>
                <a:path w="29556" h="9587" extrusionOk="0">
                  <a:moveTo>
                    <a:pt x="29555" y="0"/>
                  </a:moveTo>
                  <a:lnTo>
                    <a:pt x="12710" y="34"/>
                  </a:lnTo>
                  <a:lnTo>
                    <a:pt x="12710" y="301"/>
                  </a:lnTo>
                  <a:cubicBezTo>
                    <a:pt x="12710" y="301"/>
                    <a:pt x="2770" y="4904"/>
                    <a:pt x="1769" y="5738"/>
                  </a:cubicBezTo>
                  <a:cubicBezTo>
                    <a:pt x="768" y="6572"/>
                    <a:pt x="1" y="9174"/>
                    <a:pt x="935" y="9474"/>
                  </a:cubicBezTo>
                  <a:cubicBezTo>
                    <a:pt x="1156" y="9553"/>
                    <a:pt x="2851" y="9587"/>
                    <a:pt x="5309" y="9587"/>
                  </a:cubicBezTo>
                  <a:cubicBezTo>
                    <a:pt x="8055" y="9587"/>
                    <a:pt x="11752" y="9544"/>
                    <a:pt x="15412" y="9474"/>
                  </a:cubicBezTo>
                  <a:cubicBezTo>
                    <a:pt x="16813" y="9441"/>
                    <a:pt x="18214" y="9407"/>
                    <a:pt x="19515" y="9374"/>
                  </a:cubicBezTo>
                  <a:cubicBezTo>
                    <a:pt x="24485" y="9240"/>
                    <a:pt x="28555" y="9040"/>
                    <a:pt x="28955" y="8807"/>
                  </a:cubicBezTo>
                  <a:cubicBezTo>
                    <a:pt x="29322" y="8540"/>
                    <a:pt x="29489" y="4871"/>
                    <a:pt x="29555" y="334"/>
                  </a:cubicBezTo>
                  <a:lnTo>
                    <a:pt x="29555" y="134"/>
                  </a:lnTo>
                  <a:lnTo>
                    <a:pt x="29555" y="0"/>
                  </a:ln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9"/>
            <p:cNvSpPr/>
            <p:nvPr/>
          </p:nvSpPr>
          <p:spPr>
            <a:xfrm>
              <a:off x="2931425" y="4740850"/>
              <a:ext cx="667175" cy="10175"/>
            </a:xfrm>
            <a:custGeom>
              <a:avLst/>
              <a:gdLst/>
              <a:ahLst/>
              <a:cxnLst/>
              <a:rect l="l" t="t" r="r" b="b"/>
              <a:pathLst>
                <a:path w="26687" h="407" extrusionOk="0">
                  <a:moveTo>
                    <a:pt x="22014" y="1"/>
                  </a:moveTo>
                  <a:cubicBezTo>
                    <a:pt x="15023" y="1"/>
                    <a:pt x="3523" y="191"/>
                    <a:pt x="101" y="320"/>
                  </a:cubicBezTo>
                  <a:cubicBezTo>
                    <a:pt x="1" y="320"/>
                    <a:pt x="1" y="387"/>
                    <a:pt x="101" y="387"/>
                  </a:cubicBezTo>
                  <a:cubicBezTo>
                    <a:pt x="981" y="400"/>
                    <a:pt x="2397" y="407"/>
                    <a:pt x="4133" y="407"/>
                  </a:cubicBezTo>
                  <a:cubicBezTo>
                    <a:pt x="11078" y="407"/>
                    <a:pt x="23151" y="300"/>
                    <a:pt x="26620" y="87"/>
                  </a:cubicBezTo>
                  <a:cubicBezTo>
                    <a:pt x="26686" y="87"/>
                    <a:pt x="26686" y="53"/>
                    <a:pt x="26620" y="53"/>
                  </a:cubicBezTo>
                  <a:cubicBezTo>
                    <a:pt x="25653" y="16"/>
                    <a:pt x="24019" y="1"/>
                    <a:pt x="2201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9"/>
            <p:cNvSpPr/>
            <p:nvPr/>
          </p:nvSpPr>
          <p:spPr>
            <a:xfrm>
              <a:off x="3171600" y="4535700"/>
              <a:ext cx="134125" cy="34100"/>
            </a:xfrm>
            <a:custGeom>
              <a:avLst/>
              <a:gdLst/>
              <a:ahLst/>
              <a:cxnLst/>
              <a:rect l="l" t="t" r="r" b="b"/>
              <a:pathLst>
                <a:path w="5365" h="1364" extrusionOk="0">
                  <a:moveTo>
                    <a:pt x="1608" y="1"/>
                  </a:moveTo>
                  <a:cubicBezTo>
                    <a:pt x="1105" y="1"/>
                    <a:pt x="606" y="54"/>
                    <a:pt x="134" y="154"/>
                  </a:cubicBezTo>
                  <a:cubicBezTo>
                    <a:pt x="1" y="187"/>
                    <a:pt x="34" y="354"/>
                    <a:pt x="134" y="354"/>
                  </a:cubicBezTo>
                  <a:cubicBezTo>
                    <a:pt x="1869" y="520"/>
                    <a:pt x="3603" y="854"/>
                    <a:pt x="5238" y="1354"/>
                  </a:cubicBezTo>
                  <a:cubicBezTo>
                    <a:pt x="5256" y="1360"/>
                    <a:pt x="5272" y="1363"/>
                    <a:pt x="5286" y="1363"/>
                  </a:cubicBezTo>
                  <a:cubicBezTo>
                    <a:pt x="5348" y="1363"/>
                    <a:pt x="5365" y="1309"/>
                    <a:pt x="5338" y="1254"/>
                  </a:cubicBezTo>
                  <a:cubicBezTo>
                    <a:pt x="4342" y="380"/>
                    <a:pt x="2957" y="1"/>
                    <a:pt x="160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9"/>
            <p:cNvSpPr/>
            <p:nvPr/>
          </p:nvSpPr>
          <p:spPr>
            <a:xfrm>
              <a:off x="3139925" y="4555250"/>
              <a:ext cx="134800" cy="33725"/>
            </a:xfrm>
            <a:custGeom>
              <a:avLst/>
              <a:gdLst/>
              <a:ahLst/>
              <a:cxnLst/>
              <a:rect l="l" t="t" r="r" b="b"/>
              <a:pathLst>
                <a:path w="5392" h="1349" extrusionOk="0">
                  <a:moveTo>
                    <a:pt x="1622" y="0"/>
                  </a:moveTo>
                  <a:cubicBezTo>
                    <a:pt x="1125" y="0"/>
                    <a:pt x="633" y="49"/>
                    <a:pt x="167" y="139"/>
                  </a:cubicBezTo>
                  <a:cubicBezTo>
                    <a:pt x="0" y="139"/>
                    <a:pt x="33" y="372"/>
                    <a:pt x="167" y="372"/>
                  </a:cubicBezTo>
                  <a:cubicBezTo>
                    <a:pt x="1901" y="506"/>
                    <a:pt x="3603" y="839"/>
                    <a:pt x="5270" y="1340"/>
                  </a:cubicBezTo>
                  <a:cubicBezTo>
                    <a:pt x="5283" y="1346"/>
                    <a:pt x="5295" y="1348"/>
                    <a:pt x="5306" y="1348"/>
                  </a:cubicBezTo>
                  <a:cubicBezTo>
                    <a:pt x="5357" y="1348"/>
                    <a:pt x="5392" y="1294"/>
                    <a:pt x="5337" y="1240"/>
                  </a:cubicBezTo>
                  <a:cubicBezTo>
                    <a:pt x="4361" y="361"/>
                    <a:pt x="2975" y="0"/>
                    <a:pt x="162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9"/>
            <p:cNvSpPr/>
            <p:nvPr/>
          </p:nvSpPr>
          <p:spPr>
            <a:xfrm>
              <a:off x="3109050" y="4574425"/>
              <a:ext cx="134825" cy="33725"/>
            </a:xfrm>
            <a:custGeom>
              <a:avLst/>
              <a:gdLst/>
              <a:ahLst/>
              <a:cxnLst/>
              <a:rect l="l" t="t" r="r" b="b"/>
              <a:pathLst>
                <a:path w="5393" h="1349" extrusionOk="0">
                  <a:moveTo>
                    <a:pt x="1609" y="1"/>
                  </a:moveTo>
                  <a:cubicBezTo>
                    <a:pt x="1113" y="1"/>
                    <a:pt x="625" y="49"/>
                    <a:pt x="168" y="139"/>
                  </a:cubicBezTo>
                  <a:cubicBezTo>
                    <a:pt x="1" y="139"/>
                    <a:pt x="34" y="372"/>
                    <a:pt x="168" y="372"/>
                  </a:cubicBezTo>
                  <a:cubicBezTo>
                    <a:pt x="1902" y="506"/>
                    <a:pt x="3603" y="839"/>
                    <a:pt x="5271" y="1340"/>
                  </a:cubicBezTo>
                  <a:cubicBezTo>
                    <a:pt x="5283" y="1346"/>
                    <a:pt x="5296" y="1349"/>
                    <a:pt x="5307" y="1349"/>
                  </a:cubicBezTo>
                  <a:cubicBezTo>
                    <a:pt x="5358" y="1349"/>
                    <a:pt x="5392" y="1294"/>
                    <a:pt x="5338" y="1240"/>
                  </a:cubicBezTo>
                  <a:cubicBezTo>
                    <a:pt x="4362" y="361"/>
                    <a:pt x="2958" y="1"/>
                    <a:pt x="160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9"/>
            <p:cNvSpPr/>
            <p:nvPr/>
          </p:nvSpPr>
          <p:spPr>
            <a:xfrm>
              <a:off x="3289175" y="4537025"/>
              <a:ext cx="353625" cy="236850"/>
            </a:xfrm>
            <a:custGeom>
              <a:avLst/>
              <a:gdLst/>
              <a:ahLst/>
              <a:cxnLst/>
              <a:rect l="l" t="t" r="r" b="b"/>
              <a:pathLst>
                <a:path w="14145" h="9474" extrusionOk="0">
                  <a:moveTo>
                    <a:pt x="14144" y="0"/>
                  </a:moveTo>
                  <a:cubicBezTo>
                    <a:pt x="11843" y="1602"/>
                    <a:pt x="3704" y="7005"/>
                    <a:pt x="1" y="9474"/>
                  </a:cubicBezTo>
                  <a:cubicBezTo>
                    <a:pt x="1402" y="9441"/>
                    <a:pt x="2803" y="9407"/>
                    <a:pt x="4104" y="9374"/>
                  </a:cubicBezTo>
                  <a:cubicBezTo>
                    <a:pt x="9074" y="9240"/>
                    <a:pt x="13144" y="9040"/>
                    <a:pt x="13544" y="8807"/>
                  </a:cubicBezTo>
                  <a:cubicBezTo>
                    <a:pt x="13911" y="8540"/>
                    <a:pt x="14078" y="4837"/>
                    <a:pt x="14144" y="334"/>
                  </a:cubicBezTo>
                  <a:lnTo>
                    <a:pt x="14144" y="134"/>
                  </a:lnTo>
                  <a:lnTo>
                    <a:pt x="14144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9"/>
            <p:cNvSpPr/>
            <p:nvPr/>
          </p:nvSpPr>
          <p:spPr>
            <a:xfrm>
              <a:off x="3117400" y="2234550"/>
              <a:ext cx="758900" cy="2304175"/>
            </a:xfrm>
            <a:custGeom>
              <a:avLst/>
              <a:gdLst/>
              <a:ahLst/>
              <a:cxnLst/>
              <a:rect l="l" t="t" r="r" b="b"/>
              <a:pathLst>
                <a:path w="30356" h="92167" extrusionOk="0">
                  <a:moveTo>
                    <a:pt x="14411" y="0"/>
                  </a:moveTo>
                  <a:cubicBezTo>
                    <a:pt x="14411" y="0"/>
                    <a:pt x="12576" y="5871"/>
                    <a:pt x="10208" y="13543"/>
                  </a:cubicBezTo>
                  <a:cubicBezTo>
                    <a:pt x="6405" y="25985"/>
                    <a:pt x="1301" y="43164"/>
                    <a:pt x="801" y="47334"/>
                  </a:cubicBezTo>
                  <a:cubicBezTo>
                    <a:pt x="0" y="54039"/>
                    <a:pt x="3036" y="92166"/>
                    <a:pt x="3036" y="92166"/>
                  </a:cubicBezTo>
                  <a:lnTo>
                    <a:pt x="21849" y="92166"/>
                  </a:lnTo>
                  <a:cubicBezTo>
                    <a:pt x="21849" y="92166"/>
                    <a:pt x="18047" y="48235"/>
                    <a:pt x="18213" y="47467"/>
                  </a:cubicBezTo>
                  <a:cubicBezTo>
                    <a:pt x="18380" y="46500"/>
                    <a:pt x="19514" y="42064"/>
                    <a:pt x="20982" y="36259"/>
                  </a:cubicBezTo>
                  <a:cubicBezTo>
                    <a:pt x="21449" y="34425"/>
                    <a:pt x="21949" y="32490"/>
                    <a:pt x="22450" y="30455"/>
                  </a:cubicBezTo>
                  <a:cubicBezTo>
                    <a:pt x="23851" y="24985"/>
                    <a:pt x="25419" y="19014"/>
                    <a:pt x="26753" y="13810"/>
                  </a:cubicBezTo>
                  <a:cubicBezTo>
                    <a:pt x="28788" y="6038"/>
                    <a:pt x="30355" y="0"/>
                    <a:pt x="30355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9"/>
            <p:cNvSpPr/>
            <p:nvPr/>
          </p:nvSpPr>
          <p:spPr>
            <a:xfrm>
              <a:off x="3212475" y="4455600"/>
              <a:ext cx="424475" cy="8600"/>
            </a:xfrm>
            <a:custGeom>
              <a:avLst/>
              <a:gdLst/>
              <a:ahLst/>
              <a:cxnLst/>
              <a:rect l="l" t="t" r="r" b="b"/>
              <a:pathLst>
                <a:path w="16979" h="344" extrusionOk="0">
                  <a:moveTo>
                    <a:pt x="10385" y="0"/>
                  </a:moveTo>
                  <a:cubicBezTo>
                    <a:pt x="7950" y="0"/>
                    <a:pt x="5632" y="22"/>
                    <a:pt x="4970" y="22"/>
                  </a:cubicBezTo>
                  <a:cubicBezTo>
                    <a:pt x="2102" y="55"/>
                    <a:pt x="2936" y="55"/>
                    <a:pt x="67" y="122"/>
                  </a:cubicBezTo>
                  <a:cubicBezTo>
                    <a:pt x="0" y="122"/>
                    <a:pt x="0" y="222"/>
                    <a:pt x="67" y="222"/>
                  </a:cubicBezTo>
                  <a:cubicBezTo>
                    <a:pt x="2936" y="289"/>
                    <a:pt x="2102" y="289"/>
                    <a:pt x="4970" y="322"/>
                  </a:cubicBezTo>
                  <a:cubicBezTo>
                    <a:pt x="5632" y="322"/>
                    <a:pt x="7950" y="343"/>
                    <a:pt x="10385" y="343"/>
                  </a:cubicBezTo>
                  <a:cubicBezTo>
                    <a:pt x="13226" y="343"/>
                    <a:pt x="16227" y="314"/>
                    <a:pt x="16946" y="189"/>
                  </a:cubicBezTo>
                  <a:cubicBezTo>
                    <a:pt x="16979" y="189"/>
                    <a:pt x="16979" y="155"/>
                    <a:pt x="16946" y="155"/>
                  </a:cubicBezTo>
                  <a:cubicBezTo>
                    <a:pt x="16227" y="29"/>
                    <a:pt x="13226" y="0"/>
                    <a:pt x="1038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9"/>
            <p:cNvSpPr/>
            <p:nvPr/>
          </p:nvSpPr>
          <p:spPr>
            <a:xfrm>
              <a:off x="3471825" y="2334475"/>
              <a:ext cx="323200" cy="2077375"/>
            </a:xfrm>
            <a:custGeom>
              <a:avLst/>
              <a:gdLst/>
              <a:ahLst/>
              <a:cxnLst/>
              <a:rect l="l" t="t" r="r" b="b"/>
              <a:pathLst>
                <a:path w="12928" h="83095" extrusionOk="0">
                  <a:moveTo>
                    <a:pt x="12876" y="0"/>
                  </a:moveTo>
                  <a:cubicBezTo>
                    <a:pt x="12848" y="0"/>
                    <a:pt x="12801" y="85"/>
                    <a:pt x="12743" y="273"/>
                  </a:cubicBezTo>
                  <a:cubicBezTo>
                    <a:pt x="12376" y="1641"/>
                    <a:pt x="11909" y="2941"/>
                    <a:pt x="11475" y="4276"/>
                  </a:cubicBezTo>
                  <a:cubicBezTo>
                    <a:pt x="11075" y="5643"/>
                    <a:pt x="10641" y="7011"/>
                    <a:pt x="10241" y="8379"/>
                  </a:cubicBezTo>
                  <a:cubicBezTo>
                    <a:pt x="9407" y="11081"/>
                    <a:pt x="8573" y="13783"/>
                    <a:pt x="7739" y="16518"/>
                  </a:cubicBezTo>
                  <a:cubicBezTo>
                    <a:pt x="6071" y="21922"/>
                    <a:pt x="4437" y="27359"/>
                    <a:pt x="2802" y="32763"/>
                  </a:cubicBezTo>
                  <a:cubicBezTo>
                    <a:pt x="2002" y="35431"/>
                    <a:pt x="1101" y="38100"/>
                    <a:pt x="467" y="40835"/>
                  </a:cubicBezTo>
                  <a:cubicBezTo>
                    <a:pt x="167" y="42103"/>
                    <a:pt x="0" y="43404"/>
                    <a:pt x="0" y="44738"/>
                  </a:cubicBezTo>
                  <a:cubicBezTo>
                    <a:pt x="0" y="46139"/>
                    <a:pt x="167" y="47573"/>
                    <a:pt x="300" y="48974"/>
                  </a:cubicBezTo>
                  <a:cubicBezTo>
                    <a:pt x="801" y="54612"/>
                    <a:pt x="1334" y="60249"/>
                    <a:pt x="1868" y="65920"/>
                  </a:cubicBezTo>
                  <a:cubicBezTo>
                    <a:pt x="2402" y="71591"/>
                    <a:pt x="2869" y="77261"/>
                    <a:pt x="3503" y="82932"/>
                  </a:cubicBezTo>
                  <a:cubicBezTo>
                    <a:pt x="3520" y="83036"/>
                    <a:pt x="3627" y="83095"/>
                    <a:pt x="3722" y="83095"/>
                  </a:cubicBezTo>
                  <a:cubicBezTo>
                    <a:pt x="3809" y="83095"/>
                    <a:pt x="3886" y="83044"/>
                    <a:pt x="3870" y="82932"/>
                  </a:cubicBezTo>
                  <a:cubicBezTo>
                    <a:pt x="3836" y="82198"/>
                    <a:pt x="3770" y="81464"/>
                    <a:pt x="3703" y="80730"/>
                  </a:cubicBezTo>
                  <a:cubicBezTo>
                    <a:pt x="3169" y="75026"/>
                    <a:pt x="2635" y="69289"/>
                    <a:pt x="2102" y="63552"/>
                  </a:cubicBezTo>
                  <a:lnTo>
                    <a:pt x="1301" y="54945"/>
                  </a:lnTo>
                  <a:cubicBezTo>
                    <a:pt x="1068" y="52077"/>
                    <a:pt x="734" y="49175"/>
                    <a:pt x="534" y="46306"/>
                  </a:cubicBezTo>
                  <a:cubicBezTo>
                    <a:pt x="434" y="44871"/>
                    <a:pt x="467" y="43437"/>
                    <a:pt x="701" y="42036"/>
                  </a:cubicBezTo>
                  <a:cubicBezTo>
                    <a:pt x="968" y="40668"/>
                    <a:pt x="1301" y="39334"/>
                    <a:pt x="1735" y="38033"/>
                  </a:cubicBezTo>
                  <a:cubicBezTo>
                    <a:pt x="2569" y="35265"/>
                    <a:pt x="3403" y="32496"/>
                    <a:pt x="4237" y="29761"/>
                  </a:cubicBezTo>
                  <a:cubicBezTo>
                    <a:pt x="5904" y="24257"/>
                    <a:pt x="7539" y="18753"/>
                    <a:pt x="9140" y="13249"/>
                  </a:cubicBezTo>
                  <a:cubicBezTo>
                    <a:pt x="9974" y="10480"/>
                    <a:pt x="10775" y="7712"/>
                    <a:pt x="11608" y="4943"/>
                  </a:cubicBezTo>
                  <a:cubicBezTo>
                    <a:pt x="12009" y="3542"/>
                    <a:pt x="12376" y="2141"/>
                    <a:pt x="12809" y="740"/>
                  </a:cubicBezTo>
                  <a:cubicBezTo>
                    <a:pt x="12917" y="286"/>
                    <a:pt x="12927" y="0"/>
                    <a:pt x="1287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9"/>
            <p:cNvSpPr/>
            <p:nvPr/>
          </p:nvSpPr>
          <p:spPr>
            <a:xfrm>
              <a:off x="3522675" y="2234550"/>
              <a:ext cx="353625" cy="906500"/>
            </a:xfrm>
            <a:custGeom>
              <a:avLst/>
              <a:gdLst/>
              <a:ahLst/>
              <a:cxnLst/>
              <a:rect l="l" t="t" r="r" b="b"/>
              <a:pathLst>
                <a:path w="14145" h="36260" extrusionOk="0">
                  <a:moveTo>
                    <a:pt x="1" y="0"/>
                  </a:moveTo>
                  <a:cubicBezTo>
                    <a:pt x="1135" y="8540"/>
                    <a:pt x="3237" y="24584"/>
                    <a:pt x="4771" y="36259"/>
                  </a:cubicBezTo>
                  <a:cubicBezTo>
                    <a:pt x="8374" y="22149"/>
                    <a:pt x="14144" y="0"/>
                    <a:pt x="141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9"/>
            <p:cNvSpPr/>
            <p:nvPr/>
          </p:nvSpPr>
          <p:spPr>
            <a:xfrm>
              <a:off x="3402600" y="4123400"/>
              <a:ext cx="742225" cy="660225"/>
            </a:xfrm>
            <a:custGeom>
              <a:avLst/>
              <a:gdLst/>
              <a:ahLst/>
              <a:cxnLst/>
              <a:rect l="l" t="t" r="r" b="b"/>
              <a:pathLst>
                <a:path w="29689" h="26409" extrusionOk="0">
                  <a:moveTo>
                    <a:pt x="29188" y="0"/>
                  </a:moveTo>
                  <a:lnTo>
                    <a:pt x="12143" y="134"/>
                  </a:lnTo>
                  <a:lnTo>
                    <a:pt x="12610" y="13543"/>
                  </a:lnTo>
                  <a:lnTo>
                    <a:pt x="12610" y="14077"/>
                  </a:lnTo>
                  <a:lnTo>
                    <a:pt x="12710" y="16846"/>
                  </a:lnTo>
                  <a:lnTo>
                    <a:pt x="12710" y="17146"/>
                  </a:lnTo>
                  <a:cubicBezTo>
                    <a:pt x="12710" y="17146"/>
                    <a:pt x="2736" y="21716"/>
                    <a:pt x="1735" y="22516"/>
                  </a:cubicBezTo>
                  <a:cubicBezTo>
                    <a:pt x="734" y="23317"/>
                    <a:pt x="1" y="25986"/>
                    <a:pt x="901" y="26286"/>
                  </a:cubicBezTo>
                  <a:cubicBezTo>
                    <a:pt x="1152" y="26369"/>
                    <a:pt x="3357" y="26409"/>
                    <a:pt x="6430" y="26409"/>
                  </a:cubicBezTo>
                  <a:cubicBezTo>
                    <a:pt x="14397" y="26409"/>
                    <a:pt x="28199" y="26143"/>
                    <a:pt x="28921" y="25685"/>
                  </a:cubicBezTo>
                  <a:cubicBezTo>
                    <a:pt x="29288" y="25452"/>
                    <a:pt x="29488" y="21649"/>
                    <a:pt x="29588" y="17046"/>
                  </a:cubicBezTo>
                  <a:lnTo>
                    <a:pt x="29588" y="16879"/>
                  </a:lnTo>
                  <a:cubicBezTo>
                    <a:pt x="29588" y="15945"/>
                    <a:pt x="29622" y="14978"/>
                    <a:pt x="29622" y="13977"/>
                  </a:cubicBezTo>
                  <a:lnTo>
                    <a:pt x="29622" y="13543"/>
                  </a:lnTo>
                  <a:cubicBezTo>
                    <a:pt x="29688" y="6905"/>
                    <a:pt x="29188" y="0"/>
                    <a:pt x="29188" y="0"/>
                  </a:cubicBez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9"/>
            <p:cNvSpPr/>
            <p:nvPr/>
          </p:nvSpPr>
          <p:spPr>
            <a:xfrm>
              <a:off x="3402600" y="4461975"/>
              <a:ext cx="740550" cy="321650"/>
            </a:xfrm>
            <a:custGeom>
              <a:avLst/>
              <a:gdLst/>
              <a:ahLst/>
              <a:cxnLst/>
              <a:rect l="l" t="t" r="r" b="b"/>
              <a:pathLst>
                <a:path w="29622" h="12866" extrusionOk="0">
                  <a:moveTo>
                    <a:pt x="12610" y="0"/>
                  </a:moveTo>
                  <a:lnTo>
                    <a:pt x="12610" y="534"/>
                  </a:lnTo>
                  <a:lnTo>
                    <a:pt x="12710" y="3336"/>
                  </a:lnTo>
                  <a:lnTo>
                    <a:pt x="12710" y="3603"/>
                  </a:lnTo>
                  <a:cubicBezTo>
                    <a:pt x="12710" y="3603"/>
                    <a:pt x="2736" y="8206"/>
                    <a:pt x="1735" y="9007"/>
                  </a:cubicBezTo>
                  <a:cubicBezTo>
                    <a:pt x="734" y="9774"/>
                    <a:pt x="1" y="12443"/>
                    <a:pt x="901" y="12743"/>
                  </a:cubicBezTo>
                  <a:cubicBezTo>
                    <a:pt x="1152" y="12826"/>
                    <a:pt x="3357" y="12866"/>
                    <a:pt x="6430" y="12866"/>
                  </a:cubicBezTo>
                  <a:cubicBezTo>
                    <a:pt x="14397" y="12866"/>
                    <a:pt x="28199" y="12600"/>
                    <a:pt x="28921" y="12142"/>
                  </a:cubicBezTo>
                  <a:cubicBezTo>
                    <a:pt x="29288" y="11909"/>
                    <a:pt x="29488" y="8106"/>
                    <a:pt x="29588" y="3503"/>
                  </a:cubicBezTo>
                  <a:lnTo>
                    <a:pt x="29588" y="3336"/>
                  </a:lnTo>
                  <a:cubicBezTo>
                    <a:pt x="29588" y="2402"/>
                    <a:pt x="29622" y="1435"/>
                    <a:pt x="29622" y="434"/>
                  </a:cubicBezTo>
                  <a:lnTo>
                    <a:pt x="29622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9"/>
            <p:cNvSpPr/>
            <p:nvPr/>
          </p:nvSpPr>
          <p:spPr>
            <a:xfrm>
              <a:off x="3402600" y="4545375"/>
              <a:ext cx="739725" cy="238250"/>
            </a:xfrm>
            <a:custGeom>
              <a:avLst/>
              <a:gdLst/>
              <a:ahLst/>
              <a:cxnLst/>
              <a:rect l="l" t="t" r="r" b="b"/>
              <a:pathLst>
                <a:path w="29589" h="9530" extrusionOk="0">
                  <a:moveTo>
                    <a:pt x="12710" y="0"/>
                  </a:moveTo>
                  <a:lnTo>
                    <a:pt x="12710" y="267"/>
                  </a:lnTo>
                  <a:cubicBezTo>
                    <a:pt x="12710" y="267"/>
                    <a:pt x="2769" y="4870"/>
                    <a:pt x="1768" y="5637"/>
                  </a:cubicBezTo>
                  <a:cubicBezTo>
                    <a:pt x="734" y="6438"/>
                    <a:pt x="1" y="9107"/>
                    <a:pt x="901" y="9407"/>
                  </a:cubicBezTo>
                  <a:cubicBezTo>
                    <a:pt x="1152" y="9490"/>
                    <a:pt x="3357" y="9530"/>
                    <a:pt x="6430" y="9530"/>
                  </a:cubicBezTo>
                  <a:cubicBezTo>
                    <a:pt x="14397" y="9530"/>
                    <a:pt x="28199" y="9264"/>
                    <a:pt x="28921" y="8806"/>
                  </a:cubicBezTo>
                  <a:cubicBezTo>
                    <a:pt x="29288" y="8573"/>
                    <a:pt x="29488" y="4770"/>
                    <a:pt x="29588" y="167"/>
                  </a:cubicBezTo>
                  <a:lnTo>
                    <a:pt x="29588" y="0"/>
                  </a:ln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9"/>
            <p:cNvSpPr/>
            <p:nvPr/>
          </p:nvSpPr>
          <p:spPr>
            <a:xfrm>
              <a:off x="3430125" y="4749225"/>
              <a:ext cx="666325" cy="8475"/>
            </a:xfrm>
            <a:custGeom>
              <a:avLst/>
              <a:gdLst/>
              <a:ahLst/>
              <a:cxnLst/>
              <a:rect l="l" t="t" r="r" b="b"/>
              <a:pathLst>
                <a:path w="26653" h="339" extrusionOk="0">
                  <a:moveTo>
                    <a:pt x="19680" y="1"/>
                  </a:moveTo>
                  <a:cubicBezTo>
                    <a:pt x="12697" y="1"/>
                    <a:pt x="3166" y="126"/>
                    <a:pt x="100" y="219"/>
                  </a:cubicBezTo>
                  <a:cubicBezTo>
                    <a:pt x="0" y="219"/>
                    <a:pt x="0" y="285"/>
                    <a:pt x="100" y="285"/>
                  </a:cubicBezTo>
                  <a:cubicBezTo>
                    <a:pt x="1620" y="320"/>
                    <a:pt x="4730" y="339"/>
                    <a:pt x="8331" y="339"/>
                  </a:cubicBezTo>
                  <a:cubicBezTo>
                    <a:pt x="15162" y="339"/>
                    <a:pt x="23758" y="271"/>
                    <a:pt x="26619" y="119"/>
                  </a:cubicBezTo>
                  <a:cubicBezTo>
                    <a:pt x="26653" y="119"/>
                    <a:pt x="26653" y="85"/>
                    <a:pt x="26619" y="85"/>
                  </a:cubicBezTo>
                  <a:cubicBezTo>
                    <a:pt x="25292" y="24"/>
                    <a:pt x="22729" y="1"/>
                    <a:pt x="1968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9"/>
            <p:cNvSpPr/>
            <p:nvPr/>
          </p:nvSpPr>
          <p:spPr>
            <a:xfrm>
              <a:off x="3671125" y="4542875"/>
              <a:ext cx="133300" cy="34425"/>
            </a:xfrm>
            <a:custGeom>
              <a:avLst/>
              <a:gdLst/>
              <a:ahLst/>
              <a:cxnLst/>
              <a:rect l="l" t="t" r="r" b="b"/>
              <a:pathLst>
                <a:path w="5332" h="1377" extrusionOk="0">
                  <a:moveTo>
                    <a:pt x="1509" y="1"/>
                  </a:moveTo>
                  <a:cubicBezTo>
                    <a:pt x="1026" y="1"/>
                    <a:pt x="550" y="47"/>
                    <a:pt x="101" y="133"/>
                  </a:cubicBezTo>
                  <a:cubicBezTo>
                    <a:pt x="1" y="167"/>
                    <a:pt x="1" y="334"/>
                    <a:pt x="134" y="367"/>
                  </a:cubicBezTo>
                  <a:cubicBezTo>
                    <a:pt x="1869" y="534"/>
                    <a:pt x="3570" y="867"/>
                    <a:pt x="5238" y="1368"/>
                  </a:cubicBezTo>
                  <a:cubicBezTo>
                    <a:pt x="5250" y="1374"/>
                    <a:pt x="5261" y="1376"/>
                    <a:pt x="5271" y="1376"/>
                  </a:cubicBezTo>
                  <a:cubicBezTo>
                    <a:pt x="5314" y="1376"/>
                    <a:pt x="5332" y="1322"/>
                    <a:pt x="5304" y="1268"/>
                  </a:cubicBezTo>
                  <a:cubicBezTo>
                    <a:pt x="4316" y="378"/>
                    <a:pt x="2888" y="1"/>
                    <a:pt x="150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9"/>
            <p:cNvSpPr/>
            <p:nvPr/>
          </p:nvSpPr>
          <p:spPr>
            <a:xfrm>
              <a:off x="3639425" y="4561925"/>
              <a:ext cx="134150" cy="34550"/>
            </a:xfrm>
            <a:custGeom>
              <a:avLst/>
              <a:gdLst/>
              <a:ahLst/>
              <a:cxnLst/>
              <a:rect l="l" t="t" r="r" b="b"/>
              <a:pathLst>
                <a:path w="5366" h="1382" extrusionOk="0">
                  <a:moveTo>
                    <a:pt x="1586" y="1"/>
                  </a:moveTo>
                  <a:cubicBezTo>
                    <a:pt x="1089" y="1"/>
                    <a:pt x="597" y="50"/>
                    <a:pt x="134" y="139"/>
                  </a:cubicBezTo>
                  <a:cubicBezTo>
                    <a:pt x="1" y="172"/>
                    <a:pt x="1" y="372"/>
                    <a:pt x="134" y="372"/>
                  </a:cubicBezTo>
                  <a:cubicBezTo>
                    <a:pt x="1869" y="539"/>
                    <a:pt x="3604" y="872"/>
                    <a:pt x="5238" y="1373"/>
                  </a:cubicBezTo>
                  <a:cubicBezTo>
                    <a:pt x="5256" y="1379"/>
                    <a:pt x="5273" y="1382"/>
                    <a:pt x="5286" y="1382"/>
                  </a:cubicBezTo>
                  <a:cubicBezTo>
                    <a:pt x="5348" y="1382"/>
                    <a:pt x="5365" y="1327"/>
                    <a:pt x="5338" y="1273"/>
                  </a:cubicBezTo>
                  <a:cubicBezTo>
                    <a:pt x="4360" y="368"/>
                    <a:pt x="2951" y="1"/>
                    <a:pt x="158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9"/>
            <p:cNvSpPr/>
            <p:nvPr/>
          </p:nvSpPr>
          <p:spPr>
            <a:xfrm>
              <a:off x="3608575" y="4581575"/>
              <a:ext cx="134300" cy="34700"/>
            </a:xfrm>
            <a:custGeom>
              <a:avLst/>
              <a:gdLst/>
              <a:ahLst/>
              <a:cxnLst/>
              <a:rect l="l" t="t" r="r" b="b"/>
              <a:pathLst>
                <a:path w="5372" h="1388" extrusionOk="0">
                  <a:moveTo>
                    <a:pt x="1608" y="0"/>
                  </a:moveTo>
                  <a:cubicBezTo>
                    <a:pt x="1105" y="0"/>
                    <a:pt x="606" y="53"/>
                    <a:pt x="134" y="153"/>
                  </a:cubicBezTo>
                  <a:cubicBezTo>
                    <a:pt x="1" y="153"/>
                    <a:pt x="1" y="353"/>
                    <a:pt x="134" y="353"/>
                  </a:cubicBezTo>
                  <a:cubicBezTo>
                    <a:pt x="1869" y="520"/>
                    <a:pt x="3570" y="854"/>
                    <a:pt x="5238" y="1387"/>
                  </a:cubicBezTo>
                  <a:cubicBezTo>
                    <a:pt x="5305" y="1387"/>
                    <a:pt x="5371" y="1321"/>
                    <a:pt x="5305" y="1254"/>
                  </a:cubicBezTo>
                  <a:cubicBezTo>
                    <a:pt x="4333" y="380"/>
                    <a:pt x="2955" y="0"/>
                    <a:pt x="160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9"/>
            <p:cNvSpPr/>
            <p:nvPr/>
          </p:nvSpPr>
          <p:spPr>
            <a:xfrm>
              <a:off x="3491000" y="2234550"/>
              <a:ext cx="688025" cy="2313350"/>
            </a:xfrm>
            <a:custGeom>
              <a:avLst/>
              <a:gdLst/>
              <a:ahLst/>
              <a:cxnLst/>
              <a:rect l="l" t="t" r="r" b="b"/>
              <a:pathLst>
                <a:path w="27521" h="92534" extrusionOk="0">
                  <a:moveTo>
                    <a:pt x="0" y="0"/>
                  </a:moveTo>
                  <a:cubicBezTo>
                    <a:pt x="0" y="0"/>
                    <a:pt x="367" y="7606"/>
                    <a:pt x="2102" y="13643"/>
                  </a:cubicBezTo>
                  <a:cubicBezTo>
                    <a:pt x="2235" y="14144"/>
                    <a:pt x="2402" y="14644"/>
                    <a:pt x="2569" y="15111"/>
                  </a:cubicBezTo>
                  <a:cubicBezTo>
                    <a:pt x="4137" y="15745"/>
                    <a:pt x="5671" y="16545"/>
                    <a:pt x="7139" y="17479"/>
                  </a:cubicBezTo>
                  <a:cubicBezTo>
                    <a:pt x="7139" y="17479"/>
                    <a:pt x="7339" y="23617"/>
                    <a:pt x="7506" y="30455"/>
                  </a:cubicBezTo>
                  <a:cubicBezTo>
                    <a:pt x="7706" y="38094"/>
                    <a:pt x="7939" y="46634"/>
                    <a:pt x="7873" y="48435"/>
                  </a:cubicBezTo>
                  <a:cubicBezTo>
                    <a:pt x="7706" y="55206"/>
                    <a:pt x="8707" y="92466"/>
                    <a:pt x="8707" y="92466"/>
                  </a:cubicBezTo>
                  <a:lnTo>
                    <a:pt x="27520" y="92533"/>
                  </a:lnTo>
                  <a:cubicBezTo>
                    <a:pt x="27520" y="92533"/>
                    <a:pt x="24118" y="50937"/>
                    <a:pt x="24151" y="48468"/>
                  </a:cubicBezTo>
                  <a:cubicBezTo>
                    <a:pt x="24184" y="44499"/>
                    <a:pt x="23217" y="26853"/>
                    <a:pt x="22483" y="14010"/>
                  </a:cubicBezTo>
                  <a:cubicBezTo>
                    <a:pt x="22049" y="6071"/>
                    <a:pt x="21649" y="0"/>
                    <a:pt x="21649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9"/>
            <p:cNvSpPr/>
            <p:nvPr/>
          </p:nvSpPr>
          <p:spPr>
            <a:xfrm>
              <a:off x="3723675" y="4460075"/>
              <a:ext cx="424475" cy="8850"/>
            </a:xfrm>
            <a:custGeom>
              <a:avLst/>
              <a:gdLst/>
              <a:ahLst/>
              <a:cxnLst/>
              <a:rect l="l" t="t" r="r" b="b"/>
              <a:pathLst>
                <a:path w="16979" h="354" extrusionOk="0">
                  <a:moveTo>
                    <a:pt x="8883" y="1"/>
                  </a:moveTo>
                  <a:cubicBezTo>
                    <a:pt x="7059" y="1"/>
                    <a:pt x="5513" y="10"/>
                    <a:pt x="5004" y="10"/>
                  </a:cubicBezTo>
                  <a:cubicBezTo>
                    <a:pt x="2135" y="10"/>
                    <a:pt x="2935" y="43"/>
                    <a:pt x="67" y="76"/>
                  </a:cubicBezTo>
                  <a:cubicBezTo>
                    <a:pt x="0" y="76"/>
                    <a:pt x="0" y="176"/>
                    <a:pt x="67" y="176"/>
                  </a:cubicBezTo>
                  <a:cubicBezTo>
                    <a:pt x="2935" y="243"/>
                    <a:pt x="2135" y="276"/>
                    <a:pt x="5004" y="310"/>
                  </a:cubicBezTo>
                  <a:cubicBezTo>
                    <a:pt x="5804" y="310"/>
                    <a:pt x="9164" y="353"/>
                    <a:pt x="12140" y="353"/>
                  </a:cubicBezTo>
                  <a:cubicBezTo>
                    <a:pt x="14372" y="353"/>
                    <a:pt x="16388" y="329"/>
                    <a:pt x="16945" y="243"/>
                  </a:cubicBezTo>
                  <a:cubicBezTo>
                    <a:pt x="16979" y="243"/>
                    <a:pt x="16979" y="176"/>
                    <a:pt x="16945" y="176"/>
                  </a:cubicBezTo>
                  <a:cubicBezTo>
                    <a:pt x="16118" y="28"/>
                    <a:pt x="12075" y="1"/>
                    <a:pt x="888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9"/>
            <p:cNvSpPr/>
            <p:nvPr/>
          </p:nvSpPr>
          <p:spPr>
            <a:xfrm>
              <a:off x="3991000" y="2300700"/>
              <a:ext cx="122125" cy="2076025"/>
            </a:xfrm>
            <a:custGeom>
              <a:avLst/>
              <a:gdLst/>
              <a:ahLst/>
              <a:cxnLst/>
              <a:rect l="l" t="t" r="r" b="b"/>
              <a:pathLst>
                <a:path w="4885" h="83041" extrusionOk="0">
                  <a:moveTo>
                    <a:pt x="50" y="1"/>
                  </a:moveTo>
                  <a:cubicBezTo>
                    <a:pt x="21" y="1"/>
                    <a:pt x="1" y="9"/>
                    <a:pt x="15" y="23"/>
                  </a:cubicBezTo>
                  <a:cubicBezTo>
                    <a:pt x="181" y="5960"/>
                    <a:pt x="315" y="11898"/>
                    <a:pt x="548" y="17835"/>
                  </a:cubicBezTo>
                  <a:cubicBezTo>
                    <a:pt x="882" y="28310"/>
                    <a:pt x="1349" y="38817"/>
                    <a:pt x="2016" y="49291"/>
                  </a:cubicBezTo>
                  <a:cubicBezTo>
                    <a:pt x="2683" y="59766"/>
                    <a:pt x="3450" y="72608"/>
                    <a:pt x="4818" y="83015"/>
                  </a:cubicBezTo>
                  <a:cubicBezTo>
                    <a:pt x="4835" y="83032"/>
                    <a:pt x="4851" y="83041"/>
                    <a:pt x="4864" y="83041"/>
                  </a:cubicBezTo>
                  <a:cubicBezTo>
                    <a:pt x="4876" y="83041"/>
                    <a:pt x="4885" y="83032"/>
                    <a:pt x="4885" y="83015"/>
                  </a:cubicBezTo>
                  <a:cubicBezTo>
                    <a:pt x="4251" y="77178"/>
                    <a:pt x="3784" y="68939"/>
                    <a:pt x="3284" y="63068"/>
                  </a:cubicBezTo>
                  <a:cubicBezTo>
                    <a:pt x="2416" y="52560"/>
                    <a:pt x="1783" y="42019"/>
                    <a:pt x="1316" y="31512"/>
                  </a:cubicBezTo>
                  <a:cubicBezTo>
                    <a:pt x="849" y="21038"/>
                    <a:pt x="482" y="10564"/>
                    <a:pt x="148" y="56"/>
                  </a:cubicBezTo>
                  <a:cubicBezTo>
                    <a:pt x="148" y="17"/>
                    <a:pt x="91" y="1"/>
                    <a:pt x="5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9"/>
            <p:cNvSpPr/>
            <p:nvPr/>
          </p:nvSpPr>
          <p:spPr>
            <a:xfrm>
              <a:off x="3530650" y="2601125"/>
              <a:ext cx="140375" cy="73100"/>
            </a:xfrm>
            <a:custGeom>
              <a:avLst/>
              <a:gdLst/>
              <a:ahLst/>
              <a:cxnLst/>
              <a:rect l="l" t="t" r="r" b="b"/>
              <a:pathLst>
                <a:path w="5615" h="2924" extrusionOk="0">
                  <a:moveTo>
                    <a:pt x="162" y="1"/>
                  </a:moveTo>
                  <a:cubicBezTo>
                    <a:pt x="59" y="1"/>
                    <a:pt x="1" y="157"/>
                    <a:pt x="116" y="214"/>
                  </a:cubicBezTo>
                  <a:cubicBezTo>
                    <a:pt x="1850" y="1182"/>
                    <a:pt x="3718" y="2049"/>
                    <a:pt x="5519" y="2916"/>
                  </a:cubicBezTo>
                  <a:cubicBezTo>
                    <a:pt x="5529" y="2921"/>
                    <a:pt x="5537" y="2923"/>
                    <a:pt x="5545" y="2923"/>
                  </a:cubicBezTo>
                  <a:cubicBezTo>
                    <a:pt x="5594" y="2923"/>
                    <a:pt x="5615" y="2845"/>
                    <a:pt x="5586" y="2816"/>
                  </a:cubicBezTo>
                  <a:cubicBezTo>
                    <a:pt x="3885" y="1716"/>
                    <a:pt x="2084" y="782"/>
                    <a:pt x="216" y="14"/>
                  </a:cubicBezTo>
                  <a:cubicBezTo>
                    <a:pt x="197" y="5"/>
                    <a:pt x="179" y="1"/>
                    <a:pt x="16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9"/>
            <p:cNvSpPr/>
            <p:nvPr/>
          </p:nvSpPr>
          <p:spPr>
            <a:xfrm>
              <a:off x="3531025" y="2438725"/>
              <a:ext cx="87600" cy="205925"/>
            </a:xfrm>
            <a:custGeom>
              <a:avLst/>
              <a:gdLst/>
              <a:ahLst/>
              <a:cxnLst/>
              <a:rect l="l" t="t" r="r" b="b"/>
              <a:pathLst>
                <a:path w="3504" h="8237" extrusionOk="0">
                  <a:moveTo>
                    <a:pt x="42" y="1"/>
                  </a:moveTo>
                  <a:cubicBezTo>
                    <a:pt x="23" y="1"/>
                    <a:pt x="1" y="20"/>
                    <a:pt x="1" y="39"/>
                  </a:cubicBezTo>
                  <a:cubicBezTo>
                    <a:pt x="134" y="806"/>
                    <a:pt x="167" y="1540"/>
                    <a:pt x="267" y="2307"/>
                  </a:cubicBezTo>
                  <a:cubicBezTo>
                    <a:pt x="301" y="2941"/>
                    <a:pt x="434" y="3575"/>
                    <a:pt x="568" y="4209"/>
                  </a:cubicBezTo>
                  <a:cubicBezTo>
                    <a:pt x="734" y="4809"/>
                    <a:pt x="1068" y="5309"/>
                    <a:pt x="1535" y="5710"/>
                  </a:cubicBezTo>
                  <a:cubicBezTo>
                    <a:pt x="1768" y="5910"/>
                    <a:pt x="2069" y="6110"/>
                    <a:pt x="2302" y="6310"/>
                  </a:cubicBezTo>
                  <a:cubicBezTo>
                    <a:pt x="2569" y="6477"/>
                    <a:pt x="2803" y="6677"/>
                    <a:pt x="3069" y="6844"/>
                  </a:cubicBezTo>
                  <a:cubicBezTo>
                    <a:pt x="3069" y="6911"/>
                    <a:pt x="3103" y="6977"/>
                    <a:pt x="3103" y="7044"/>
                  </a:cubicBezTo>
                  <a:cubicBezTo>
                    <a:pt x="3136" y="7244"/>
                    <a:pt x="3169" y="7444"/>
                    <a:pt x="3236" y="7644"/>
                  </a:cubicBezTo>
                  <a:cubicBezTo>
                    <a:pt x="3270" y="7811"/>
                    <a:pt x="3303" y="8011"/>
                    <a:pt x="3403" y="8212"/>
                  </a:cubicBezTo>
                  <a:cubicBezTo>
                    <a:pt x="3403" y="8228"/>
                    <a:pt x="3420" y="8237"/>
                    <a:pt x="3436" y="8237"/>
                  </a:cubicBezTo>
                  <a:cubicBezTo>
                    <a:pt x="3453" y="8237"/>
                    <a:pt x="3470" y="8228"/>
                    <a:pt x="3470" y="8212"/>
                  </a:cubicBezTo>
                  <a:cubicBezTo>
                    <a:pt x="3503" y="8011"/>
                    <a:pt x="3503" y="7811"/>
                    <a:pt x="3470" y="7611"/>
                  </a:cubicBezTo>
                  <a:cubicBezTo>
                    <a:pt x="3470" y="7411"/>
                    <a:pt x="3470" y="7211"/>
                    <a:pt x="3436" y="7011"/>
                  </a:cubicBezTo>
                  <a:cubicBezTo>
                    <a:pt x="3436" y="6844"/>
                    <a:pt x="3003" y="4175"/>
                    <a:pt x="2869" y="3642"/>
                  </a:cubicBezTo>
                  <a:cubicBezTo>
                    <a:pt x="2636" y="2541"/>
                    <a:pt x="2336" y="1473"/>
                    <a:pt x="2035" y="373"/>
                  </a:cubicBezTo>
                  <a:cubicBezTo>
                    <a:pt x="2035" y="356"/>
                    <a:pt x="2027" y="348"/>
                    <a:pt x="2014" y="348"/>
                  </a:cubicBezTo>
                  <a:cubicBezTo>
                    <a:pt x="2002" y="348"/>
                    <a:pt x="1985" y="356"/>
                    <a:pt x="1969" y="373"/>
                  </a:cubicBezTo>
                  <a:cubicBezTo>
                    <a:pt x="2202" y="1473"/>
                    <a:pt x="2369" y="2608"/>
                    <a:pt x="2536" y="3708"/>
                  </a:cubicBezTo>
                  <a:cubicBezTo>
                    <a:pt x="2636" y="4275"/>
                    <a:pt x="2702" y="4842"/>
                    <a:pt x="2803" y="5410"/>
                  </a:cubicBezTo>
                  <a:cubicBezTo>
                    <a:pt x="2836" y="5676"/>
                    <a:pt x="2903" y="5910"/>
                    <a:pt x="2936" y="6177"/>
                  </a:cubicBezTo>
                  <a:cubicBezTo>
                    <a:pt x="2969" y="6243"/>
                    <a:pt x="2969" y="6344"/>
                    <a:pt x="3003" y="6444"/>
                  </a:cubicBezTo>
                  <a:cubicBezTo>
                    <a:pt x="2836" y="6310"/>
                    <a:pt x="2702" y="6210"/>
                    <a:pt x="2536" y="6110"/>
                  </a:cubicBezTo>
                  <a:cubicBezTo>
                    <a:pt x="2302" y="5877"/>
                    <a:pt x="2035" y="5676"/>
                    <a:pt x="1768" y="5476"/>
                  </a:cubicBezTo>
                  <a:cubicBezTo>
                    <a:pt x="1335" y="5043"/>
                    <a:pt x="1035" y="4476"/>
                    <a:pt x="901" y="3908"/>
                  </a:cubicBezTo>
                  <a:cubicBezTo>
                    <a:pt x="734" y="3275"/>
                    <a:pt x="601" y="2674"/>
                    <a:pt x="468" y="2007"/>
                  </a:cubicBezTo>
                  <a:cubicBezTo>
                    <a:pt x="367" y="1340"/>
                    <a:pt x="201" y="706"/>
                    <a:pt x="67" y="39"/>
                  </a:cubicBezTo>
                  <a:cubicBezTo>
                    <a:pt x="67" y="11"/>
                    <a:pt x="55" y="1"/>
                    <a:pt x="4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9"/>
            <p:cNvSpPr/>
            <p:nvPr/>
          </p:nvSpPr>
          <p:spPr>
            <a:xfrm>
              <a:off x="3135700" y="1659975"/>
              <a:ext cx="547775" cy="853100"/>
            </a:xfrm>
            <a:custGeom>
              <a:avLst/>
              <a:gdLst/>
              <a:ahLst/>
              <a:cxnLst/>
              <a:rect l="l" t="t" r="r" b="b"/>
              <a:pathLst>
                <a:path w="21911" h="34124" extrusionOk="0">
                  <a:moveTo>
                    <a:pt x="21114" y="1"/>
                  </a:moveTo>
                  <a:cubicBezTo>
                    <a:pt x="20380" y="1"/>
                    <a:pt x="19012" y="925"/>
                    <a:pt x="17014" y="2869"/>
                  </a:cubicBezTo>
                  <a:cubicBezTo>
                    <a:pt x="11310" y="8406"/>
                    <a:pt x="202" y="24084"/>
                    <a:pt x="69" y="30388"/>
                  </a:cubicBezTo>
                  <a:cubicBezTo>
                    <a:pt x="1" y="33139"/>
                    <a:pt x="1977" y="34123"/>
                    <a:pt x="4794" y="34123"/>
                  </a:cubicBezTo>
                  <a:cubicBezTo>
                    <a:pt x="6112" y="34123"/>
                    <a:pt x="7613" y="33908"/>
                    <a:pt x="9175" y="33557"/>
                  </a:cubicBezTo>
                  <a:cubicBezTo>
                    <a:pt x="10843" y="33157"/>
                    <a:pt x="18482" y="26853"/>
                    <a:pt x="18015" y="25352"/>
                  </a:cubicBezTo>
                  <a:cubicBezTo>
                    <a:pt x="17915" y="24985"/>
                    <a:pt x="13245" y="21882"/>
                    <a:pt x="13245" y="21649"/>
                  </a:cubicBezTo>
                  <a:cubicBezTo>
                    <a:pt x="13178" y="20648"/>
                    <a:pt x="20884" y="4970"/>
                    <a:pt x="21584" y="2035"/>
                  </a:cubicBezTo>
                  <a:cubicBezTo>
                    <a:pt x="21910" y="700"/>
                    <a:pt x="21752" y="1"/>
                    <a:pt x="21114" y="1"/>
                  </a:cubicBez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9"/>
            <p:cNvSpPr/>
            <p:nvPr/>
          </p:nvSpPr>
          <p:spPr>
            <a:xfrm>
              <a:off x="3075700" y="1655925"/>
              <a:ext cx="617225" cy="867450"/>
            </a:xfrm>
            <a:custGeom>
              <a:avLst/>
              <a:gdLst/>
              <a:ahLst/>
              <a:cxnLst/>
              <a:rect l="l" t="t" r="r" b="b"/>
              <a:pathLst>
                <a:path w="24689" h="34698" extrusionOk="0">
                  <a:moveTo>
                    <a:pt x="23703" y="1"/>
                  </a:moveTo>
                  <a:cubicBezTo>
                    <a:pt x="22988" y="1"/>
                    <a:pt x="21752" y="681"/>
                    <a:pt x="19948" y="2130"/>
                  </a:cubicBezTo>
                  <a:cubicBezTo>
                    <a:pt x="15712" y="5499"/>
                    <a:pt x="1" y="27482"/>
                    <a:pt x="2336" y="32352"/>
                  </a:cubicBezTo>
                  <a:cubicBezTo>
                    <a:pt x="3243" y="34280"/>
                    <a:pt x="5489" y="34698"/>
                    <a:pt x="7265" y="34698"/>
                  </a:cubicBezTo>
                  <a:cubicBezTo>
                    <a:pt x="8624" y="34698"/>
                    <a:pt x="9707" y="34453"/>
                    <a:pt x="9707" y="34453"/>
                  </a:cubicBezTo>
                  <a:lnTo>
                    <a:pt x="18747" y="23145"/>
                  </a:lnTo>
                  <a:cubicBezTo>
                    <a:pt x="18747" y="23145"/>
                    <a:pt x="16045" y="22144"/>
                    <a:pt x="15979" y="21511"/>
                  </a:cubicBezTo>
                  <a:cubicBezTo>
                    <a:pt x="15912" y="20910"/>
                    <a:pt x="22450" y="7467"/>
                    <a:pt x="23884" y="3498"/>
                  </a:cubicBezTo>
                  <a:cubicBezTo>
                    <a:pt x="24689" y="1238"/>
                    <a:pt x="24668" y="1"/>
                    <a:pt x="23703" y="1"/>
                  </a:cubicBez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9"/>
            <p:cNvSpPr/>
            <p:nvPr/>
          </p:nvSpPr>
          <p:spPr>
            <a:xfrm>
              <a:off x="3211800" y="2195950"/>
              <a:ext cx="264875" cy="159775"/>
            </a:xfrm>
            <a:custGeom>
              <a:avLst/>
              <a:gdLst/>
              <a:ahLst/>
              <a:cxnLst/>
              <a:rect l="l" t="t" r="r" b="b"/>
              <a:pathLst>
                <a:path w="10595" h="6391" extrusionOk="0">
                  <a:moveTo>
                    <a:pt x="10553" y="1"/>
                  </a:moveTo>
                  <a:cubicBezTo>
                    <a:pt x="10547" y="1"/>
                    <a:pt x="10541" y="3"/>
                    <a:pt x="10535" y="10"/>
                  </a:cubicBezTo>
                  <a:cubicBezTo>
                    <a:pt x="10134" y="110"/>
                    <a:pt x="9734" y="243"/>
                    <a:pt x="9367" y="410"/>
                  </a:cubicBezTo>
                  <a:cubicBezTo>
                    <a:pt x="9000" y="577"/>
                    <a:pt x="8633" y="744"/>
                    <a:pt x="8233" y="944"/>
                  </a:cubicBezTo>
                  <a:cubicBezTo>
                    <a:pt x="7499" y="1277"/>
                    <a:pt x="6765" y="1611"/>
                    <a:pt x="6065" y="2011"/>
                  </a:cubicBezTo>
                  <a:cubicBezTo>
                    <a:pt x="5364" y="2411"/>
                    <a:pt x="4664" y="2812"/>
                    <a:pt x="3963" y="3279"/>
                  </a:cubicBezTo>
                  <a:lnTo>
                    <a:pt x="3496" y="3579"/>
                  </a:lnTo>
                  <a:lnTo>
                    <a:pt x="3296" y="3646"/>
                  </a:lnTo>
                  <a:cubicBezTo>
                    <a:pt x="3029" y="3746"/>
                    <a:pt x="2762" y="3846"/>
                    <a:pt x="2496" y="3946"/>
                  </a:cubicBezTo>
                  <a:cubicBezTo>
                    <a:pt x="1995" y="4179"/>
                    <a:pt x="1495" y="4446"/>
                    <a:pt x="1028" y="4746"/>
                  </a:cubicBezTo>
                  <a:cubicBezTo>
                    <a:pt x="1001" y="4773"/>
                    <a:pt x="1018" y="4822"/>
                    <a:pt x="1043" y="4822"/>
                  </a:cubicBezTo>
                  <a:cubicBezTo>
                    <a:pt x="1048" y="4822"/>
                    <a:pt x="1055" y="4820"/>
                    <a:pt x="1061" y="4813"/>
                  </a:cubicBezTo>
                  <a:cubicBezTo>
                    <a:pt x="1562" y="4546"/>
                    <a:pt x="2062" y="4313"/>
                    <a:pt x="2596" y="4113"/>
                  </a:cubicBezTo>
                  <a:lnTo>
                    <a:pt x="2796" y="4013"/>
                  </a:lnTo>
                  <a:lnTo>
                    <a:pt x="2796" y="4013"/>
                  </a:lnTo>
                  <a:cubicBezTo>
                    <a:pt x="2529" y="4213"/>
                    <a:pt x="2262" y="4413"/>
                    <a:pt x="1995" y="4613"/>
                  </a:cubicBezTo>
                  <a:cubicBezTo>
                    <a:pt x="1295" y="5147"/>
                    <a:pt x="661" y="5714"/>
                    <a:pt x="27" y="6348"/>
                  </a:cubicBezTo>
                  <a:cubicBezTo>
                    <a:pt x="0" y="6348"/>
                    <a:pt x="16" y="6390"/>
                    <a:pt x="41" y="6390"/>
                  </a:cubicBezTo>
                  <a:cubicBezTo>
                    <a:pt x="47" y="6390"/>
                    <a:pt x="54" y="6388"/>
                    <a:pt x="60" y="6381"/>
                  </a:cubicBezTo>
                  <a:cubicBezTo>
                    <a:pt x="1195" y="5280"/>
                    <a:pt x="2596" y="4513"/>
                    <a:pt x="3963" y="3746"/>
                  </a:cubicBezTo>
                  <a:cubicBezTo>
                    <a:pt x="5298" y="2979"/>
                    <a:pt x="6699" y="2111"/>
                    <a:pt x="8133" y="1311"/>
                  </a:cubicBezTo>
                  <a:cubicBezTo>
                    <a:pt x="8533" y="1111"/>
                    <a:pt x="8933" y="877"/>
                    <a:pt x="9334" y="677"/>
                  </a:cubicBezTo>
                  <a:cubicBezTo>
                    <a:pt x="9767" y="510"/>
                    <a:pt x="10168" y="277"/>
                    <a:pt x="10568" y="76"/>
                  </a:cubicBezTo>
                  <a:cubicBezTo>
                    <a:pt x="10595" y="49"/>
                    <a:pt x="10578" y="1"/>
                    <a:pt x="1055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9"/>
            <p:cNvSpPr/>
            <p:nvPr/>
          </p:nvSpPr>
          <p:spPr>
            <a:xfrm>
              <a:off x="3378425" y="1611575"/>
              <a:ext cx="710525" cy="905725"/>
            </a:xfrm>
            <a:custGeom>
              <a:avLst/>
              <a:gdLst/>
              <a:ahLst/>
              <a:cxnLst/>
              <a:rect l="l" t="t" r="r" b="b"/>
              <a:pathLst>
                <a:path w="28421" h="36229" extrusionOk="0">
                  <a:moveTo>
                    <a:pt x="14479" y="1"/>
                  </a:moveTo>
                  <a:cubicBezTo>
                    <a:pt x="13062" y="1"/>
                    <a:pt x="11797" y="411"/>
                    <a:pt x="11442" y="802"/>
                  </a:cubicBezTo>
                  <a:cubicBezTo>
                    <a:pt x="8339" y="4304"/>
                    <a:pt x="0" y="33692"/>
                    <a:pt x="300" y="34126"/>
                  </a:cubicBezTo>
                  <a:cubicBezTo>
                    <a:pt x="530" y="34421"/>
                    <a:pt x="27130" y="36229"/>
                    <a:pt x="28125" y="36229"/>
                  </a:cubicBezTo>
                  <a:cubicBezTo>
                    <a:pt x="28143" y="36229"/>
                    <a:pt x="28152" y="36228"/>
                    <a:pt x="28154" y="36227"/>
                  </a:cubicBezTo>
                  <a:cubicBezTo>
                    <a:pt x="28420" y="35994"/>
                    <a:pt x="27253" y="29422"/>
                    <a:pt x="26186" y="22784"/>
                  </a:cubicBezTo>
                  <a:cubicBezTo>
                    <a:pt x="25518" y="18781"/>
                    <a:pt x="22450" y="5405"/>
                    <a:pt x="18046" y="1236"/>
                  </a:cubicBezTo>
                  <a:cubicBezTo>
                    <a:pt x="17080" y="316"/>
                    <a:pt x="15721" y="1"/>
                    <a:pt x="14479" y="1"/>
                  </a:cubicBez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9"/>
            <p:cNvSpPr/>
            <p:nvPr/>
          </p:nvSpPr>
          <p:spPr>
            <a:xfrm>
              <a:off x="3385925" y="1786650"/>
              <a:ext cx="201825" cy="662850"/>
            </a:xfrm>
            <a:custGeom>
              <a:avLst/>
              <a:gdLst/>
              <a:ahLst/>
              <a:cxnLst/>
              <a:rect l="l" t="t" r="r" b="b"/>
              <a:pathLst>
                <a:path w="8073" h="26514" extrusionOk="0">
                  <a:moveTo>
                    <a:pt x="8028" y="0"/>
                  </a:moveTo>
                  <a:cubicBezTo>
                    <a:pt x="8016" y="0"/>
                    <a:pt x="8006" y="11"/>
                    <a:pt x="8006" y="37"/>
                  </a:cubicBezTo>
                  <a:cubicBezTo>
                    <a:pt x="7539" y="1171"/>
                    <a:pt x="7105" y="2305"/>
                    <a:pt x="6705" y="3439"/>
                  </a:cubicBezTo>
                  <a:cubicBezTo>
                    <a:pt x="6739" y="3306"/>
                    <a:pt x="6739" y="3139"/>
                    <a:pt x="6772" y="2972"/>
                  </a:cubicBezTo>
                  <a:cubicBezTo>
                    <a:pt x="6805" y="2505"/>
                    <a:pt x="6772" y="2071"/>
                    <a:pt x="6839" y="1638"/>
                  </a:cubicBezTo>
                  <a:cubicBezTo>
                    <a:pt x="6839" y="1621"/>
                    <a:pt x="6822" y="1613"/>
                    <a:pt x="6805" y="1613"/>
                  </a:cubicBezTo>
                  <a:cubicBezTo>
                    <a:pt x="6789" y="1613"/>
                    <a:pt x="6772" y="1621"/>
                    <a:pt x="6772" y="1638"/>
                  </a:cubicBezTo>
                  <a:cubicBezTo>
                    <a:pt x="6739" y="2105"/>
                    <a:pt x="6638" y="2538"/>
                    <a:pt x="6572" y="3005"/>
                  </a:cubicBezTo>
                  <a:cubicBezTo>
                    <a:pt x="6505" y="3439"/>
                    <a:pt x="6472" y="3773"/>
                    <a:pt x="6405" y="4206"/>
                  </a:cubicBezTo>
                  <a:lnTo>
                    <a:pt x="6372" y="4406"/>
                  </a:lnTo>
                  <a:cubicBezTo>
                    <a:pt x="5704" y="6308"/>
                    <a:pt x="5071" y="8243"/>
                    <a:pt x="4470" y="10177"/>
                  </a:cubicBezTo>
                  <a:cubicBezTo>
                    <a:pt x="3369" y="13613"/>
                    <a:pt x="2369" y="17082"/>
                    <a:pt x="1435" y="20585"/>
                  </a:cubicBezTo>
                  <a:cubicBezTo>
                    <a:pt x="901" y="22553"/>
                    <a:pt x="434" y="24521"/>
                    <a:pt x="0" y="26489"/>
                  </a:cubicBezTo>
                  <a:cubicBezTo>
                    <a:pt x="0" y="26506"/>
                    <a:pt x="17" y="26514"/>
                    <a:pt x="34" y="26514"/>
                  </a:cubicBezTo>
                  <a:cubicBezTo>
                    <a:pt x="50" y="26514"/>
                    <a:pt x="67" y="26506"/>
                    <a:pt x="67" y="26489"/>
                  </a:cubicBezTo>
                  <a:cubicBezTo>
                    <a:pt x="1101" y="23053"/>
                    <a:pt x="2069" y="19584"/>
                    <a:pt x="3103" y="16148"/>
                  </a:cubicBezTo>
                  <a:cubicBezTo>
                    <a:pt x="4037" y="12979"/>
                    <a:pt x="5004" y="9810"/>
                    <a:pt x="6005" y="6675"/>
                  </a:cubicBezTo>
                  <a:cubicBezTo>
                    <a:pt x="6038" y="6675"/>
                    <a:pt x="6071" y="6675"/>
                    <a:pt x="6071" y="6641"/>
                  </a:cubicBezTo>
                  <a:lnTo>
                    <a:pt x="6272" y="5807"/>
                  </a:lnTo>
                  <a:cubicBezTo>
                    <a:pt x="6872" y="3906"/>
                    <a:pt x="7506" y="2005"/>
                    <a:pt x="8073" y="70"/>
                  </a:cubicBezTo>
                  <a:cubicBezTo>
                    <a:pt x="8073" y="29"/>
                    <a:pt x="8047" y="0"/>
                    <a:pt x="802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9"/>
            <p:cNvSpPr/>
            <p:nvPr/>
          </p:nvSpPr>
          <p:spPr>
            <a:xfrm>
              <a:off x="3635350" y="1651275"/>
              <a:ext cx="192325" cy="120450"/>
            </a:xfrm>
            <a:custGeom>
              <a:avLst/>
              <a:gdLst/>
              <a:ahLst/>
              <a:cxnLst/>
              <a:rect l="l" t="t" r="r" b="b"/>
              <a:pathLst>
                <a:path w="7693" h="4818" extrusionOk="0">
                  <a:moveTo>
                    <a:pt x="7649" y="1"/>
                  </a:moveTo>
                  <a:cubicBezTo>
                    <a:pt x="7642" y="1"/>
                    <a:pt x="7636" y="5"/>
                    <a:pt x="7636" y="14"/>
                  </a:cubicBezTo>
                  <a:cubicBezTo>
                    <a:pt x="7102" y="715"/>
                    <a:pt x="6535" y="1415"/>
                    <a:pt x="5935" y="2049"/>
                  </a:cubicBezTo>
                  <a:cubicBezTo>
                    <a:pt x="5401" y="2650"/>
                    <a:pt x="4801" y="3183"/>
                    <a:pt x="4133" y="3617"/>
                  </a:cubicBezTo>
                  <a:cubicBezTo>
                    <a:pt x="3533" y="4151"/>
                    <a:pt x="2766" y="4451"/>
                    <a:pt x="1965" y="4551"/>
                  </a:cubicBezTo>
                  <a:cubicBezTo>
                    <a:pt x="1954" y="4551"/>
                    <a:pt x="1943" y="4551"/>
                    <a:pt x="1932" y="4551"/>
                  </a:cubicBezTo>
                  <a:cubicBezTo>
                    <a:pt x="1" y="4551"/>
                    <a:pt x="298" y="1675"/>
                    <a:pt x="464" y="448"/>
                  </a:cubicBezTo>
                  <a:lnTo>
                    <a:pt x="464" y="448"/>
                  </a:lnTo>
                  <a:cubicBezTo>
                    <a:pt x="197" y="1449"/>
                    <a:pt x="164" y="2516"/>
                    <a:pt x="364" y="3517"/>
                  </a:cubicBezTo>
                  <a:cubicBezTo>
                    <a:pt x="498" y="4284"/>
                    <a:pt x="1131" y="4818"/>
                    <a:pt x="1899" y="4818"/>
                  </a:cubicBezTo>
                  <a:cubicBezTo>
                    <a:pt x="2732" y="4785"/>
                    <a:pt x="3533" y="4484"/>
                    <a:pt x="4200" y="3951"/>
                  </a:cubicBezTo>
                  <a:cubicBezTo>
                    <a:pt x="4901" y="3484"/>
                    <a:pt x="5568" y="2883"/>
                    <a:pt x="6135" y="2216"/>
                  </a:cubicBezTo>
                  <a:cubicBezTo>
                    <a:pt x="6702" y="1549"/>
                    <a:pt x="7169" y="782"/>
                    <a:pt x="7669" y="48"/>
                  </a:cubicBezTo>
                  <a:cubicBezTo>
                    <a:pt x="7693" y="24"/>
                    <a:pt x="7666" y="1"/>
                    <a:pt x="764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9"/>
            <p:cNvSpPr/>
            <p:nvPr/>
          </p:nvSpPr>
          <p:spPr>
            <a:xfrm>
              <a:off x="3733800" y="1547900"/>
              <a:ext cx="887875" cy="415900"/>
            </a:xfrm>
            <a:custGeom>
              <a:avLst/>
              <a:gdLst/>
              <a:ahLst/>
              <a:cxnLst/>
              <a:rect l="l" t="t" r="r" b="b"/>
              <a:pathLst>
                <a:path w="35515" h="16636" extrusionOk="0">
                  <a:moveTo>
                    <a:pt x="26737" y="0"/>
                  </a:moveTo>
                  <a:cubicBezTo>
                    <a:pt x="25781" y="0"/>
                    <a:pt x="25110" y="95"/>
                    <a:pt x="25013" y="313"/>
                  </a:cubicBezTo>
                  <a:cubicBezTo>
                    <a:pt x="23854" y="2830"/>
                    <a:pt x="19344" y="7219"/>
                    <a:pt x="18820" y="7219"/>
                  </a:cubicBezTo>
                  <a:cubicBezTo>
                    <a:pt x="18816" y="7219"/>
                    <a:pt x="18812" y="7219"/>
                    <a:pt x="18809" y="7218"/>
                  </a:cubicBezTo>
                  <a:cubicBezTo>
                    <a:pt x="18175" y="7152"/>
                    <a:pt x="11237" y="5651"/>
                    <a:pt x="5766" y="4383"/>
                  </a:cubicBezTo>
                  <a:cubicBezTo>
                    <a:pt x="4799" y="4153"/>
                    <a:pt x="4034" y="4050"/>
                    <a:pt x="3444" y="4050"/>
                  </a:cubicBezTo>
                  <a:cubicBezTo>
                    <a:pt x="0" y="4050"/>
                    <a:pt x="2501" y="7552"/>
                    <a:pt x="5633" y="9887"/>
                  </a:cubicBezTo>
                  <a:cubicBezTo>
                    <a:pt x="11228" y="14063"/>
                    <a:pt x="17591" y="16636"/>
                    <a:pt x="21404" y="16636"/>
                  </a:cubicBezTo>
                  <a:cubicBezTo>
                    <a:pt x="22160" y="16636"/>
                    <a:pt x="22816" y="16535"/>
                    <a:pt x="23345" y="16325"/>
                  </a:cubicBezTo>
                  <a:cubicBezTo>
                    <a:pt x="25847" y="15324"/>
                    <a:pt x="33953" y="7919"/>
                    <a:pt x="35287" y="1915"/>
                  </a:cubicBezTo>
                  <a:cubicBezTo>
                    <a:pt x="35515" y="929"/>
                    <a:pt x="29728" y="0"/>
                    <a:pt x="26737" y="0"/>
                  </a:cubicBez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9"/>
            <p:cNvSpPr/>
            <p:nvPr/>
          </p:nvSpPr>
          <p:spPr>
            <a:xfrm>
              <a:off x="4348275" y="1336275"/>
              <a:ext cx="326550" cy="378075"/>
            </a:xfrm>
            <a:custGeom>
              <a:avLst/>
              <a:gdLst/>
              <a:ahLst/>
              <a:cxnLst/>
              <a:rect l="l" t="t" r="r" b="b"/>
              <a:pathLst>
                <a:path w="13062" h="15123" extrusionOk="0">
                  <a:moveTo>
                    <a:pt x="4709" y="1"/>
                  </a:moveTo>
                  <a:cubicBezTo>
                    <a:pt x="4484" y="1"/>
                    <a:pt x="4291" y="55"/>
                    <a:pt x="4137" y="172"/>
                  </a:cubicBezTo>
                  <a:cubicBezTo>
                    <a:pt x="2336" y="1540"/>
                    <a:pt x="1" y="8645"/>
                    <a:pt x="101" y="9913"/>
                  </a:cubicBezTo>
                  <a:cubicBezTo>
                    <a:pt x="194" y="11121"/>
                    <a:pt x="6160" y="15123"/>
                    <a:pt x="7835" y="15123"/>
                  </a:cubicBezTo>
                  <a:cubicBezTo>
                    <a:pt x="7963" y="15123"/>
                    <a:pt x="8066" y="15099"/>
                    <a:pt x="8140" y="15050"/>
                  </a:cubicBezTo>
                  <a:cubicBezTo>
                    <a:pt x="9207" y="14349"/>
                    <a:pt x="12009" y="10380"/>
                    <a:pt x="12543" y="8245"/>
                  </a:cubicBezTo>
                  <a:cubicBezTo>
                    <a:pt x="13061" y="6201"/>
                    <a:pt x="7109" y="1"/>
                    <a:pt x="4709" y="1"/>
                  </a:cubicBez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9"/>
            <p:cNvSpPr/>
            <p:nvPr/>
          </p:nvSpPr>
          <p:spPr>
            <a:xfrm>
              <a:off x="4253200" y="1291525"/>
              <a:ext cx="211850" cy="268525"/>
            </a:xfrm>
            <a:custGeom>
              <a:avLst/>
              <a:gdLst/>
              <a:ahLst/>
              <a:cxnLst/>
              <a:rect l="l" t="t" r="r" b="b"/>
              <a:pathLst>
                <a:path w="8474" h="10741" extrusionOk="0">
                  <a:moveTo>
                    <a:pt x="1512" y="0"/>
                  </a:moveTo>
                  <a:cubicBezTo>
                    <a:pt x="1332" y="0"/>
                    <a:pt x="1161" y="40"/>
                    <a:pt x="1002" y="128"/>
                  </a:cubicBezTo>
                  <a:cubicBezTo>
                    <a:pt x="1" y="695"/>
                    <a:pt x="1635" y="3397"/>
                    <a:pt x="2603" y="5331"/>
                  </a:cubicBezTo>
                  <a:cubicBezTo>
                    <a:pt x="3337" y="6932"/>
                    <a:pt x="3837" y="8667"/>
                    <a:pt x="4104" y="10435"/>
                  </a:cubicBezTo>
                  <a:cubicBezTo>
                    <a:pt x="4466" y="10640"/>
                    <a:pt x="4866" y="10740"/>
                    <a:pt x="5264" y="10740"/>
                  </a:cubicBezTo>
                  <a:cubicBezTo>
                    <a:pt x="5709" y="10740"/>
                    <a:pt x="6152" y="10615"/>
                    <a:pt x="6539" y="10368"/>
                  </a:cubicBezTo>
                  <a:cubicBezTo>
                    <a:pt x="8474" y="9067"/>
                    <a:pt x="7173" y="5798"/>
                    <a:pt x="7173" y="5798"/>
                  </a:cubicBezTo>
                  <a:cubicBezTo>
                    <a:pt x="7173" y="5798"/>
                    <a:pt x="3677" y="0"/>
                    <a:pt x="1512" y="0"/>
                  </a:cubicBez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9"/>
            <p:cNvSpPr/>
            <p:nvPr/>
          </p:nvSpPr>
          <p:spPr>
            <a:xfrm>
              <a:off x="4376625" y="1160025"/>
              <a:ext cx="312650" cy="423525"/>
            </a:xfrm>
            <a:custGeom>
              <a:avLst/>
              <a:gdLst/>
              <a:ahLst/>
              <a:cxnLst/>
              <a:rect l="l" t="t" r="r" b="b"/>
              <a:pathLst>
                <a:path w="12506" h="16941" extrusionOk="0">
                  <a:moveTo>
                    <a:pt x="8939" y="1"/>
                  </a:moveTo>
                  <a:cubicBezTo>
                    <a:pt x="6752" y="1"/>
                    <a:pt x="1432" y="8494"/>
                    <a:pt x="501" y="8557"/>
                  </a:cubicBezTo>
                  <a:cubicBezTo>
                    <a:pt x="1" y="8590"/>
                    <a:pt x="301" y="9524"/>
                    <a:pt x="701" y="9891"/>
                  </a:cubicBezTo>
                  <a:cubicBezTo>
                    <a:pt x="996" y="10173"/>
                    <a:pt x="1261" y="10265"/>
                    <a:pt x="1481" y="10265"/>
                  </a:cubicBezTo>
                  <a:cubicBezTo>
                    <a:pt x="1884" y="10265"/>
                    <a:pt x="2135" y="9958"/>
                    <a:pt x="2136" y="9958"/>
                  </a:cubicBezTo>
                  <a:lnTo>
                    <a:pt x="2136" y="9958"/>
                  </a:lnTo>
                  <a:cubicBezTo>
                    <a:pt x="2135" y="9958"/>
                    <a:pt x="901" y="11859"/>
                    <a:pt x="1702" y="12860"/>
                  </a:cubicBezTo>
                  <a:cubicBezTo>
                    <a:pt x="1920" y="13141"/>
                    <a:pt x="2175" y="13245"/>
                    <a:pt x="2433" y="13245"/>
                  </a:cubicBezTo>
                  <a:cubicBezTo>
                    <a:pt x="3122" y="13245"/>
                    <a:pt x="3831" y="12508"/>
                    <a:pt x="3903" y="12459"/>
                  </a:cubicBezTo>
                  <a:lnTo>
                    <a:pt x="3903" y="12459"/>
                  </a:lnTo>
                  <a:cubicBezTo>
                    <a:pt x="3837" y="12559"/>
                    <a:pt x="2736" y="14327"/>
                    <a:pt x="3637" y="15261"/>
                  </a:cubicBezTo>
                  <a:cubicBezTo>
                    <a:pt x="3849" y="15481"/>
                    <a:pt x="4074" y="15566"/>
                    <a:pt x="4295" y="15566"/>
                  </a:cubicBezTo>
                  <a:cubicBezTo>
                    <a:pt x="5012" y="15566"/>
                    <a:pt x="5687" y="14671"/>
                    <a:pt x="5738" y="14594"/>
                  </a:cubicBezTo>
                  <a:lnTo>
                    <a:pt x="5738" y="14594"/>
                  </a:lnTo>
                  <a:cubicBezTo>
                    <a:pt x="5705" y="14728"/>
                    <a:pt x="5338" y="16229"/>
                    <a:pt x="6172" y="16796"/>
                  </a:cubicBezTo>
                  <a:cubicBezTo>
                    <a:pt x="6328" y="16895"/>
                    <a:pt x="6481" y="16940"/>
                    <a:pt x="6630" y="16940"/>
                  </a:cubicBezTo>
                  <a:cubicBezTo>
                    <a:pt x="7876" y="16940"/>
                    <a:pt x="8876" y="13793"/>
                    <a:pt x="10008" y="13227"/>
                  </a:cubicBezTo>
                  <a:cubicBezTo>
                    <a:pt x="10008" y="13227"/>
                    <a:pt x="11342" y="15261"/>
                    <a:pt x="11409" y="15328"/>
                  </a:cubicBezTo>
                  <a:cubicBezTo>
                    <a:pt x="11409" y="15328"/>
                    <a:pt x="11409" y="15328"/>
                    <a:pt x="11409" y="15328"/>
                  </a:cubicBezTo>
                  <a:cubicBezTo>
                    <a:pt x="11452" y="15328"/>
                    <a:pt x="12505" y="11651"/>
                    <a:pt x="11576" y="9991"/>
                  </a:cubicBezTo>
                  <a:cubicBezTo>
                    <a:pt x="11331" y="9584"/>
                    <a:pt x="10911" y="9353"/>
                    <a:pt x="10457" y="9353"/>
                  </a:cubicBezTo>
                  <a:cubicBezTo>
                    <a:pt x="10353" y="9353"/>
                    <a:pt x="10247" y="9366"/>
                    <a:pt x="10141" y="9390"/>
                  </a:cubicBezTo>
                  <a:cubicBezTo>
                    <a:pt x="10141" y="9390"/>
                    <a:pt x="10642" y="8256"/>
                    <a:pt x="9941" y="7489"/>
                  </a:cubicBezTo>
                  <a:cubicBezTo>
                    <a:pt x="9780" y="7328"/>
                    <a:pt x="9508" y="7282"/>
                    <a:pt x="9255" y="7282"/>
                  </a:cubicBezTo>
                  <a:cubicBezTo>
                    <a:pt x="8933" y="7282"/>
                    <a:pt x="8640" y="7356"/>
                    <a:pt x="8640" y="7356"/>
                  </a:cubicBezTo>
                  <a:cubicBezTo>
                    <a:pt x="8840" y="6789"/>
                    <a:pt x="8707" y="6188"/>
                    <a:pt x="8340" y="5755"/>
                  </a:cubicBezTo>
                  <a:cubicBezTo>
                    <a:pt x="8097" y="5527"/>
                    <a:pt x="7786" y="5465"/>
                    <a:pt x="7518" y="5465"/>
                  </a:cubicBezTo>
                  <a:cubicBezTo>
                    <a:pt x="7197" y="5465"/>
                    <a:pt x="6939" y="5554"/>
                    <a:pt x="6939" y="5554"/>
                  </a:cubicBezTo>
                  <a:cubicBezTo>
                    <a:pt x="6939" y="5554"/>
                    <a:pt x="10408" y="984"/>
                    <a:pt x="9374" y="151"/>
                  </a:cubicBezTo>
                  <a:cubicBezTo>
                    <a:pt x="9249" y="48"/>
                    <a:pt x="9103" y="1"/>
                    <a:pt x="8939" y="1"/>
                  </a:cubicBez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9"/>
            <p:cNvSpPr/>
            <p:nvPr/>
          </p:nvSpPr>
          <p:spPr>
            <a:xfrm>
              <a:off x="4428400" y="1298875"/>
              <a:ext cx="118375" cy="119500"/>
            </a:xfrm>
            <a:custGeom>
              <a:avLst/>
              <a:gdLst/>
              <a:ahLst/>
              <a:cxnLst/>
              <a:rect l="l" t="t" r="r" b="b"/>
              <a:pathLst>
                <a:path w="4735" h="4780" extrusionOk="0">
                  <a:moveTo>
                    <a:pt x="4735" y="0"/>
                  </a:moveTo>
                  <a:cubicBezTo>
                    <a:pt x="2733" y="968"/>
                    <a:pt x="1099" y="2502"/>
                    <a:pt x="31" y="4437"/>
                  </a:cubicBezTo>
                  <a:cubicBezTo>
                    <a:pt x="1" y="4498"/>
                    <a:pt x="26" y="4779"/>
                    <a:pt x="56" y="4779"/>
                  </a:cubicBezTo>
                  <a:cubicBezTo>
                    <a:pt x="59" y="4779"/>
                    <a:pt x="62" y="4776"/>
                    <a:pt x="65" y="4770"/>
                  </a:cubicBezTo>
                  <a:cubicBezTo>
                    <a:pt x="1099" y="3103"/>
                    <a:pt x="2900" y="1335"/>
                    <a:pt x="4735" y="34"/>
                  </a:cubicBezTo>
                  <a:lnTo>
                    <a:pt x="4735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9"/>
            <p:cNvSpPr/>
            <p:nvPr/>
          </p:nvSpPr>
          <p:spPr>
            <a:xfrm>
              <a:off x="4471100" y="1341400"/>
              <a:ext cx="122375" cy="132825"/>
            </a:xfrm>
            <a:custGeom>
              <a:avLst/>
              <a:gdLst/>
              <a:ahLst/>
              <a:cxnLst/>
              <a:rect l="l" t="t" r="r" b="b"/>
              <a:pathLst>
                <a:path w="4895" h="5313" extrusionOk="0">
                  <a:moveTo>
                    <a:pt x="4861" y="1"/>
                  </a:moveTo>
                  <a:cubicBezTo>
                    <a:pt x="2693" y="1101"/>
                    <a:pt x="958" y="2936"/>
                    <a:pt x="24" y="5171"/>
                  </a:cubicBezTo>
                  <a:cubicBezTo>
                    <a:pt x="1" y="5242"/>
                    <a:pt x="27" y="5312"/>
                    <a:pt x="57" y="5312"/>
                  </a:cubicBezTo>
                  <a:cubicBezTo>
                    <a:pt x="69" y="5312"/>
                    <a:pt x="81" y="5300"/>
                    <a:pt x="91" y="5271"/>
                  </a:cubicBezTo>
                  <a:cubicBezTo>
                    <a:pt x="792" y="3770"/>
                    <a:pt x="3227" y="1201"/>
                    <a:pt x="4895" y="34"/>
                  </a:cubicBezTo>
                  <a:cubicBezTo>
                    <a:pt x="4895" y="34"/>
                    <a:pt x="4895" y="1"/>
                    <a:pt x="486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9"/>
            <p:cNvSpPr/>
            <p:nvPr/>
          </p:nvSpPr>
          <p:spPr>
            <a:xfrm>
              <a:off x="4518675" y="1394550"/>
              <a:ext cx="110500" cy="135250"/>
            </a:xfrm>
            <a:custGeom>
              <a:avLst/>
              <a:gdLst/>
              <a:ahLst/>
              <a:cxnLst/>
              <a:rect l="l" t="t" r="r" b="b"/>
              <a:pathLst>
                <a:path w="4420" h="5410" extrusionOk="0">
                  <a:moveTo>
                    <a:pt x="4379" y="0"/>
                  </a:moveTo>
                  <a:cubicBezTo>
                    <a:pt x="4373" y="0"/>
                    <a:pt x="4366" y="3"/>
                    <a:pt x="4359" y="9"/>
                  </a:cubicBezTo>
                  <a:cubicBezTo>
                    <a:pt x="3258" y="476"/>
                    <a:pt x="2191" y="1544"/>
                    <a:pt x="1457" y="2445"/>
                  </a:cubicBezTo>
                  <a:cubicBezTo>
                    <a:pt x="723" y="3278"/>
                    <a:pt x="223" y="4279"/>
                    <a:pt x="23" y="5380"/>
                  </a:cubicBezTo>
                  <a:cubicBezTo>
                    <a:pt x="1" y="5380"/>
                    <a:pt x="8" y="5410"/>
                    <a:pt x="25" y="5410"/>
                  </a:cubicBezTo>
                  <a:cubicBezTo>
                    <a:pt x="34" y="5410"/>
                    <a:pt x="45" y="5402"/>
                    <a:pt x="56" y="5380"/>
                  </a:cubicBezTo>
                  <a:cubicBezTo>
                    <a:pt x="990" y="3178"/>
                    <a:pt x="2558" y="1511"/>
                    <a:pt x="4393" y="43"/>
                  </a:cubicBezTo>
                  <a:cubicBezTo>
                    <a:pt x="4419" y="43"/>
                    <a:pt x="4403" y="0"/>
                    <a:pt x="437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9"/>
            <p:cNvSpPr/>
            <p:nvPr/>
          </p:nvSpPr>
          <p:spPr>
            <a:xfrm>
              <a:off x="4393300" y="1408950"/>
              <a:ext cx="234375" cy="178075"/>
            </a:xfrm>
            <a:custGeom>
              <a:avLst/>
              <a:gdLst/>
              <a:ahLst/>
              <a:cxnLst/>
              <a:rect l="l" t="t" r="r" b="b"/>
              <a:pathLst>
                <a:path w="9375" h="7123" extrusionOk="0">
                  <a:moveTo>
                    <a:pt x="1435" y="1"/>
                  </a:moveTo>
                  <a:cubicBezTo>
                    <a:pt x="1202" y="367"/>
                    <a:pt x="1" y="2436"/>
                    <a:pt x="1002" y="3270"/>
                  </a:cubicBezTo>
                  <a:cubicBezTo>
                    <a:pt x="1226" y="3401"/>
                    <a:pt x="1459" y="3453"/>
                    <a:pt x="1684" y="3453"/>
                  </a:cubicBezTo>
                  <a:cubicBezTo>
                    <a:pt x="2005" y="3453"/>
                    <a:pt x="2312" y="3347"/>
                    <a:pt x="2563" y="3212"/>
                  </a:cubicBezTo>
                  <a:lnTo>
                    <a:pt x="2563" y="3212"/>
                  </a:lnTo>
                  <a:cubicBezTo>
                    <a:pt x="2478" y="3477"/>
                    <a:pt x="2423" y="3757"/>
                    <a:pt x="2403" y="4037"/>
                  </a:cubicBezTo>
                  <a:cubicBezTo>
                    <a:pt x="2302" y="4537"/>
                    <a:pt x="2436" y="5037"/>
                    <a:pt x="2769" y="5438"/>
                  </a:cubicBezTo>
                  <a:cubicBezTo>
                    <a:pt x="2936" y="5638"/>
                    <a:pt x="3170" y="5805"/>
                    <a:pt x="3437" y="5871"/>
                  </a:cubicBezTo>
                  <a:cubicBezTo>
                    <a:pt x="3500" y="5879"/>
                    <a:pt x="3564" y="5883"/>
                    <a:pt x="3630" y="5883"/>
                  </a:cubicBezTo>
                  <a:cubicBezTo>
                    <a:pt x="3842" y="5883"/>
                    <a:pt x="4059" y="5840"/>
                    <a:pt x="4237" y="5738"/>
                  </a:cubicBezTo>
                  <a:cubicBezTo>
                    <a:pt x="4441" y="5619"/>
                    <a:pt x="4636" y="5474"/>
                    <a:pt x="4814" y="5303"/>
                  </a:cubicBezTo>
                  <a:lnTo>
                    <a:pt x="4814" y="5303"/>
                  </a:lnTo>
                  <a:cubicBezTo>
                    <a:pt x="4808" y="5412"/>
                    <a:pt x="4804" y="5523"/>
                    <a:pt x="4804" y="5638"/>
                  </a:cubicBezTo>
                  <a:cubicBezTo>
                    <a:pt x="4771" y="6005"/>
                    <a:pt x="4904" y="6372"/>
                    <a:pt x="5104" y="6672"/>
                  </a:cubicBezTo>
                  <a:cubicBezTo>
                    <a:pt x="5300" y="6979"/>
                    <a:pt x="5611" y="7122"/>
                    <a:pt x="5942" y="7122"/>
                  </a:cubicBezTo>
                  <a:cubicBezTo>
                    <a:pt x="6007" y="7122"/>
                    <a:pt x="6073" y="7117"/>
                    <a:pt x="6139" y="7106"/>
                  </a:cubicBezTo>
                  <a:cubicBezTo>
                    <a:pt x="6472" y="7006"/>
                    <a:pt x="6806" y="6772"/>
                    <a:pt x="7039" y="6505"/>
                  </a:cubicBezTo>
                  <a:cubicBezTo>
                    <a:pt x="7473" y="5971"/>
                    <a:pt x="7840" y="5438"/>
                    <a:pt x="8207" y="4837"/>
                  </a:cubicBezTo>
                  <a:cubicBezTo>
                    <a:pt x="8373" y="4570"/>
                    <a:pt x="8540" y="4270"/>
                    <a:pt x="8707" y="4003"/>
                  </a:cubicBezTo>
                  <a:cubicBezTo>
                    <a:pt x="8874" y="3703"/>
                    <a:pt x="9107" y="3470"/>
                    <a:pt x="9374" y="3270"/>
                  </a:cubicBezTo>
                  <a:lnTo>
                    <a:pt x="9374" y="3270"/>
                  </a:lnTo>
                  <a:cubicBezTo>
                    <a:pt x="9074" y="3436"/>
                    <a:pt x="8840" y="3670"/>
                    <a:pt x="8640" y="3937"/>
                  </a:cubicBezTo>
                  <a:cubicBezTo>
                    <a:pt x="8440" y="4204"/>
                    <a:pt x="8240" y="4470"/>
                    <a:pt x="8040" y="4737"/>
                  </a:cubicBezTo>
                  <a:cubicBezTo>
                    <a:pt x="7673" y="5304"/>
                    <a:pt x="7273" y="5838"/>
                    <a:pt x="6839" y="6305"/>
                  </a:cubicBezTo>
                  <a:cubicBezTo>
                    <a:pt x="6639" y="6539"/>
                    <a:pt x="6372" y="6705"/>
                    <a:pt x="6072" y="6772"/>
                  </a:cubicBezTo>
                  <a:cubicBezTo>
                    <a:pt x="6038" y="6776"/>
                    <a:pt x="6005" y="6778"/>
                    <a:pt x="5972" y="6778"/>
                  </a:cubicBezTo>
                  <a:cubicBezTo>
                    <a:pt x="5740" y="6778"/>
                    <a:pt x="5517" y="6676"/>
                    <a:pt x="5371" y="6472"/>
                  </a:cubicBezTo>
                  <a:cubicBezTo>
                    <a:pt x="5238" y="6205"/>
                    <a:pt x="5138" y="5938"/>
                    <a:pt x="5171" y="5638"/>
                  </a:cubicBezTo>
                  <a:cubicBezTo>
                    <a:pt x="5171" y="5355"/>
                    <a:pt x="5201" y="5042"/>
                    <a:pt x="5260" y="4755"/>
                  </a:cubicBezTo>
                  <a:lnTo>
                    <a:pt x="5260" y="4755"/>
                  </a:lnTo>
                  <a:cubicBezTo>
                    <a:pt x="5264" y="4749"/>
                    <a:pt x="5268" y="4743"/>
                    <a:pt x="5271" y="4737"/>
                  </a:cubicBezTo>
                  <a:lnTo>
                    <a:pt x="5265" y="4735"/>
                  </a:lnTo>
                  <a:lnTo>
                    <a:pt x="5265" y="4735"/>
                  </a:lnTo>
                  <a:cubicBezTo>
                    <a:pt x="5267" y="4724"/>
                    <a:pt x="5269" y="4714"/>
                    <a:pt x="5271" y="4704"/>
                  </a:cubicBezTo>
                  <a:lnTo>
                    <a:pt x="5571" y="3603"/>
                  </a:lnTo>
                  <a:lnTo>
                    <a:pt x="4938" y="4537"/>
                  </a:lnTo>
                  <a:cubicBezTo>
                    <a:pt x="4704" y="4904"/>
                    <a:pt x="4404" y="5171"/>
                    <a:pt x="4070" y="5371"/>
                  </a:cubicBezTo>
                  <a:cubicBezTo>
                    <a:pt x="3937" y="5444"/>
                    <a:pt x="3800" y="5477"/>
                    <a:pt x="3668" y="5477"/>
                  </a:cubicBezTo>
                  <a:cubicBezTo>
                    <a:pt x="3435" y="5477"/>
                    <a:pt x="3219" y="5374"/>
                    <a:pt x="3070" y="5204"/>
                  </a:cubicBezTo>
                  <a:cubicBezTo>
                    <a:pt x="2803" y="4871"/>
                    <a:pt x="2703" y="4470"/>
                    <a:pt x="2769" y="4070"/>
                  </a:cubicBezTo>
                  <a:cubicBezTo>
                    <a:pt x="2803" y="3636"/>
                    <a:pt x="2903" y="3236"/>
                    <a:pt x="3070" y="2836"/>
                  </a:cubicBezTo>
                  <a:lnTo>
                    <a:pt x="3470" y="1935"/>
                  </a:lnTo>
                  <a:lnTo>
                    <a:pt x="2803" y="2636"/>
                  </a:lnTo>
                  <a:cubicBezTo>
                    <a:pt x="2616" y="2846"/>
                    <a:pt x="2150" y="3090"/>
                    <a:pt x="1715" y="3090"/>
                  </a:cubicBezTo>
                  <a:cubicBezTo>
                    <a:pt x="1530" y="3090"/>
                    <a:pt x="1351" y="3046"/>
                    <a:pt x="1202" y="2936"/>
                  </a:cubicBezTo>
                  <a:cubicBezTo>
                    <a:pt x="601" y="2436"/>
                    <a:pt x="1235" y="935"/>
                    <a:pt x="1635" y="101"/>
                  </a:cubicBezTo>
                  <a:cubicBezTo>
                    <a:pt x="1669" y="34"/>
                    <a:pt x="1402" y="67"/>
                    <a:pt x="14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9"/>
            <p:cNvSpPr/>
            <p:nvPr/>
          </p:nvSpPr>
          <p:spPr>
            <a:xfrm>
              <a:off x="3723950" y="1586575"/>
              <a:ext cx="849500" cy="393675"/>
            </a:xfrm>
            <a:custGeom>
              <a:avLst/>
              <a:gdLst/>
              <a:ahLst/>
              <a:cxnLst/>
              <a:rect l="l" t="t" r="r" b="b"/>
              <a:pathLst>
                <a:path w="33980" h="15747" extrusionOk="0">
                  <a:moveTo>
                    <a:pt x="23973" y="1"/>
                  </a:moveTo>
                  <a:cubicBezTo>
                    <a:pt x="23973" y="1"/>
                    <a:pt x="19570" y="5171"/>
                    <a:pt x="19269" y="5338"/>
                  </a:cubicBezTo>
                  <a:cubicBezTo>
                    <a:pt x="19261" y="5342"/>
                    <a:pt x="19241" y="5344"/>
                    <a:pt x="19212" y="5344"/>
                  </a:cubicBezTo>
                  <a:cubicBezTo>
                    <a:pt x="18359" y="5344"/>
                    <a:pt x="9059" y="3506"/>
                    <a:pt x="6027" y="2602"/>
                  </a:cubicBezTo>
                  <a:cubicBezTo>
                    <a:pt x="5458" y="2435"/>
                    <a:pt x="4881" y="2354"/>
                    <a:pt x="4335" y="2354"/>
                  </a:cubicBezTo>
                  <a:cubicBezTo>
                    <a:pt x="1843" y="2354"/>
                    <a:pt x="1" y="4036"/>
                    <a:pt x="2491" y="6772"/>
                  </a:cubicBezTo>
                  <a:cubicBezTo>
                    <a:pt x="5993" y="10605"/>
                    <a:pt x="16859" y="15747"/>
                    <a:pt x="21733" y="15747"/>
                  </a:cubicBezTo>
                  <a:cubicBezTo>
                    <a:pt x="21780" y="15747"/>
                    <a:pt x="21826" y="15746"/>
                    <a:pt x="21871" y="15745"/>
                  </a:cubicBezTo>
                  <a:cubicBezTo>
                    <a:pt x="26675" y="15645"/>
                    <a:pt x="33980" y="6205"/>
                    <a:pt x="33980" y="6205"/>
                  </a:cubicBezTo>
                  <a:lnTo>
                    <a:pt x="23973" y="1"/>
                  </a:ln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9"/>
            <p:cNvSpPr/>
            <p:nvPr/>
          </p:nvSpPr>
          <p:spPr>
            <a:xfrm>
              <a:off x="4294075" y="1644950"/>
              <a:ext cx="234100" cy="144650"/>
            </a:xfrm>
            <a:custGeom>
              <a:avLst/>
              <a:gdLst/>
              <a:ahLst/>
              <a:cxnLst/>
              <a:rect l="l" t="t" r="r" b="b"/>
              <a:pathLst>
                <a:path w="9364" h="5786" extrusionOk="0">
                  <a:moveTo>
                    <a:pt x="67" y="1"/>
                  </a:moveTo>
                  <a:cubicBezTo>
                    <a:pt x="67" y="1"/>
                    <a:pt x="0" y="34"/>
                    <a:pt x="34" y="34"/>
                  </a:cubicBezTo>
                  <a:cubicBezTo>
                    <a:pt x="1501" y="1135"/>
                    <a:pt x="3036" y="2069"/>
                    <a:pt x="4570" y="3036"/>
                  </a:cubicBezTo>
                  <a:cubicBezTo>
                    <a:pt x="5304" y="3503"/>
                    <a:pt x="6071" y="3970"/>
                    <a:pt x="6839" y="4437"/>
                  </a:cubicBezTo>
                  <a:lnTo>
                    <a:pt x="8039" y="5071"/>
                  </a:lnTo>
                  <a:cubicBezTo>
                    <a:pt x="8440" y="5338"/>
                    <a:pt x="8873" y="5571"/>
                    <a:pt x="9307" y="5771"/>
                  </a:cubicBezTo>
                  <a:cubicBezTo>
                    <a:pt x="9317" y="5781"/>
                    <a:pt x="9327" y="5785"/>
                    <a:pt x="9335" y="5785"/>
                  </a:cubicBezTo>
                  <a:cubicBezTo>
                    <a:pt x="9354" y="5785"/>
                    <a:pt x="9364" y="5762"/>
                    <a:pt x="9340" y="5738"/>
                  </a:cubicBezTo>
                  <a:cubicBezTo>
                    <a:pt x="9007" y="5471"/>
                    <a:pt x="8640" y="5204"/>
                    <a:pt x="8273" y="4971"/>
                  </a:cubicBezTo>
                  <a:lnTo>
                    <a:pt x="7105" y="4204"/>
                  </a:lnTo>
                  <a:cubicBezTo>
                    <a:pt x="6372" y="3670"/>
                    <a:pt x="5604" y="3236"/>
                    <a:pt x="4837" y="2769"/>
                  </a:cubicBezTo>
                  <a:cubicBezTo>
                    <a:pt x="3269" y="1802"/>
                    <a:pt x="1702" y="835"/>
                    <a:pt x="6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9"/>
            <p:cNvSpPr/>
            <p:nvPr/>
          </p:nvSpPr>
          <p:spPr>
            <a:xfrm>
              <a:off x="3861250" y="1843425"/>
              <a:ext cx="95100" cy="31725"/>
            </a:xfrm>
            <a:custGeom>
              <a:avLst/>
              <a:gdLst/>
              <a:ahLst/>
              <a:cxnLst/>
              <a:rect l="l" t="t" r="r" b="b"/>
              <a:pathLst>
                <a:path w="3804" h="1269" extrusionOk="0">
                  <a:moveTo>
                    <a:pt x="34" y="1"/>
                  </a:moveTo>
                  <a:cubicBezTo>
                    <a:pt x="1" y="1"/>
                    <a:pt x="1" y="67"/>
                    <a:pt x="34" y="67"/>
                  </a:cubicBezTo>
                  <a:cubicBezTo>
                    <a:pt x="535" y="201"/>
                    <a:pt x="1002" y="401"/>
                    <a:pt x="1502" y="568"/>
                  </a:cubicBezTo>
                  <a:lnTo>
                    <a:pt x="1802" y="668"/>
                  </a:lnTo>
                  <a:lnTo>
                    <a:pt x="1535" y="668"/>
                  </a:lnTo>
                  <a:lnTo>
                    <a:pt x="701" y="634"/>
                  </a:lnTo>
                  <a:cubicBezTo>
                    <a:pt x="668" y="634"/>
                    <a:pt x="668" y="668"/>
                    <a:pt x="701" y="668"/>
                  </a:cubicBezTo>
                  <a:cubicBezTo>
                    <a:pt x="968" y="734"/>
                    <a:pt x="1269" y="801"/>
                    <a:pt x="1535" y="801"/>
                  </a:cubicBezTo>
                  <a:lnTo>
                    <a:pt x="2236" y="801"/>
                  </a:lnTo>
                  <a:cubicBezTo>
                    <a:pt x="2436" y="835"/>
                    <a:pt x="3570" y="1268"/>
                    <a:pt x="3804" y="1268"/>
                  </a:cubicBezTo>
                  <a:cubicBezTo>
                    <a:pt x="3804" y="1268"/>
                    <a:pt x="3804" y="1268"/>
                    <a:pt x="3804" y="1201"/>
                  </a:cubicBezTo>
                  <a:cubicBezTo>
                    <a:pt x="2636" y="534"/>
                    <a:pt x="1369" y="134"/>
                    <a:pt x="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9"/>
            <p:cNvSpPr/>
            <p:nvPr/>
          </p:nvSpPr>
          <p:spPr>
            <a:xfrm>
              <a:off x="3638600" y="1487150"/>
              <a:ext cx="165975" cy="244950"/>
            </a:xfrm>
            <a:custGeom>
              <a:avLst/>
              <a:gdLst/>
              <a:ahLst/>
              <a:cxnLst/>
              <a:rect l="l" t="t" r="r" b="b"/>
              <a:pathLst>
                <a:path w="6639" h="9798" extrusionOk="0">
                  <a:moveTo>
                    <a:pt x="5752" y="1"/>
                  </a:moveTo>
                  <a:cubicBezTo>
                    <a:pt x="5595" y="1"/>
                    <a:pt x="5138" y="275"/>
                    <a:pt x="5138" y="275"/>
                  </a:cubicBezTo>
                  <a:lnTo>
                    <a:pt x="3937" y="642"/>
                  </a:lnTo>
                  <a:lnTo>
                    <a:pt x="1" y="1876"/>
                  </a:lnTo>
                  <a:cubicBezTo>
                    <a:pt x="401" y="3044"/>
                    <a:pt x="668" y="4244"/>
                    <a:pt x="801" y="5445"/>
                  </a:cubicBezTo>
                  <a:cubicBezTo>
                    <a:pt x="801" y="5579"/>
                    <a:pt x="801" y="5712"/>
                    <a:pt x="801" y="5846"/>
                  </a:cubicBezTo>
                  <a:lnTo>
                    <a:pt x="801" y="5912"/>
                  </a:lnTo>
                  <a:cubicBezTo>
                    <a:pt x="701" y="6646"/>
                    <a:pt x="501" y="9548"/>
                    <a:pt x="1835" y="9782"/>
                  </a:cubicBezTo>
                  <a:cubicBezTo>
                    <a:pt x="1898" y="9792"/>
                    <a:pt x="1962" y="9797"/>
                    <a:pt x="2029" y="9797"/>
                  </a:cubicBezTo>
                  <a:cubicBezTo>
                    <a:pt x="3458" y="9797"/>
                    <a:pt x="5808" y="7468"/>
                    <a:pt x="6605" y="5779"/>
                  </a:cubicBezTo>
                  <a:cubicBezTo>
                    <a:pt x="6639" y="5645"/>
                    <a:pt x="6372" y="4411"/>
                    <a:pt x="6138" y="2910"/>
                  </a:cubicBezTo>
                  <a:cubicBezTo>
                    <a:pt x="5972" y="2010"/>
                    <a:pt x="5838" y="1009"/>
                    <a:pt x="5805" y="41"/>
                  </a:cubicBezTo>
                  <a:cubicBezTo>
                    <a:pt x="5805" y="13"/>
                    <a:pt x="5785" y="1"/>
                    <a:pt x="5752" y="1"/>
                  </a:cubicBez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9"/>
            <p:cNvSpPr/>
            <p:nvPr/>
          </p:nvSpPr>
          <p:spPr>
            <a:xfrm>
              <a:off x="3638600" y="1499025"/>
              <a:ext cx="137625" cy="135725"/>
            </a:xfrm>
            <a:custGeom>
              <a:avLst/>
              <a:gdLst/>
              <a:ahLst/>
              <a:cxnLst/>
              <a:rect l="l" t="t" r="r" b="b"/>
              <a:pathLst>
                <a:path w="5505" h="5429" extrusionOk="0">
                  <a:moveTo>
                    <a:pt x="5505" y="0"/>
                  </a:moveTo>
                  <a:lnTo>
                    <a:pt x="3970" y="167"/>
                  </a:lnTo>
                  <a:lnTo>
                    <a:pt x="1" y="1434"/>
                  </a:lnTo>
                  <a:cubicBezTo>
                    <a:pt x="401" y="2569"/>
                    <a:pt x="668" y="3769"/>
                    <a:pt x="801" y="5004"/>
                  </a:cubicBezTo>
                  <a:cubicBezTo>
                    <a:pt x="801" y="5104"/>
                    <a:pt x="801" y="5237"/>
                    <a:pt x="801" y="5371"/>
                  </a:cubicBezTo>
                  <a:lnTo>
                    <a:pt x="801" y="5404"/>
                  </a:lnTo>
                  <a:cubicBezTo>
                    <a:pt x="901" y="5421"/>
                    <a:pt x="1001" y="5429"/>
                    <a:pt x="1101" y="5429"/>
                  </a:cubicBezTo>
                  <a:cubicBezTo>
                    <a:pt x="1201" y="5429"/>
                    <a:pt x="1302" y="5421"/>
                    <a:pt x="1402" y="5404"/>
                  </a:cubicBezTo>
                  <a:cubicBezTo>
                    <a:pt x="5338" y="5070"/>
                    <a:pt x="5505" y="0"/>
                    <a:pt x="550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9"/>
            <p:cNvSpPr/>
            <p:nvPr/>
          </p:nvSpPr>
          <p:spPr>
            <a:xfrm>
              <a:off x="3553550" y="1264675"/>
              <a:ext cx="68400" cy="167675"/>
            </a:xfrm>
            <a:custGeom>
              <a:avLst/>
              <a:gdLst/>
              <a:ahLst/>
              <a:cxnLst/>
              <a:rect l="l" t="t" r="r" b="b"/>
              <a:pathLst>
                <a:path w="2736" h="6707" extrusionOk="0">
                  <a:moveTo>
                    <a:pt x="2735" y="1"/>
                  </a:moveTo>
                  <a:cubicBezTo>
                    <a:pt x="2735" y="1"/>
                    <a:pt x="801" y="735"/>
                    <a:pt x="400" y="2636"/>
                  </a:cubicBezTo>
                  <a:cubicBezTo>
                    <a:pt x="0" y="4571"/>
                    <a:pt x="400" y="6605"/>
                    <a:pt x="567" y="6706"/>
                  </a:cubicBezTo>
                  <a:cubicBezTo>
                    <a:pt x="568" y="6706"/>
                    <a:pt x="570" y="6707"/>
                    <a:pt x="571" y="6707"/>
                  </a:cubicBezTo>
                  <a:cubicBezTo>
                    <a:pt x="763" y="6707"/>
                    <a:pt x="2735" y="1"/>
                    <a:pt x="27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9"/>
            <p:cNvSpPr/>
            <p:nvPr/>
          </p:nvSpPr>
          <p:spPr>
            <a:xfrm>
              <a:off x="3535200" y="1246575"/>
              <a:ext cx="292725" cy="358225"/>
            </a:xfrm>
            <a:custGeom>
              <a:avLst/>
              <a:gdLst/>
              <a:ahLst/>
              <a:cxnLst/>
              <a:rect l="l" t="t" r="r" b="b"/>
              <a:pathLst>
                <a:path w="11709" h="14329" extrusionOk="0">
                  <a:moveTo>
                    <a:pt x="6079" y="1"/>
                  </a:moveTo>
                  <a:cubicBezTo>
                    <a:pt x="5184" y="1"/>
                    <a:pt x="4306" y="230"/>
                    <a:pt x="3570" y="725"/>
                  </a:cubicBezTo>
                  <a:cubicBezTo>
                    <a:pt x="1868" y="1892"/>
                    <a:pt x="0" y="9664"/>
                    <a:pt x="1501" y="12233"/>
                  </a:cubicBezTo>
                  <a:cubicBezTo>
                    <a:pt x="2349" y="13676"/>
                    <a:pt x="3772" y="14329"/>
                    <a:pt x="5249" y="14329"/>
                  </a:cubicBezTo>
                  <a:cubicBezTo>
                    <a:pt x="6503" y="14329"/>
                    <a:pt x="7796" y="13858"/>
                    <a:pt x="8807" y="13000"/>
                  </a:cubicBezTo>
                  <a:cubicBezTo>
                    <a:pt x="10374" y="11699"/>
                    <a:pt x="11709" y="5695"/>
                    <a:pt x="11142" y="3593"/>
                  </a:cubicBezTo>
                  <a:cubicBezTo>
                    <a:pt x="10550" y="1369"/>
                    <a:pt x="8263" y="1"/>
                    <a:pt x="6079" y="1"/>
                  </a:cubicBez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9"/>
            <p:cNvSpPr/>
            <p:nvPr/>
          </p:nvSpPr>
          <p:spPr>
            <a:xfrm>
              <a:off x="3759525" y="15699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9"/>
            <p:cNvSpPr/>
            <p:nvPr/>
          </p:nvSpPr>
          <p:spPr>
            <a:xfrm>
              <a:off x="3672800" y="1428975"/>
              <a:ext cx="10850" cy="28375"/>
            </a:xfrm>
            <a:custGeom>
              <a:avLst/>
              <a:gdLst/>
              <a:ahLst/>
              <a:cxnLst/>
              <a:rect l="l" t="t" r="r" b="b"/>
              <a:pathLst>
                <a:path w="434" h="1135" extrusionOk="0">
                  <a:moveTo>
                    <a:pt x="200" y="0"/>
                  </a:moveTo>
                  <a:lnTo>
                    <a:pt x="200" y="0"/>
                  </a:lnTo>
                  <a:cubicBezTo>
                    <a:pt x="34" y="367"/>
                    <a:pt x="0" y="1001"/>
                    <a:pt x="434" y="1134"/>
                  </a:cubicBezTo>
                  <a:cubicBezTo>
                    <a:pt x="100" y="901"/>
                    <a:pt x="134" y="434"/>
                    <a:pt x="234" y="33"/>
                  </a:cubicBezTo>
                  <a:cubicBezTo>
                    <a:pt x="234" y="0"/>
                    <a:pt x="200" y="0"/>
                    <a:pt x="2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9"/>
            <p:cNvSpPr/>
            <p:nvPr/>
          </p:nvSpPr>
          <p:spPr>
            <a:xfrm>
              <a:off x="3669850" y="1419725"/>
              <a:ext cx="35100" cy="33500"/>
            </a:xfrm>
            <a:custGeom>
              <a:avLst/>
              <a:gdLst/>
              <a:ahLst/>
              <a:cxnLst/>
              <a:rect l="l" t="t" r="r" b="b"/>
              <a:pathLst>
                <a:path w="1404" h="1340" extrusionOk="0">
                  <a:moveTo>
                    <a:pt x="744" y="1"/>
                  </a:moveTo>
                  <a:cubicBezTo>
                    <a:pt x="207" y="1"/>
                    <a:pt x="1" y="1240"/>
                    <a:pt x="619" y="1337"/>
                  </a:cubicBezTo>
                  <a:cubicBezTo>
                    <a:pt x="634" y="1339"/>
                    <a:pt x="648" y="1340"/>
                    <a:pt x="663" y="1340"/>
                  </a:cubicBezTo>
                  <a:cubicBezTo>
                    <a:pt x="1229" y="1340"/>
                    <a:pt x="1403" y="101"/>
                    <a:pt x="785" y="3"/>
                  </a:cubicBezTo>
                  <a:cubicBezTo>
                    <a:pt x="771" y="2"/>
                    <a:pt x="757" y="1"/>
                    <a:pt x="7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9"/>
            <p:cNvSpPr/>
            <p:nvPr/>
          </p:nvSpPr>
          <p:spPr>
            <a:xfrm>
              <a:off x="3603575" y="1417300"/>
              <a:ext cx="15875" cy="25025"/>
            </a:xfrm>
            <a:custGeom>
              <a:avLst/>
              <a:gdLst/>
              <a:ahLst/>
              <a:cxnLst/>
              <a:rect l="l" t="t" r="r" b="b"/>
              <a:pathLst>
                <a:path w="635" h="1001" extrusionOk="0">
                  <a:moveTo>
                    <a:pt x="634" y="0"/>
                  </a:moveTo>
                  <a:lnTo>
                    <a:pt x="634" y="0"/>
                  </a:lnTo>
                  <a:cubicBezTo>
                    <a:pt x="634" y="0"/>
                    <a:pt x="601" y="0"/>
                    <a:pt x="568" y="33"/>
                  </a:cubicBezTo>
                  <a:cubicBezTo>
                    <a:pt x="534" y="434"/>
                    <a:pt x="401" y="901"/>
                    <a:pt x="1" y="967"/>
                  </a:cubicBezTo>
                  <a:lnTo>
                    <a:pt x="1" y="1001"/>
                  </a:lnTo>
                  <a:cubicBezTo>
                    <a:pt x="434" y="1001"/>
                    <a:pt x="634" y="400"/>
                    <a:pt x="6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9"/>
            <p:cNvSpPr/>
            <p:nvPr/>
          </p:nvSpPr>
          <p:spPr>
            <a:xfrm>
              <a:off x="3589450" y="1405250"/>
              <a:ext cx="35150" cy="33150"/>
            </a:xfrm>
            <a:custGeom>
              <a:avLst/>
              <a:gdLst/>
              <a:ahLst/>
              <a:cxnLst/>
              <a:rect l="l" t="t" r="r" b="b"/>
              <a:pathLst>
                <a:path w="1406" h="1326" extrusionOk="0">
                  <a:moveTo>
                    <a:pt x="758" y="1"/>
                  </a:moveTo>
                  <a:cubicBezTo>
                    <a:pt x="204" y="1"/>
                    <a:pt x="0" y="1190"/>
                    <a:pt x="566" y="1316"/>
                  </a:cubicBezTo>
                  <a:cubicBezTo>
                    <a:pt x="594" y="1322"/>
                    <a:pt x="622" y="1325"/>
                    <a:pt x="649" y="1325"/>
                  </a:cubicBezTo>
                  <a:cubicBezTo>
                    <a:pt x="1190" y="1325"/>
                    <a:pt x="1406" y="110"/>
                    <a:pt x="866" y="15"/>
                  </a:cubicBezTo>
                  <a:cubicBezTo>
                    <a:pt x="829" y="5"/>
                    <a:pt x="793" y="1"/>
                    <a:pt x="75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9"/>
            <p:cNvSpPr/>
            <p:nvPr/>
          </p:nvSpPr>
          <p:spPr>
            <a:xfrm>
              <a:off x="3680300" y="1380975"/>
              <a:ext cx="36300" cy="26925"/>
            </a:xfrm>
            <a:custGeom>
              <a:avLst/>
              <a:gdLst/>
              <a:ahLst/>
              <a:cxnLst/>
              <a:rect l="l" t="t" r="r" b="b"/>
              <a:pathLst>
                <a:path w="1452" h="1077" extrusionOk="0">
                  <a:moveTo>
                    <a:pt x="455" y="1"/>
                  </a:moveTo>
                  <a:cubicBezTo>
                    <a:pt x="345" y="1"/>
                    <a:pt x="236" y="27"/>
                    <a:pt x="134" y="85"/>
                  </a:cubicBezTo>
                  <a:cubicBezTo>
                    <a:pt x="34" y="152"/>
                    <a:pt x="0" y="286"/>
                    <a:pt x="34" y="419"/>
                  </a:cubicBezTo>
                  <a:cubicBezTo>
                    <a:pt x="134" y="619"/>
                    <a:pt x="301" y="686"/>
                    <a:pt x="501" y="786"/>
                  </a:cubicBezTo>
                  <a:cubicBezTo>
                    <a:pt x="634" y="853"/>
                    <a:pt x="801" y="953"/>
                    <a:pt x="968" y="1053"/>
                  </a:cubicBezTo>
                  <a:cubicBezTo>
                    <a:pt x="1006" y="1069"/>
                    <a:pt x="1044" y="1076"/>
                    <a:pt x="1082" y="1076"/>
                  </a:cubicBezTo>
                  <a:cubicBezTo>
                    <a:pt x="1278" y="1076"/>
                    <a:pt x="1452" y="876"/>
                    <a:pt x="1368" y="653"/>
                  </a:cubicBezTo>
                  <a:cubicBezTo>
                    <a:pt x="1268" y="419"/>
                    <a:pt x="1101" y="219"/>
                    <a:pt x="868" y="119"/>
                  </a:cubicBezTo>
                  <a:cubicBezTo>
                    <a:pt x="737" y="44"/>
                    <a:pt x="595" y="1"/>
                    <a:pt x="4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9"/>
            <p:cNvSpPr/>
            <p:nvPr/>
          </p:nvSpPr>
          <p:spPr>
            <a:xfrm>
              <a:off x="3591075" y="1366250"/>
              <a:ext cx="40050" cy="20200"/>
            </a:xfrm>
            <a:custGeom>
              <a:avLst/>
              <a:gdLst/>
              <a:ahLst/>
              <a:cxnLst/>
              <a:rect l="l" t="t" r="r" b="b"/>
              <a:pathLst>
                <a:path w="1602" h="808" extrusionOk="0">
                  <a:moveTo>
                    <a:pt x="969" y="1"/>
                  </a:moveTo>
                  <a:cubicBezTo>
                    <a:pt x="936" y="1"/>
                    <a:pt x="902" y="3"/>
                    <a:pt x="868" y="7"/>
                  </a:cubicBezTo>
                  <a:cubicBezTo>
                    <a:pt x="601" y="7"/>
                    <a:pt x="367" y="141"/>
                    <a:pt x="200" y="308"/>
                  </a:cubicBezTo>
                  <a:cubicBezTo>
                    <a:pt x="0" y="508"/>
                    <a:pt x="134" y="808"/>
                    <a:pt x="401" y="808"/>
                  </a:cubicBezTo>
                  <a:cubicBezTo>
                    <a:pt x="601" y="808"/>
                    <a:pt x="767" y="775"/>
                    <a:pt x="968" y="775"/>
                  </a:cubicBezTo>
                  <a:cubicBezTo>
                    <a:pt x="1134" y="775"/>
                    <a:pt x="1335" y="708"/>
                    <a:pt x="1501" y="608"/>
                  </a:cubicBezTo>
                  <a:cubicBezTo>
                    <a:pt x="1601" y="508"/>
                    <a:pt x="1601" y="374"/>
                    <a:pt x="1535" y="241"/>
                  </a:cubicBezTo>
                  <a:cubicBezTo>
                    <a:pt x="1389" y="96"/>
                    <a:pt x="1194" y="1"/>
                    <a:pt x="96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9"/>
            <p:cNvSpPr/>
            <p:nvPr/>
          </p:nvSpPr>
          <p:spPr>
            <a:xfrm>
              <a:off x="3650275" y="1521525"/>
              <a:ext cx="21700" cy="7525"/>
            </a:xfrm>
            <a:custGeom>
              <a:avLst/>
              <a:gdLst/>
              <a:ahLst/>
              <a:cxnLst/>
              <a:rect l="l" t="t" r="r" b="b"/>
              <a:pathLst>
                <a:path w="868" h="301" extrusionOk="0">
                  <a:moveTo>
                    <a:pt x="1" y="1"/>
                  </a:moveTo>
                  <a:cubicBezTo>
                    <a:pt x="101" y="201"/>
                    <a:pt x="301" y="301"/>
                    <a:pt x="501" y="301"/>
                  </a:cubicBezTo>
                  <a:cubicBezTo>
                    <a:pt x="668" y="301"/>
                    <a:pt x="835" y="168"/>
                    <a:pt x="868" y="1"/>
                  </a:cubicBezTo>
                  <a:lnTo>
                    <a:pt x="835" y="1"/>
                  </a:lnTo>
                  <a:cubicBezTo>
                    <a:pt x="745" y="60"/>
                    <a:pt x="630" y="173"/>
                    <a:pt x="511" y="173"/>
                  </a:cubicBezTo>
                  <a:cubicBezTo>
                    <a:pt x="496" y="173"/>
                    <a:pt x="482" y="171"/>
                    <a:pt x="468" y="168"/>
                  </a:cubicBezTo>
                  <a:cubicBezTo>
                    <a:pt x="301" y="168"/>
                    <a:pt x="167" y="101"/>
                    <a:pt x="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9"/>
            <p:cNvSpPr/>
            <p:nvPr/>
          </p:nvSpPr>
          <p:spPr>
            <a:xfrm>
              <a:off x="3606650" y="1371075"/>
              <a:ext cx="60325" cy="129625"/>
            </a:xfrm>
            <a:custGeom>
              <a:avLst/>
              <a:gdLst/>
              <a:ahLst/>
              <a:cxnLst/>
              <a:rect l="l" t="t" r="r" b="b"/>
              <a:pathLst>
                <a:path w="2413" h="5185" extrusionOk="0">
                  <a:moveTo>
                    <a:pt x="1274" y="1"/>
                  </a:moveTo>
                  <a:cubicBezTo>
                    <a:pt x="1265" y="1"/>
                    <a:pt x="1255" y="5"/>
                    <a:pt x="1245" y="14"/>
                  </a:cubicBezTo>
                  <a:cubicBezTo>
                    <a:pt x="712" y="1349"/>
                    <a:pt x="278" y="2716"/>
                    <a:pt x="11" y="4151"/>
                  </a:cubicBezTo>
                  <a:cubicBezTo>
                    <a:pt x="1" y="4203"/>
                    <a:pt x="56" y="4223"/>
                    <a:pt x="141" y="4223"/>
                  </a:cubicBezTo>
                  <a:cubicBezTo>
                    <a:pt x="327" y="4223"/>
                    <a:pt x="653" y="4130"/>
                    <a:pt x="745" y="4084"/>
                  </a:cubicBezTo>
                  <a:lnTo>
                    <a:pt x="745" y="4084"/>
                  </a:lnTo>
                  <a:cubicBezTo>
                    <a:pt x="745" y="4084"/>
                    <a:pt x="645" y="4584"/>
                    <a:pt x="578" y="4885"/>
                  </a:cubicBezTo>
                  <a:lnTo>
                    <a:pt x="578" y="4918"/>
                  </a:lnTo>
                  <a:cubicBezTo>
                    <a:pt x="578" y="4951"/>
                    <a:pt x="578" y="4951"/>
                    <a:pt x="578" y="4951"/>
                  </a:cubicBezTo>
                  <a:cubicBezTo>
                    <a:pt x="578" y="5018"/>
                    <a:pt x="611" y="5051"/>
                    <a:pt x="645" y="5085"/>
                  </a:cubicBezTo>
                  <a:lnTo>
                    <a:pt x="745" y="5085"/>
                  </a:lnTo>
                  <a:cubicBezTo>
                    <a:pt x="778" y="5118"/>
                    <a:pt x="812" y="5118"/>
                    <a:pt x="845" y="5118"/>
                  </a:cubicBezTo>
                  <a:cubicBezTo>
                    <a:pt x="1012" y="5151"/>
                    <a:pt x="1179" y="5185"/>
                    <a:pt x="1345" y="5185"/>
                  </a:cubicBezTo>
                  <a:cubicBezTo>
                    <a:pt x="1746" y="5185"/>
                    <a:pt x="2113" y="5018"/>
                    <a:pt x="2379" y="4718"/>
                  </a:cubicBezTo>
                  <a:cubicBezTo>
                    <a:pt x="2413" y="4684"/>
                    <a:pt x="2379" y="4651"/>
                    <a:pt x="2313" y="4651"/>
                  </a:cubicBezTo>
                  <a:cubicBezTo>
                    <a:pt x="1985" y="4838"/>
                    <a:pt x="1625" y="4943"/>
                    <a:pt x="1266" y="4943"/>
                  </a:cubicBezTo>
                  <a:cubicBezTo>
                    <a:pt x="1113" y="4943"/>
                    <a:pt x="961" y="4924"/>
                    <a:pt x="812" y="4885"/>
                  </a:cubicBezTo>
                  <a:cubicBezTo>
                    <a:pt x="812" y="4718"/>
                    <a:pt x="1078" y="3817"/>
                    <a:pt x="1045" y="3817"/>
                  </a:cubicBezTo>
                  <a:cubicBezTo>
                    <a:pt x="812" y="3817"/>
                    <a:pt x="578" y="3851"/>
                    <a:pt x="345" y="3917"/>
                  </a:cubicBezTo>
                  <a:cubicBezTo>
                    <a:pt x="611" y="2616"/>
                    <a:pt x="1078" y="1349"/>
                    <a:pt x="1312" y="48"/>
                  </a:cubicBezTo>
                  <a:cubicBezTo>
                    <a:pt x="1312" y="24"/>
                    <a:pt x="1295" y="1"/>
                    <a:pt x="12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9"/>
            <p:cNvSpPr/>
            <p:nvPr/>
          </p:nvSpPr>
          <p:spPr>
            <a:xfrm>
              <a:off x="3632775" y="1489000"/>
              <a:ext cx="35050" cy="25275"/>
            </a:xfrm>
            <a:custGeom>
              <a:avLst/>
              <a:gdLst/>
              <a:ahLst/>
              <a:cxnLst/>
              <a:rect l="l" t="t" r="r" b="b"/>
              <a:pathLst>
                <a:path w="1402" h="1011" extrusionOk="0">
                  <a:moveTo>
                    <a:pt x="1334" y="1"/>
                  </a:moveTo>
                  <a:cubicBezTo>
                    <a:pt x="1016" y="187"/>
                    <a:pt x="655" y="288"/>
                    <a:pt x="286" y="288"/>
                  </a:cubicBezTo>
                  <a:cubicBezTo>
                    <a:pt x="191" y="288"/>
                    <a:pt x="95" y="281"/>
                    <a:pt x="0" y="268"/>
                  </a:cubicBezTo>
                  <a:lnTo>
                    <a:pt x="0" y="268"/>
                  </a:lnTo>
                  <a:cubicBezTo>
                    <a:pt x="134" y="535"/>
                    <a:pt x="334" y="735"/>
                    <a:pt x="567" y="901"/>
                  </a:cubicBezTo>
                  <a:cubicBezTo>
                    <a:pt x="676" y="956"/>
                    <a:pt x="807" y="1010"/>
                    <a:pt x="943" y="1010"/>
                  </a:cubicBezTo>
                  <a:cubicBezTo>
                    <a:pt x="973" y="1010"/>
                    <a:pt x="1004" y="1008"/>
                    <a:pt x="1034" y="1002"/>
                  </a:cubicBezTo>
                  <a:cubicBezTo>
                    <a:pt x="1368" y="968"/>
                    <a:pt x="1401" y="668"/>
                    <a:pt x="1401" y="401"/>
                  </a:cubicBezTo>
                  <a:cubicBezTo>
                    <a:pt x="1401" y="268"/>
                    <a:pt x="1368" y="134"/>
                    <a:pt x="13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9"/>
            <p:cNvSpPr/>
            <p:nvPr/>
          </p:nvSpPr>
          <p:spPr>
            <a:xfrm>
              <a:off x="3646950" y="1498925"/>
              <a:ext cx="20875" cy="15350"/>
            </a:xfrm>
            <a:custGeom>
              <a:avLst/>
              <a:gdLst/>
              <a:ahLst/>
              <a:cxnLst/>
              <a:rect l="l" t="t" r="r" b="b"/>
              <a:pathLst>
                <a:path w="835" h="614" extrusionOk="0">
                  <a:moveTo>
                    <a:pt x="755" y="0"/>
                  </a:moveTo>
                  <a:cubicBezTo>
                    <a:pt x="420" y="0"/>
                    <a:pt x="124" y="195"/>
                    <a:pt x="0" y="504"/>
                  </a:cubicBezTo>
                  <a:cubicBezTo>
                    <a:pt x="109" y="559"/>
                    <a:pt x="240" y="613"/>
                    <a:pt x="376" y="613"/>
                  </a:cubicBezTo>
                  <a:cubicBezTo>
                    <a:pt x="406" y="613"/>
                    <a:pt x="437" y="611"/>
                    <a:pt x="467" y="605"/>
                  </a:cubicBezTo>
                  <a:cubicBezTo>
                    <a:pt x="801" y="571"/>
                    <a:pt x="834" y="271"/>
                    <a:pt x="834" y="4"/>
                  </a:cubicBezTo>
                  <a:cubicBezTo>
                    <a:pt x="807" y="2"/>
                    <a:pt x="781" y="0"/>
                    <a:pt x="755" y="0"/>
                  </a:cubicBezTo>
                  <a:close/>
                </a:path>
              </a:pathLst>
            </a:custGeom>
            <a:solidFill>
              <a:srgbClr val="FF98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9"/>
            <p:cNvSpPr/>
            <p:nvPr/>
          </p:nvSpPr>
          <p:spPr>
            <a:xfrm>
              <a:off x="3550300" y="1218475"/>
              <a:ext cx="293475" cy="239700"/>
            </a:xfrm>
            <a:custGeom>
              <a:avLst/>
              <a:gdLst/>
              <a:ahLst/>
              <a:cxnLst/>
              <a:rect l="l" t="t" r="r" b="b"/>
              <a:pathLst>
                <a:path w="11739" h="9588" extrusionOk="0">
                  <a:moveTo>
                    <a:pt x="5783" y="0"/>
                  </a:moveTo>
                  <a:cubicBezTo>
                    <a:pt x="2266" y="0"/>
                    <a:pt x="0" y="3461"/>
                    <a:pt x="97" y="3783"/>
                  </a:cubicBezTo>
                  <a:cubicBezTo>
                    <a:pt x="186" y="4117"/>
                    <a:pt x="842" y="4228"/>
                    <a:pt x="1677" y="4228"/>
                  </a:cubicBezTo>
                  <a:cubicBezTo>
                    <a:pt x="3347" y="4228"/>
                    <a:pt x="5734" y="3784"/>
                    <a:pt x="5734" y="3783"/>
                  </a:cubicBezTo>
                  <a:lnTo>
                    <a:pt x="5734" y="3783"/>
                  </a:lnTo>
                  <a:cubicBezTo>
                    <a:pt x="5734" y="3784"/>
                    <a:pt x="3599" y="4617"/>
                    <a:pt x="3766" y="4651"/>
                  </a:cubicBezTo>
                  <a:cubicBezTo>
                    <a:pt x="4352" y="4748"/>
                    <a:pt x="4938" y="4810"/>
                    <a:pt x="5537" y="4810"/>
                  </a:cubicBezTo>
                  <a:cubicBezTo>
                    <a:pt x="5757" y="4810"/>
                    <a:pt x="5978" y="4802"/>
                    <a:pt x="6201" y="4784"/>
                  </a:cubicBezTo>
                  <a:cubicBezTo>
                    <a:pt x="6968" y="4684"/>
                    <a:pt x="7769" y="4451"/>
                    <a:pt x="8469" y="4117"/>
                  </a:cubicBezTo>
                  <a:lnTo>
                    <a:pt x="8469" y="4117"/>
                  </a:lnTo>
                  <a:cubicBezTo>
                    <a:pt x="8469" y="4117"/>
                    <a:pt x="8336" y="9588"/>
                    <a:pt x="9570" y="9588"/>
                  </a:cubicBezTo>
                  <a:cubicBezTo>
                    <a:pt x="10871" y="9588"/>
                    <a:pt x="11605" y="6519"/>
                    <a:pt x="11672" y="5385"/>
                  </a:cubicBezTo>
                  <a:cubicBezTo>
                    <a:pt x="11738" y="4517"/>
                    <a:pt x="10438" y="3050"/>
                    <a:pt x="10438" y="3050"/>
                  </a:cubicBezTo>
                  <a:cubicBezTo>
                    <a:pt x="10438" y="3050"/>
                    <a:pt x="8903" y="214"/>
                    <a:pt x="6168" y="14"/>
                  </a:cubicBezTo>
                  <a:cubicBezTo>
                    <a:pt x="6038" y="5"/>
                    <a:pt x="5910" y="0"/>
                    <a:pt x="578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9"/>
            <p:cNvSpPr/>
            <p:nvPr/>
          </p:nvSpPr>
          <p:spPr>
            <a:xfrm>
              <a:off x="3765350" y="1422400"/>
              <a:ext cx="90925" cy="94875"/>
            </a:xfrm>
            <a:custGeom>
              <a:avLst/>
              <a:gdLst/>
              <a:ahLst/>
              <a:cxnLst/>
              <a:rect l="l" t="t" r="r" b="b"/>
              <a:pathLst>
                <a:path w="3637" h="3795" extrusionOk="0">
                  <a:moveTo>
                    <a:pt x="2454" y="0"/>
                  </a:moveTo>
                  <a:cubicBezTo>
                    <a:pt x="1592" y="0"/>
                    <a:pt x="468" y="1431"/>
                    <a:pt x="468" y="1431"/>
                  </a:cubicBezTo>
                  <a:lnTo>
                    <a:pt x="1" y="3065"/>
                  </a:lnTo>
                  <a:cubicBezTo>
                    <a:pt x="159" y="3513"/>
                    <a:pt x="587" y="3794"/>
                    <a:pt x="1040" y="3794"/>
                  </a:cubicBezTo>
                  <a:cubicBezTo>
                    <a:pt x="1160" y="3794"/>
                    <a:pt x="1283" y="3774"/>
                    <a:pt x="1402" y="3732"/>
                  </a:cubicBezTo>
                  <a:cubicBezTo>
                    <a:pt x="2469" y="3399"/>
                    <a:pt x="3637" y="630"/>
                    <a:pt x="2803" y="96"/>
                  </a:cubicBezTo>
                  <a:cubicBezTo>
                    <a:pt x="2694" y="30"/>
                    <a:pt x="2577" y="0"/>
                    <a:pt x="2454" y="0"/>
                  </a:cubicBez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9"/>
            <p:cNvSpPr/>
            <p:nvPr/>
          </p:nvSpPr>
          <p:spPr>
            <a:xfrm>
              <a:off x="3779025" y="1444800"/>
              <a:ext cx="47225" cy="57650"/>
            </a:xfrm>
            <a:custGeom>
              <a:avLst/>
              <a:gdLst/>
              <a:ahLst/>
              <a:cxnLst/>
              <a:rect l="l" t="t" r="r" b="b"/>
              <a:pathLst>
                <a:path w="1889" h="2306" extrusionOk="0">
                  <a:moveTo>
                    <a:pt x="1889" y="1"/>
                  </a:moveTo>
                  <a:lnTo>
                    <a:pt x="1889" y="1"/>
                  </a:lnTo>
                  <a:cubicBezTo>
                    <a:pt x="888" y="34"/>
                    <a:pt x="88" y="1268"/>
                    <a:pt x="21" y="2236"/>
                  </a:cubicBezTo>
                  <a:cubicBezTo>
                    <a:pt x="0" y="2277"/>
                    <a:pt x="43" y="2306"/>
                    <a:pt x="87" y="2306"/>
                  </a:cubicBezTo>
                  <a:cubicBezTo>
                    <a:pt x="114" y="2306"/>
                    <a:pt x="142" y="2295"/>
                    <a:pt x="154" y="2269"/>
                  </a:cubicBezTo>
                  <a:cubicBezTo>
                    <a:pt x="254" y="2069"/>
                    <a:pt x="388" y="1902"/>
                    <a:pt x="521" y="1702"/>
                  </a:cubicBezTo>
                  <a:cubicBezTo>
                    <a:pt x="660" y="1564"/>
                    <a:pt x="829" y="1489"/>
                    <a:pt x="1009" y="1489"/>
                  </a:cubicBezTo>
                  <a:cubicBezTo>
                    <a:pt x="1090" y="1489"/>
                    <a:pt x="1173" y="1504"/>
                    <a:pt x="1255" y="1535"/>
                  </a:cubicBezTo>
                  <a:cubicBezTo>
                    <a:pt x="1289" y="1535"/>
                    <a:pt x="1289" y="1502"/>
                    <a:pt x="1289" y="1502"/>
                  </a:cubicBezTo>
                  <a:cubicBezTo>
                    <a:pt x="1174" y="1388"/>
                    <a:pt x="1030" y="1335"/>
                    <a:pt x="886" y="1335"/>
                  </a:cubicBezTo>
                  <a:cubicBezTo>
                    <a:pt x="694" y="1335"/>
                    <a:pt x="503" y="1430"/>
                    <a:pt x="388" y="1602"/>
                  </a:cubicBezTo>
                  <a:cubicBezTo>
                    <a:pt x="655" y="902"/>
                    <a:pt x="1188" y="301"/>
                    <a:pt x="188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9"/>
            <p:cNvSpPr/>
            <p:nvPr/>
          </p:nvSpPr>
          <p:spPr>
            <a:xfrm>
              <a:off x="3639425" y="1607425"/>
              <a:ext cx="191850" cy="202950"/>
            </a:xfrm>
            <a:custGeom>
              <a:avLst/>
              <a:gdLst/>
              <a:ahLst/>
              <a:cxnLst/>
              <a:rect l="l" t="t" r="r" b="b"/>
              <a:pathLst>
                <a:path w="7674" h="8118" extrusionOk="0">
                  <a:moveTo>
                    <a:pt x="6439" y="1"/>
                  </a:moveTo>
                  <a:lnTo>
                    <a:pt x="2169" y="4437"/>
                  </a:lnTo>
                  <a:lnTo>
                    <a:pt x="735" y="968"/>
                  </a:lnTo>
                  <a:lnTo>
                    <a:pt x="101" y="2002"/>
                  </a:lnTo>
                  <a:lnTo>
                    <a:pt x="1" y="7239"/>
                  </a:lnTo>
                  <a:lnTo>
                    <a:pt x="2036" y="5138"/>
                  </a:lnTo>
                  <a:lnTo>
                    <a:pt x="3503" y="8106"/>
                  </a:lnTo>
                  <a:cubicBezTo>
                    <a:pt x="3503" y="8114"/>
                    <a:pt x="3506" y="8118"/>
                    <a:pt x="3510" y="8118"/>
                  </a:cubicBezTo>
                  <a:cubicBezTo>
                    <a:pt x="3694" y="8118"/>
                    <a:pt x="7673" y="1402"/>
                    <a:pt x="7673" y="1402"/>
                  </a:cubicBezTo>
                  <a:lnTo>
                    <a:pt x="6439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9"/>
            <p:cNvSpPr/>
            <p:nvPr/>
          </p:nvSpPr>
          <p:spPr>
            <a:xfrm>
              <a:off x="3635275" y="1650450"/>
              <a:ext cx="191825" cy="167150"/>
            </a:xfrm>
            <a:custGeom>
              <a:avLst/>
              <a:gdLst/>
              <a:ahLst/>
              <a:cxnLst/>
              <a:rect l="l" t="t" r="r" b="b"/>
              <a:pathLst>
                <a:path w="7673" h="6686" extrusionOk="0">
                  <a:moveTo>
                    <a:pt x="7619" y="0"/>
                  </a:moveTo>
                  <a:cubicBezTo>
                    <a:pt x="7611" y="0"/>
                    <a:pt x="7606" y="4"/>
                    <a:pt x="7606" y="14"/>
                  </a:cubicBezTo>
                  <a:cubicBezTo>
                    <a:pt x="6838" y="1082"/>
                    <a:pt x="4303" y="5151"/>
                    <a:pt x="3669" y="6285"/>
                  </a:cubicBezTo>
                  <a:cubicBezTo>
                    <a:pt x="3569" y="6085"/>
                    <a:pt x="2502" y="3917"/>
                    <a:pt x="2202" y="3417"/>
                  </a:cubicBezTo>
                  <a:cubicBezTo>
                    <a:pt x="2201" y="3416"/>
                    <a:pt x="2201" y="3416"/>
                    <a:pt x="2200" y="3416"/>
                  </a:cubicBezTo>
                  <a:cubicBezTo>
                    <a:pt x="2135" y="3416"/>
                    <a:pt x="366" y="5185"/>
                    <a:pt x="267" y="5251"/>
                  </a:cubicBezTo>
                  <a:cubicBezTo>
                    <a:pt x="267" y="4451"/>
                    <a:pt x="467" y="1182"/>
                    <a:pt x="267" y="348"/>
                  </a:cubicBezTo>
                  <a:cubicBezTo>
                    <a:pt x="267" y="319"/>
                    <a:pt x="255" y="309"/>
                    <a:pt x="241" y="309"/>
                  </a:cubicBezTo>
                  <a:cubicBezTo>
                    <a:pt x="223" y="309"/>
                    <a:pt x="200" y="328"/>
                    <a:pt x="200" y="348"/>
                  </a:cubicBezTo>
                  <a:cubicBezTo>
                    <a:pt x="134" y="1182"/>
                    <a:pt x="100" y="2082"/>
                    <a:pt x="67" y="2916"/>
                  </a:cubicBezTo>
                  <a:cubicBezTo>
                    <a:pt x="0" y="3884"/>
                    <a:pt x="0" y="4818"/>
                    <a:pt x="34" y="5785"/>
                  </a:cubicBezTo>
                  <a:cubicBezTo>
                    <a:pt x="34" y="5789"/>
                    <a:pt x="35" y="5791"/>
                    <a:pt x="39" y="5791"/>
                  </a:cubicBezTo>
                  <a:cubicBezTo>
                    <a:pt x="150" y="5791"/>
                    <a:pt x="1878" y="3904"/>
                    <a:pt x="2168" y="3517"/>
                  </a:cubicBezTo>
                  <a:cubicBezTo>
                    <a:pt x="2635" y="4617"/>
                    <a:pt x="3136" y="5651"/>
                    <a:pt x="3703" y="6686"/>
                  </a:cubicBezTo>
                  <a:cubicBezTo>
                    <a:pt x="3703" y="6686"/>
                    <a:pt x="3703" y="6686"/>
                    <a:pt x="3704" y="6686"/>
                  </a:cubicBezTo>
                  <a:cubicBezTo>
                    <a:pt x="3789" y="6686"/>
                    <a:pt x="7074" y="1211"/>
                    <a:pt x="7672" y="47"/>
                  </a:cubicBezTo>
                  <a:cubicBezTo>
                    <a:pt x="7672" y="24"/>
                    <a:pt x="7639" y="0"/>
                    <a:pt x="761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9"/>
            <p:cNvSpPr/>
            <p:nvPr/>
          </p:nvSpPr>
          <p:spPr>
            <a:xfrm>
              <a:off x="3496000" y="2370475"/>
              <a:ext cx="482025" cy="28375"/>
            </a:xfrm>
            <a:custGeom>
              <a:avLst/>
              <a:gdLst/>
              <a:ahLst/>
              <a:cxnLst/>
              <a:rect l="l" t="t" r="r" b="b"/>
              <a:pathLst>
                <a:path w="19281" h="1135" extrusionOk="0">
                  <a:moveTo>
                    <a:pt x="1" y="0"/>
                  </a:moveTo>
                  <a:lnTo>
                    <a:pt x="1" y="1135"/>
                  </a:lnTo>
                  <a:lnTo>
                    <a:pt x="19281" y="1135"/>
                  </a:lnTo>
                  <a:lnTo>
                    <a:pt x="19281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9"/>
            <p:cNvSpPr/>
            <p:nvPr/>
          </p:nvSpPr>
          <p:spPr>
            <a:xfrm>
              <a:off x="3496000" y="2370475"/>
              <a:ext cx="292725" cy="28375"/>
            </a:xfrm>
            <a:custGeom>
              <a:avLst/>
              <a:gdLst/>
              <a:ahLst/>
              <a:cxnLst/>
              <a:rect l="l" t="t" r="r" b="b"/>
              <a:pathLst>
                <a:path w="11709" h="1135" extrusionOk="0">
                  <a:moveTo>
                    <a:pt x="1" y="0"/>
                  </a:moveTo>
                  <a:lnTo>
                    <a:pt x="1" y="1135"/>
                  </a:lnTo>
                  <a:lnTo>
                    <a:pt x="11709" y="1135"/>
                  </a:lnTo>
                  <a:lnTo>
                    <a:pt x="11709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9"/>
            <p:cNvSpPr/>
            <p:nvPr/>
          </p:nvSpPr>
          <p:spPr>
            <a:xfrm>
              <a:off x="3040675" y="1982700"/>
              <a:ext cx="698025" cy="416975"/>
            </a:xfrm>
            <a:custGeom>
              <a:avLst/>
              <a:gdLst/>
              <a:ahLst/>
              <a:cxnLst/>
              <a:rect l="l" t="t" r="r" b="b"/>
              <a:pathLst>
                <a:path w="27921" h="16679" extrusionOk="0">
                  <a:moveTo>
                    <a:pt x="1" y="0"/>
                  </a:moveTo>
                  <a:lnTo>
                    <a:pt x="3503" y="16679"/>
                  </a:lnTo>
                  <a:lnTo>
                    <a:pt x="27920" y="16679"/>
                  </a:lnTo>
                  <a:lnTo>
                    <a:pt x="24418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9"/>
            <p:cNvSpPr/>
            <p:nvPr/>
          </p:nvSpPr>
          <p:spPr>
            <a:xfrm>
              <a:off x="3349225" y="2153650"/>
              <a:ext cx="80075" cy="75075"/>
            </a:xfrm>
            <a:custGeom>
              <a:avLst/>
              <a:gdLst/>
              <a:ahLst/>
              <a:cxnLst/>
              <a:rect l="l" t="t" r="r" b="b"/>
              <a:pathLst>
                <a:path w="3203" h="3003" extrusionOk="0">
                  <a:moveTo>
                    <a:pt x="1468" y="1"/>
                  </a:moveTo>
                  <a:cubicBezTo>
                    <a:pt x="634" y="1"/>
                    <a:pt x="1" y="701"/>
                    <a:pt x="134" y="1502"/>
                  </a:cubicBezTo>
                  <a:cubicBezTo>
                    <a:pt x="234" y="2336"/>
                    <a:pt x="935" y="2969"/>
                    <a:pt x="1769" y="3003"/>
                  </a:cubicBezTo>
                  <a:cubicBezTo>
                    <a:pt x="2569" y="3003"/>
                    <a:pt x="3203" y="2302"/>
                    <a:pt x="3103" y="1502"/>
                  </a:cubicBezTo>
                  <a:cubicBezTo>
                    <a:pt x="3003" y="668"/>
                    <a:pt x="2302" y="34"/>
                    <a:pt x="14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9"/>
            <p:cNvSpPr/>
            <p:nvPr/>
          </p:nvSpPr>
          <p:spPr>
            <a:xfrm>
              <a:off x="3250825" y="2232025"/>
              <a:ext cx="391150" cy="281075"/>
            </a:xfrm>
            <a:custGeom>
              <a:avLst/>
              <a:gdLst/>
              <a:ahLst/>
              <a:cxnLst/>
              <a:rect l="l" t="t" r="r" b="b"/>
              <a:pathLst>
                <a:path w="15646" h="11243" extrusionOk="0">
                  <a:moveTo>
                    <a:pt x="6370" y="1"/>
                  </a:moveTo>
                  <a:cubicBezTo>
                    <a:pt x="6359" y="1"/>
                    <a:pt x="6349" y="1"/>
                    <a:pt x="6338" y="1"/>
                  </a:cubicBezTo>
                  <a:cubicBezTo>
                    <a:pt x="4737" y="34"/>
                    <a:pt x="5271" y="2269"/>
                    <a:pt x="5271" y="2269"/>
                  </a:cubicBezTo>
                  <a:cubicBezTo>
                    <a:pt x="5271" y="2269"/>
                    <a:pt x="4432" y="898"/>
                    <a:pt x="3393" y="898"/>
                  </a:cubicBezTo>
                  <a:cubicBezTo>
                    <a:pt x="3298" y="898"/>
                    <a:pt x="3201" y="910"/>
                    <a:pt x="3103" y="935"/>
                  </a:cubicBezTo>
                  <a:cubicBezTo>
                    <a:pt x="1168" y="1402"/>
                    <a:pt x="3370" y="5138"/>
                    <a:pt x="2903" y="6673"/>
                  </a:cubicBezTo>
                  <a:lnTo>
                    <a:pt x="367" y="6673"/>
                  </a:lnTo>
                  <a:lnTo>
                    <a:pt x="1" y="7673"/>
                  </a:lnTo>
                  <a:cubicBezTo>
                    <a:pt x="1502" y="8507"/>
                    <a:pt x="3336" y="10442"/>
                    <a:pt x="4570" y="10675"/>
                  </a:cubicBezTo>
                  <a:cubicBezTo>
                    <a:pt x="4671" y="10697"/>
                    <a:pt x="4772" y="10707"/>
                    <a:pt x="4871" y="10707"/>
                  </a:cubicBezTo>
                  <a:cubicBezTo>
                    <a:pt x="5398" y="10707"/>
                    <a:pt x="5891" y="10419"/>
                    <a:pt x="6172" y="9942"/>
                  </a:cubicBezTo>
                  <a:cubicBezTo>
                    <a:pt x="6172" y="9942"/>
                    <a:pt x="6705" y="11242"/>
                    <a:pt x="7906" y="11242"/>
                  </a:cubicBezTo>
                  <a:cubicBezTo>
                    <a:pt x="8507" y="11242"/>
                    <a:pt x="9040" y="10308"/>
                    <a:pt x="9040" y="10308"/>
                  </a:cubicBezTo>
                  <a:cubicBezTo>
                    <a:pt x="9307" y="10876"/>
                    <a:pt x="9908" y="11242"/>
                    <a:pt x="10575" y="11242"/>
                  </a:cubicBezTo>
                  <a:cubicBezTo>
                    <a:pt x="11409" y="11209"/>
                    <a:pt x="11809" y="10242"/>
                    <a:pt x="11809" y="10242"/>
                  </a:cubicBezTo>
                  <a:cubicBezTo>
                    <a:pt x="11809" y="10242"/>
                    <a:pt x="12439" y="10759"/>
                    <a:pt x="13126" y="10759"/>
                  </a:cubicBezTo>
                  <a:cubicBezTo>
                    <a:pt x="13276" y="10759"/>
                    <a:pt x="13428" y="10735"/>
                    <a:pt x="13577" y="10675"/>
                  </a:cubicBezTo>
                  <a:cubicBezTo>
                    <a:pt x="15245" y="10042"/>
                    <a:pt x="15645" y="2903"/>
                    <a:pt x="13077" y="1669"/>
                  </a:cubicBezTo>
                  <a:cubicBezTo>
                    <a:pt x="12902" y="1582"/>
                    <a:pt x="12753" y="1545"/>
                    <a:pt x="12626" y="1545"/>
                  </a:cubicBezTo>
                  <a:cubicBezTo>
                    <a:pt x="11876" y="1545"/>
                    <a:pt x="11876" y="2836"/>
                    <a:pt x="11876" y="2836"/>
                  </a:cubicBezTo>
                  <a:cubicBezTo>
                    <a:pt x="11876" y="2836"/>
                    <a:pt x="11275" y="335"/>
                    <a:pt x="9808" y="201"/>
                  </a:cubicBezTo>
                  <a:cubicBezTo>
                    <a:pt x="9776" y="199"/>
                    <a:pt x="9744" y="198"/>
                    <a:pt x="9714" y="198"/>
                  </a:cubicBezTo>
                  <a:cubicBezTo>
                    <a:pt x="8313" y="198"/>
                    <a:pt x="8473" y="2403"/>
                    <a:pt x="8473" y="2403"/>
                  </a:cubicBezTo>
                  <a:cubicBezTo>
                    <a:pt x="8473" y="2403"/>
                    <a:pt x="7881" y="1"/>
                    <a:pt x="6370" y="1"/>
                  </a:cubicBez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9"/>
            <p:cNvSpPr/>
            <p:nvPr/>
          </p:nvSpPr>
          <p:spPr>
            <a:xfrm>
              <a:off x="3167425" y="2398825"/>
              <a:ext cx="155975" cy="66550"/>
            </a:xfrm>
            <a:custGeom>
              <a:avLst/>
              <a:gdLst/>
              <a:ahLst/>
              <a:cxnLst/>
              <a:rect l="l" t="t" r="r" b="b"/>
              <a:pathLst>
                <a:path w="6239" h="2662" extrusionOk="0">
                  <a:moveTo>
                    <a:pt x="3603" y="1"/>
                  </a:moveTo>
                  <a:cubicBezTo>
                    <a:pt x="568" y="367"/>
                    <a:pt x="1" y="2402"/>
                    <a:pt x="1735" y="2636"/>
                  </a:cubicBezTo>
                  <a:cubicBezTo>
                    <a:pt x="1870" y="2653"/>
                    <a:pt x="1999" y="2661"/>
                    <a:pt x="2123" y="2661"/>
                  </a:cubicBezTo>
                  <a:cubicBezTo>
                    <a:pt x="3076" y="2661"/>
                    <a:pt x="3724" y="2199"/>
                    <a:pt x="4557" y="2199"/>
                  </a:cubicBezTo>
                  <a:cubicBezTo>
                    <a:pt x="4844" y="2199"/>
                    <a:pt x="5153" y="2254"/>
                    <a:pt x="5505" y="2402"/>
                  </a:cubicBezTo>
                  <a:lnTo>
                    <a:pt x="6239" y="1"/>
                  </a:ln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9"/>
            <p:cNvSpPr/>
            <p:nvPr/>
          </p:nvSpPr>
          <p:spPr>
            <a:xfrm>
              <a:off x="3543900" y="2299250"/>
              <a:ext cx="23850" cy="185500"/>
            </a:xfrm>
            <a:custGeom>
              <a:avLst/>
              <a:gdLst/>
              <a:ahLst/>
              <a:cxnLst/>
              <a:rect l="l" t="t" r="r" b="b"/>
              <a:pathLst>
                <a:path w="954" h="7420" extrusionOk="0">
                  <a:moveTo>
                    <a:pt x="71" y="1"/>
                  </a:moveTo>
                  <a:cubicBezTo>
                    <a:pt x="33" y="1"/>
                    <a:pt x="1" y="26"/>
                    <a:pt x="19" y="81"/>
                  </a:cubicBezTo>
                  <a:cubicBezTo>
                    <a:pt x="420" y="2516"/>
                    <a:pt x="486" y="4984"/>
                    <a:pt x="186" y="7419"/>
                  </a:cubicBezTo>
                  <a:lnTo>
                    <a:pt x="219" y="7419"/>
                  </a:lnTo>
                  <a:cubicBezTo>
                    <a:pt x="953" y="5018"/>
                    <a:pt x="920" y="2449"/>
                    <a:pt x="153" y="47"/>
                  </a:cubicBezTo>
                  <a:cubicBezTo>
                    <a:pt x="138" y="17"/>
                    <a:pt x="102" y="1"/>
                    <a:pt x="7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9"/>
            <p:cNvSpPr/>
            <p:nvPr/>
          </p:nvSpPr>
          <p:spPr>
            <a:xfrm>
              <a:off x="3460600" y="2287175"/>
              <a:ext cx="37100" cy="203200"/>
            </a:xfrm>
            <a:custGeom>
              <a:avLst/>
              <a:gdLst/>
              <a:ahLst/>
              <a:cxnLst/>
              <a:rect l="l" t="t" r="r" b="b"/>
              <a:pathLst>
                <a:path w="1484" h="8128" extrusionOk="0">
                  <a:moveTo>
                    <a:pt x="48" y="0"/>
                  </a:moveTo>
                  <a:cubicBezTo>
                    <a:pt x="19" y="0"/>
                    <a:pt x="0" y="18"/>
                    <a:pt x="16" y="63"/>
                  </a:cubicBezTo>
                  <a:cubicBezTo>
                    <a:pt x="716" y="1831"/>
                    <a:pt x="983" y="5834"/>
                    <a:pt x="649" y="8102"/>
                  </a:cubicBezTo>
                  <a:cubicBezTo>
                    <a:pt x="649" y="8119"/>
                    <a:pt x="658" y="8127"/>
                    <a:pt x="670" y="8127"/>
                  </a:cubicBezTo>
                  <a:cubicBezTo>
                    <a:pt x="683" y="8127"/>
                    <a:pt x="699" y="8119"/>
                    <a:pt x="716" y="8102"/>
                  </a:cubicBezTo>
                  <a:cubicBezTo>
                    <a:pt x="1483" y="5434"/>
                    <a:pt x="1283" y="2599"/>
                    <a:pt x="149" y="63"/>
                  </a:cubicBezTo>
                  <a:cubicBezTo>
                    <a:pt x="131" y="27"/>
                    <a:pt x="82" y="0"/>
                    <a:pt x="4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9"/>
            <p:cNvSpPr/>
            <p:nvPr/>
          </p:nvSpPr>
          <p:spPr>
            <a:xfrm>
              <a:off x="3377825" y="2283400"/>
              <a:ext cx="40650" cy="195300"/>
            </a:xfrm>
            <a:custGeom>
              <a:avLst/>
              <a:gdLst/>
              <a:ahLst/>
              <a:cxnLst/>
              <a:rect l="l" t="t" r="r" b="b"/>
              <a:pathLst>
                <a:path w="1626" h="7812" extrusionOk="0">
                  <a:moveTo>
                    <a:pt x="83" y="0"/>
                  </a:moveTo>
                  <a:cubicBezTo>
                    <a:pt x="44" y="0"/>
                    <a:pt x="1" y="24"/>
                    <a:pt x="24" y="48"/>
                  </a:cubicBezTo>
                  <a:cubicBezTo>
                    <a:pt x="1125" y="2549"/>
                    <a:pt x="1292" y="5118"/>
                    <a:pt x="1092" y="7786"/>
                  </a:cubicBezTo>
                  <a:cubicBezTo>
                    <a:pt x="1092" y="7803"/>
                    <a:pt x="1108" y="7811"/>
                    <a:pt x="1125" y="7811"/>
                  </a:cubicBezTo>
                  <a:cubicBezTo>
                    <a:pt x="1142" y="7811"/>
                    <a:pt x="1158" y="7803"/>
                    <a:pt x="1158" y="7786"/>
                  </a:cubicBezTo>
                  <a:cubicBezTo>
                    <a:pt x="1625" y="6519"/>
                    <a:pt x="1559" y="4784"/>
                    <a:pt x="1392" y="3450"/>
                  </a:cubicBezTo>
                  <a:cubicBezTo>
                    <a:pt x="1292" y="2216"/>
                    <a:pt x="825" y="1015"/>
                    <a:pt x="124" y="14"/>
                  </a:cubicBezTo>
                  <a:cubicBezTo>
                    <a:pt x="114" y="4"/>
                    <a:pt x="99" y="0"/>
                    <a:pt x="8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38"/>
          <p:cNvSpPr txBox="1">
            <a:spLocks noGrp="1"/>
          </p:cNvSpPr>
          <p:nvPr>
            <p:ph type="title"/>
          </p:nvPr>
        </p:nvSpPr>
        <p:spPr>
          <a:xfrm>
            <a:off x="678600" y="527275"/>
            <a:ext cx="7786800" cy="6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terminos</a:t>
            </a:r>
            <a:endParaRPr dirty="0"/>
          </a:p>
        </p:txBody>
      </p:sp>
      <p:sp>
        <p:nvSpPr>
          <p:cNvPr id="850" name="Google Shape;850;p38"/>
          <p:cNvSpPr txBox="1">
            <a:spLocks noGrp="1"/>
          </p:cNvSpPr>
          <p:nvPr>
            <p:ph type="body" idx="1"/>
          </p:nvPr>
        </p:nvSpPr>
        <p:spPr>
          <a:xfrm>
            <a:off x="678600" y="3669325"/>
            <a:ext cx="2209500" cy="9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Representar estructuradamente los datos y sus relaciones para un sistema.</a:t>
            </a:r>
            <a:endParaRPr dirty="0"/>
          </a:p>
        </p:txBody>
      </p:sp>
      <p:sp>
        <p:nvSpPr>
          <p:cNvPr id="851" name="Google Shape;851;p38"/>
          <p:cNvSpPr txBox="1">
            <a:spLocks noGrp="1"/>
          </p:cNvSpPr>
          <p:nvPr>
            <p:ph type="subTitle" idx="2"/>
          </p:nvPr>
        </p:nvSpPr>
        <p:spPr>
          <a:xfrm>
            <a:off x="678612" y="3131425"/>
            <a:ext cx="2209500" cy="53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modelar</a:t>
            </a:r>
            <a:endParaRPr dirty="0"/>
          </a:p>
        </p:txBody>
      </p:sp>
      <p:sp>
        <p:nvSpPr>
          <p:cNvPr id="852" name="Google Shape;852;p38"/>
          <p:cNvSpPr txBox="1">
            <a:spLocks noGrp="1"/>
          </p:cNvSpPr>
          <p:nvPr>
            <p:ph type="body" idx="3"/>
          </p:nvPr>
        </p:nvSpPr>
        <p:spPr>
          <a:xfrm>
            <a:off x="5860561" y="3669325"/>
            <a:ext cx="2972551" cy="9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/>
            <a:r>
              <a:rPr lang="es-ES" dirty="0"/>
              <a:t>Modelo define cómo deben organizarse los datos (nivel conceptual o lógico)</a:t>
            </a:r>
          </a:p>
          <a:p>
            <a:pPr marL="285750" indent="-285750"/>
            <a:r>
              <a:rPr lang="es-ES" dirty="0"/>
              <a:t>Esquema es la implementación concreta del modelo</a:t>
            </a:r>
            <a:endParaRPr dirty="0"/>
          </a:p>
        </p:txBody>
      </p:sp>
      <p:sp>
        <p:nvSpPr>
          <p:cNvPr id="853" name="Google Shape;853;p38"/>
          <p:cNvSpPr txBox="1">
            <a:spLocks noGrp="1"/>
          </p:cNvSpPr>
          <p:nvPr>
            <p:ph type="subTitle" idx="4"/>
          </p:nvPr>
        </p:nvSpPr>
        <p:spPr>
          <a:xfrm>
            <a:off x="6242087" y="3131425"/>
            <a:ext cx="2209500" cy="53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/>
              <a:t>M</a:t>
            </a:r>
            <a:r>
              <a:rPr lang="en" dirty="0"/>
              <a:t>odelo vs esquema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4" name="Google Shape;854;p38"/>
          <p:cNvSpPr txBox="1">
            <a:spLocks noGrp="1"/>
          </p:cNvSpPr>
          <p:nvPr>
            <p:ph type="body" idx="5"/>
          </p:nvPr>
        </p:nvSpPr>
        <p:spPr>
          <a:xfrm>
            <a:off x="3460338" y="2069125"/>
            <a:ext cx="2209500" cy="9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Representación abstracta de los datos </a:t>
            </a:r>
            <a:endParaRPr dirty="0"/>
          </a:p>
        </p:txBody>
      </p:sp>
      <p:sp>
        <p:nvSpPr>
          <p:cNvPr id="855" name="Google Shape;855;p38"/>
          <p:cNvSpPr txBox="1">
            <a:spLocks noGrp="1"/>
          </p:cNvSpPr>
          <p:nvPr>
            <p:ph type="subTitle" idx="6"/>
          </p:nvPr>
        </p:nvSpPr>
        <p:spPr>
          <a:xfrm>
            <a:off x="3460350" y="1531225"/>
            <a:ext cx="2209500" cy="53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modelo</a:t>
            </a:r>
            <a:endParaRPr dirty="0"/>
          </a:p>
        </p:txBody>
      </p:sp>
      <p:sp>
        <p:nvSpPr>
          <p:cNvPr id="856" name="Google Shape;856;p38"/>
          <p:cNvSpPr/>
          <p:nvPr/>
        </p:nvSpPr>
        <p:spPr>
          <a:xfrm>
            <a:off x="0" y="1172875"/>
            <a:ext cx="3457500" cy="1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38"/>
          <p:cNvSpPr/>
          <p:nvPr/>
        </p:nvSpPr>
        <p:spPr>
          <a:xfrm rot="-5400000">
            <a:off x="6931475" y="-1098150"/>
            <a:ext cx="418500" cy="2614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38"/>
          <p:cNvSpPr/>
          <p:nvPr/>
        </p:nvSpPr>
        <p:spPr>
          <a:xfrm>
            <a:off x="1499550" y="2165738"/>
            <a:ext cx="567625" cy="647450"/>
          </a:xfrm>
          <a:custGeom>
            <a:avLst/>
            <a:gdLst/>
            <a:ahLst/>
            <a:cxnLst/>
            <a:rect l="l" t="t" r="r" b="b"/>
            <a:pathLst>
              <a:path w="22705" h="25898" extrusionOk="0">
                <a:moveTo>
                  <a:pt x="11319" y="0"/>
                </a:moveTo>
                <a:cubicBezTo>
                  <a:pt x="3510" y="0"/>
                  <a:pt x="0" y="7335"/>
                  <a:pt x="546" y="11976"/>
                </a:cubicBezTo>
                <a:cubicBezTo>
                  <a:pt x="1337" y="19089"/>
                  <a:pt x="5896" y="20396"/>
                  <a:pt x="6656" y="22280"/>
                </a:cubicBezTo>
                <a:cubicBezTo>
                  <a:pt x="7051" y="23466"/>
                  <a:pt x="7355" y="24682"/>
                  <a:pt x="7598" y="25898"/>
                </a:cubicBezTo>
                <a:lnTo>
                  <a:pt x="15015" y="25898"/>
                </a:lnTo>
                <a:cubicBezTo>
                  <a:pt x="15258" y="24682"/>
                  <a:pt x="15592" y="23466"/>
                  <a:pt x="15987" y="22280"/>
                </a:cubicBezTo>
                <a:cubicBezTo>
                  <a:pt x="16747" y="20396"/>
                  <a:pt x="21306" y="19119"/>
                  <a:pt x="22158" y="12037"/>
                </a:cubicBezTo>
                <a:cubicBezTo>
                  <a:pt x="22705" y="7356"/>
                  <a:pt x="19209" y="1"/>
                  <a:pt x="11367" y="1"/>
                </a:cubicBezTo>
                <a:cubicBezTo>
                  <a:pt x="11351" y="0"/>
                  <a:pt x="11335" y="0"/>
                  <a:pt x="11319" y="0"/>
                </a:cubicBezTo>
                <a:close/>
              </a:path>
            </a:pathLst>
          </a:custGeom>
          <a:solidFill>
            <a:srgbClr val="FFC7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38"/>
          <p:cNvSpPr/>
          <p:nvPr/>
        </p:nvSpPr>
        <p:spPr>
          <a:xfrm>
            <a:off x="1678100" y="2529738"/>
            <a:ext cx="63075" cy="296375"/>
          </a:xfrm>
          <a:custGeom>
            <a:avLst/>
            <a:gdLst/>
            <a:ahLst/>
            <a:cxnLst/>
            <a:rect l="l" t="t" r="r" b="b"/>
            <a:pathLst>
              <a:path w="2523" h="11855" extrusionOk="0">
                <a:moveTo>
                  <a:pt x="365" y="0"/>
                </a:moveTo>
                <a:lnTo>
                  <a:pt x="0" y="61"/>
                </a:lnTo>
                <a:lnTo>
                  <a:pt x="2158" y="11854"/>
                </a:lnTo>
                <a:lnTo>
                  <a:pt x="2523" y="11793"/>
                </a:lnTo>
                <a:lnTo>
                  <a:pt x="3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38"/>
          <p:cNvSpPr/>
          <p:nvPr/>
        </p:nvSpPr>
        <p:spPr>
          <a:xfrm>
            <a:off x="1823225" y="2530488"/>
            <a:ext cx="64625" cy="295625"/>
          </a:xfrm>
          <a:custGeom>
            <a:avLst/>
            <a:gdLst/>
            <a:ahLst/>
            <a:cxnLst/>
            <a:rect l="l" t="t" r="r" b="b"/>
            <a:pathLst>
              <a:path w="2585" h="11825" extrusionOk="0">
                <a:moveTo>
                  <a:pt x="2220" y="0"/>
                </a:moveTo>
                <a:lnTo>
                  <a:pt x="1" y="11763"/>
                </a:lnTo>
                <a:lnTo>
                  <a:pt x="365" y="11824"/>
                </a:lnTo>
                <a:lnTo>
                  <a:pt x="2584" y="61"/>
                </a:lnTo>
                <a:lnTo>
                  <a:pt x="222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38"/>
          <p:cNvSpPr/>
          <p:nvPr/>
        </p:nvSpPr>
        <p:spPr>
          <a:xfrm>
            <a:off x="1684925" y="2510738"/>
            <a:ext cx="199125" cy="118550"/>
          </a:xfrm>
          <a:custGeom>
            <a:avLst/>
            <a:gdLst/>
            <a:ahLst/>
            <a:cxnLst/>
            <a:rect l="l" t="t" r="r" b="b"/>
            <a:pathLst>
              <a:path w="7965" h="4742" extrusionOk="0">
                <a:moveTo>
                  <a:pt x="2220" y="213"/>
                </a:moveTo>
                <a:cubicBezTo>
                  <a:pt x="2402" y="213"/>
                  <a:pt x="2584" y="304"/>
                  <a:pt x="2675" y="486"/>
                </a:cubicBezTo>
                <a:cubicBezTo>
                  <a:pt x="2949" y="1003"/>
                  <a:pt x="2706" y="2128"/>
                  <a:pt x="2311" y="2827"/>
                </a:cubicBezTo>
                <a:lnTo>
                  <a:pt x="2220" y="2948"/>
                </a:lnTo>
                <a:cubicBezTo>
                  <a:pt x="1764" y="2006"/>
                  <a:pt x="1612" y="882"/>
                  <a:pt x="1855" y="426"/>
                </a:cubicBezTo>
                <a:cubicBezTo>
                  <a:pt x="1946" y="304"/>
                  <a:pt x="2068" y="213"/>
                  <a:pt x="2220" y="213"/>
                </a:cubicBezTo>
                <a:close/>
                <a:moveTo>
                  <a:pt x="5441" y="213"/>
                </a:moveTo>
                <a:cubicBezTo>
                  <a:pt x="5563" y="213"/>
                  <a:pt x="5685" y="304"/>
                  <a:pt x="5745" y="426"/>
                </a:cubicBezTo>
                <a:cubicBezTo>
                  <a:pt x="6049" y="912"/>
                  <a:pt x="5867" y="2189"/>
                  <a:pt x="5411" y="3161"/>
                </a:cubicBezTo>
                <a:cubicBezTo>
                  <a:pt x="5320" y="3070"/>
                  <a:pt x="5259" y="2979"/>
                  <a:pt x="5198" y="2888"/>
                </a:cubicBezTo>
                <a:cubicBezTo>
                  <a:pt x="4803" y="2158"/>
                  <a:pt x="4682" y="1034"/>
                  <a:pt x="5016" y="517"/>
                </a:cubicBezTo>
                <a:cubicBezTo>
                  <a:pt x="5077" y="334"/>
                  <a:pt x="5259" y="213"/>
                  <a:pt x="5441" y="213"/>
                </a:cubicBezTo>
                <a:close/>
                <a:moveTo>
                  <a:pt x="5472" y="0"/>
                </a:moveTo>
                <a:cubicBezTo>
                  <a:pt x="5198" y="31"/>
                  <a:pt x="4986" y="152"/>
                  <a:pt x="4864" y="395"/>
                </a:cubicBezTo>
                <a:cubicBezTo>
                  <a:pt x="4530" y="1003"/>
                  <a:pt x="4621" y="2189"/>
                  <a:pt x="5077" y="2979"/>
                </a:cubicBezTo>
                <a:cubicBezTo>
                  <a:pt x="5138" y="3100"/>
                  <a:pt x="5229" y="3252"/>
                  <a:pt x="5320" y="3344"/>
                </a:cubicBezTo>
                <a:cubicBezTo>
                  <a:pt x="5289" y="3404"/>
                  <a:pt x="5259" y="3465"/>
                  <a:pt x="5229" y="3526"/>
                </a:cubicBezTo>
                <a:cubicBezTo>
                  <a:pt x="4864" y="4164"/>
                  <a:pt x="4408" y="4529"/>
                  <a:pt x="3952" y="4529"/>
                </a:cubicBezTo>
                <a:cubicBezTo>
                  <a:pt x="3253" y="4529"/>
                  <a:pt x="2706" y="3769"/>
                  <a:pt x="2463" y="3313"/>
                </a:cubicBezTo>
                <a:cubicBezTo>
                  <a:pt x="2432" y="3283"/>
                  <a:pt x="2402" y="3222"/>
                  <a:pt x="2372" y="3161"/>
                </a:cubicBezTo>
                <a:cubicBezTo>
                  <a:pt x="2402" y="3070"/>
                  <a:pt x="2463" y="3009"/>
                  <a:pt x="2523" y="2918"/>
                </a:cubicBezTo>
                <a:cubicBezTo>
                  <a:pt x="2949" y="2158"/>
                  <a:pt x="3192" y="942"/>
                  <a:pt x="2858" y="365"/>
                </a:cubicBezTo>
                <a:cubicBezTo>
                  <a:pt x="2736" y="152"/>
                  <a:pt x="2493" y="31"/>
                  <a:pt x="2250" y="31"/>
                </a:cubicBezTo>
                <a:cubicBezTo>
                  <a:pt x="2037" y="31"/>
                  <a:pt x="1824" y="152"/>
                  <a:pt x="1733" y="334"/>
                </a:cubicBezTo>
                <a:cubicBezTo>
                  <a:pt x="1399" y="912"/>
                  <a:pt x="1642" y="2158"/>
                  <a:pt x="2128" y="3131"/>
                </a:cubicBezTo>
                <a:cubicBezTo>
                  <a:pt x="2007" y="3313"/>
                  <a:pt x="1794" y="3435"/>
                  <a:pt x="1581" y="3465"/>
                </a:cubicBezTo>
                <a:cubicBezTo>
                  <a:pt x="639" y="3465"/>
                  <a:pt x="213" y="1246"/>
                  <a:pt x="213" y="1216"/>
                </a:cubicBezTo>
                <a:lnTo>
                  <a:pt x="1" y="1277"/>
                </a:lnTo>
                <a:cubicBezTo>
                  <a:pt x="31" y="1368"/>
                  <a:pt x="457" y="3648"/>
                  <a:pt x="1581" y="3648"/>
                </a:cubicBezTo>
                <a:cubicBezTo>
                  <a:pt x="1824" y="3648"/>
                  <a:pt x="2068" y="3496"/>
                  <a:pt x="2220" y="3313"/>
                </a:cubicBezTo>
                <a:cubicBezTo>
                  <a:pt x="2220" y="3344"/>
                  <a:pt x="2250" y="3374"/>
                  <a:pt x="2280" y="3435"/>
                </a:cubicBezTo>
                <a:cubicBezTo>
                  <a:pt x="2767" y="4255"/>
                  <a:pt x="3344" y="4742"/>
                  <a:pt x="3922" y="4742"/>
                </a:cubicBezTo>
                <a:cubicBezTo>
                  <a:pt x="4590" y="4742"/>
                  <a:pt x="5077" y="4134"/>
                  <a:pt x="5411" y="3587"/>
                </a:cubicBezTo>
                <a:lnTo>
                  <a:pt x="5502" y="3465"/>
                </a:lnTo>
                <a:cubicBezTo>
                  <a:pt x="5715" y="3678"/>
                  <a:pt x="6019" y="3800"/>
                  <a:pt x="6323" y="3800"/>
                </a:cubicBezTo>
                <a:cubicBezTo>
                  <a:pt x="7265" y="3800"/>
                  <a:pt x="7934" y="1520"/>
                  <a:pt x="7964" y="1429"/>
                </a:cubicBezTo>
                <a:lnTo>
                  <a:pt x="7782" y="1368"/>
                </a:lnTo>
                <a:cubicBezTo>
                  <a:pt x="7600" y="2006"/>
                  <a:pt x="6992" y="3617"/>
                  <a:pt x="6323" y="3617"/>
                </a:cubicBezTo>
                <a:cubicBezTo>
                  <a:pt x="6019" y="3617"/>
                  <a:pt x="5745" y="3496"/>
                  <a:pt x="5563" y="3283"/>
                </a:cubicBezTo>
                <a:cubicBezTo>
                  <a:pt x="6080" y="2219"/>
                  <a:pt x="6262" y="882"/>
                  <a:pt x="5928" y="304"/>
                </a:cubicBezTo>
                <a:cubicBezTo>
                  <a:pt x="5837" y="122"/>
                  <a:pt x="5654" y="31"/>
                  <a:pt x="547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38"/>
          <p:cNvSpPr/>
          <p:nvPr/>
        </p:nvSpPr>
        <p:spPr>
          <a:xfrm>
            <a:off x="1668200" y="2805563"/>
            <a:ext cx="228775" cy="44850"/>
          </a:xfrm>
          <a:custGeom>
            <a:avLst/>
            <a:gdLst/>
            <a:ahLst/>
            <a:cxnLst/>
            <a:rect l="l" t="t" r="r" b="b"/>
            <a:pathLst>
              <a:path w="9151" h="1794" extrusionOk="0">
                <a:moveTo>
                  <a:pt x="1" y="1"/>
                </a:moveTo>
                <a:lnTo>
                  <a:pt x="1" y="1794"/>
                </a:lnTo>
                <a:lnTo>
                  <a:pt x="9120" y="1794"/>
                </a:lnTo>
                <a:lnTo>
                  <a:pt x="9150" y="31"/>
                </a:lnTo>
                <a:lnTo>
                  <a:pt x="1" y="1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38"/>
          <p:cNvSpPr/>
          <p:nvPr/>
        </p:nvSpPr>
        <p:spPr>
          <a:xfrm>
            <a:off x="1668200" y="2857238"/>
            <a:ext cx="228000" cy="45625"/>
          </a:xfrm>
          <a:custGeom>
            <a:avLst/>
            <a:gdLst/>
            <a:ahLst/>
            <a:cxnLst/>
            <a:rect l="l" t="t" r="r" b="b"/>
            <a:pathLst>
              <a:path w="9120" h="1825" extrusionOk="0">
                <a:moveTo>
                  <a:pt x="1" y="0"/>
                </a:moveTo>
                <a:lnTo>
                  <a:pt x="1" y="1794"/>
                </a:lnTo>
                <a:lnTo>
                  <a:pt x="9120" y="1824"/>
                </a:lnTo>
                <a:lnTo>
                  <a:pt x="9120" y="31"/>
                </a:lnTo>
                <a:lnTo>
                  <a:pt x="1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38"/>
          <p:cNvSpPr/>
          <p:nvPr/>
        </p:nvSpPr>
        <p:spPr>
          <a:xfrm>
            <a:off x="1668200" y="2908913"/>
            <a:ext cx="228000" cy="44850"/>
          </a:xfrm>
          <a:custGeom>
            <a:avLst/>
            <a:gdLst/>
            <a:ahLst/>
            <a:cxnLst/>
            <a:rect l="l" t="t" r="r" b="b"/>
            <a:pathLst>
              <a:path w="9120" h="1794" extrusionOk="0">
                <a:moveTo>
                  <a:pt x="1" y="0"/>
                </a:moveTo>
                <a:lnTo>
                  <a:pt x="1" y="1794"/>
                </a:lnTo>
                <a:lnTo>
                  <a:pt x="9120" y="1794"/>
                </a:lnTo>
                <a:lnTo>
                  <a:pt x="9120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38"/>
          <p:cNvSpPr/>
          <p:nvPr/>
        </p:nvSpPr>
        <p:spPr>
          <a:xfrm>
            <a:off x="1785225" y="2019838"/>
            <a:ext cx="12950" cy="73725"/>
          </a:xfrm>
          <a:custGeom>
            <a:avLst/>
            <a:gdLst/>
            <a:ahLst/>
            <a:cxnLst/>
            <a:rect l="l" t="t" r="r" b="b"/>
            <a:pathLst>
              <a:path w="518" h="2949" extrusionOk="0">
                <a:moveTo>
                  <a:pt x="305" y="1"/>
                </a:moveTo>
                <a:lnTo>
                  <a:pt x="305" y="1"/>
                </a:lnTo>
                <a:cubicBezTo>
                  <a:pt x="31" y="973"/>
                  <a:pt x="1" y="1976"/>
                  <a:pt x="244" y="2949"/>
                </a:cubicBezTo>
                <a:cubicBezTo>
                  <a:pt x="518" y="1976"/>
                  <a:pt x="518" y="973"/>
                  <a:pt x="305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38"/>
          <p:cNvSpPr/>
          <p:nvPr/>
        </p:nvSpPr>
        <p:spPr>
          <a:xfrm>
            <a:off x="1585375" y="2070763"/>
            <a:ext cx="35750" cy="64600"/>
          </a:xfrm>
          <a:custGeom>
            <a:avLst/>
            <a:gdLst/>
            <a:ahLst/>
            <a:cxnLst/>
            <a:rect l="l" t="t" r="r" b="b"/>
            <a:pathLst>
              <a:path w="1430" h="2584" extrusionOk="0">
                <a:moveTo>
                  <a:pt x="1" y="0"/>
                </a:moveTo>
                <a:lnTo>
                  <a:pt x="1" y="0"/>
                </a:lnTo>
                <a:cubicBezTo>
                  <a:pt x="122" y="486"/>
                  <a:pt x="305" y="942"/>
                  <a:pt x="578" y="1398"/>
                </a:cubicBezTo>
                <a:cubicBezTo>
                  <a:pt x="791" y="1824"/>
                  <a:pt x="1095" y="2219"/>
                  <a:pt x="1429" y="2584"/>
                </a:cubicBezTo>
                <a:cubicBezTo>
                  <a:pt x="1308" y="2097"/>
                  <a:pt x="1125" y="1611"/>
                  <a:pt x="882" y="1186"/>
                </a:cubicBezTo>
                <a:cubicBezTo>
                  <a:pt x="639" y="760"/>
                  <a:pt x="335" y="334"/>
                  <a:pt x="1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38"/>
          <p:cNvSpPr/>
          <p:nvPr/>
        </p:nvSpPr>
        <p:spPr>
          <a:xfrm>
            <a:off x="1431125" y="2218163"/>
            <a:ext cx="63850" cy="38025"/>
          </a:xfrm>
          <a:custGeom>
            <a:avLst/>
            <a:gdLst/>
            <a:ahLst/>
            <a:cxnLst/>
            <a:rect l="l" t="t" r="r" b="b"/>
            <a:pathLst>
              <a:path w="2554" h="1521" extrusionOk="0">
                <a:moveTo>
                  <a:pt x="0" y="1"/>
                </a:moveTo>
                <a:lnTo>
                  <a:pt x="0" y="1"/>
                </a:lnTo>
                <a:cubicBezTo>
                  <a:pt x="365" y="366"/>
                  <a:pt x="730" y="670"/>
                  <a:pt x="1186" y="913"/>
                </a:cubicBezTo>
                <a:cubicBezTo>
                  <a:pt x="1611" y="1186"/>
                  <a:pt x="2067" y="1369"/>
                  <a:pt x="2554" y="1521"/>
                </a:cubicBezTo>
                <a:cubicBezTo>
                  <a:pt x="1855" y="791"/>
                  <a:pt x="973" y="274"/>
                  <a:pt x="0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8" name="Google Shape;868;p38"/>
          <p:cNvSpPr/>
          <p:nvPr/>
        </p:nvSpPr>
        <p:spPr>
          <a:xfrm>
            <a:off x="1371850" y="2418463"/>
            <a:ext cx="73725" cy="9475"/>
          </a:xfrm>
          <a:custGeom>
            <a:avLst/>
            <a:gdLst/>
            <a:ahLst/>
            <a:cxnLst/>
            <a:rect l="l" t="t" r="r" b="b"/>
            <a:pathLst>
              <a:path w="2949" h="379" extrusionOk="0">
                <a:moveTo>
                  <a:pt x="1332" y="0"/>
                </a:moveTo>
                <a:cubicBezTo>
                  <a:pt x="879" y="0"/>
                  <a:pt x="430" y="54"/>
                  <a:pt x="1" y="165"/>
                </a:cubicBezTo>
                <a:cubicBezTo>
                  <a:pt x="501" y="311"/>
                  <a:pt x="1028" y="379"/>
                  <a:pt x="1557" y="379"/>
                </a:cubicBezTo>
                <a:cubicBezTo>
                  <a:pt x="2024" y="379"/>
                  <a:pt x="2493" y="326"/>
                  <a:pt x="2949" y="226"/>
                </a:cubicBezTo>
                <a:cubicBezTo>
                  <a:pt x="2420" y="77"/>
                  <a:pt x="1873" y="0"/>
                  <a:pt x="1332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38"/>
          <p:cNvSpPr/>
          <p:nvPr/>
        </p:nvSpPr>
        <p:spPr>
          <a:xfrm>
            <a:off x="1422000" y="2593563"/>
            <a:ext cx="64625" cy="36500"/>
          </a:xfrm>
          <a:custGeom>
            <a:avLst/>
            <a:gdLst/>
            <a:ahLst/>
            <a:cxnLst/>
            <a:rect l="l" t="t" r="r" b="b"/>
            <a:pathLst>
              <a:path w="2585" h="1460" extrusionOk="0">
                <a:moveTo>
                  <a:pt x="2584" y="0"/>
                </a:moveTo>
                <a:lnTo>
                  <a:pt x="2584" y="0"/>
                </a:lnTo>
                <a:cubicBezTo>
                  <a:pt x="2098" y="122"/>
                  <a:pt x="1642" y="304"/>
                  <a:pt x="1217" y="578"/>
                </a:cubicBezTo>
                <a:cubicBezTo>
                  <a:pt x="761" y="791"/>
                  <a:pt x="365" y="1094"/>
                  <a:pt x="1" y="1459"/>
                </a:cubicBezTo>
                <a:cubicBezTo>
                  <a:pt x="973" y="1186"/>
                  <a:pt x="1855" y="699"/>
                  <a:pt x="2584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38"/>
          <p:cNvSpPr/>
          <p:nvPr/>
        </p:nvSpPr>
        <p:spPr>
          <a:xfrm>
            <a:off x="2071725" y="2607238"/>
            <a:ext cx="63850" cy="38025"/>
          </a:xfrm>
          <a:custGeom>
            <a:avLst/>
            <a:gdLst/>
            <a:ahLst/>
            <a:cxnLst/>
            <a:rect l="l" t="t" r="r" b="b"/>
            <a:pathLst>
              <a:path w="2554" h="1521" extrusionOk="0">
                <a:moveTo>
                  <a:pt x="0" y="0"/>
                </a:moveTo>
                <a:lnTo>
                  <a:pt x="0" y="0"/>
                </a:lnTo>
                <a:cubicBezTo>
                  <a:pt x="699" y="730"/>
                  <a:pt x="1581" y="1247"/>
                  <a:pt x="2553" y="1520"/>
                </a:cubicBezTo>
                <a:cubicBezTo>
                  <a:pt x="1854" y="821"/>
                  <a:pt x="973" y="304"/>
                  <a:pt x="0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38"/>
          <p:cNvSpPr/>
          <p:nvPr/>
        </p:nvSpPr>
        <p:spPr>
          <a:xfrm>
            <a:off x="2121100" y="2435313"/>
            <a:ext cx="73750" cy="10100"/>
          </a:xfrm>
          <a:custGeom>
            <a:avLst/>
            <a:gdLst/>
            <a:ahLst/>
            <a:cxnLst/>
            <a:rect l="l" t="t" r="r" b="b"/>
            <a:pathLst>
              <a:path w="2950" h="404" extrusionOk="0">
                <a:moveTo>
                  <a:pt x="1227" y="0"/>
                </a:moveTo>
                <a:cubicBezTo>
                  <a:pt x="807" y="0"/>
                  <a:pt x="404" y="59"/>
                  <a:pt x="1" y="160"/>
                </a:cubicBezTo>
                <a:cubicBezTo>
                  <a:pt x="487" y="312"/>
                  <a:pt x="973" y="403"/>
                  <a:pt x="1490" y="403"/>
                </a:cubicBezTo>
                <a:cubicBezTo>
                  <a:pt x="1976" y="403"/>
                  <a:pt x="2463" y="342"/>
                  <a:pt x="2949" y="221"/>
                </a:cubicBezTo>
                <a:cubicBezTo>
                  <a:pt x="2493" y="69"/>
                  <a:pt x="1976" y="8"/>
                  <a:pt x="1490" y="8"/>
                </a:cubicBezTo>
                <a:cubicBezTo>
                  <a:pt x="1402" y="3"/>
                  <a:pt x="1314" y="0"/>
                  <a:pt x="1227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2" name="Google Shape;872;p38"/>
          <p:cNvSpPr/>
          <p:nvPr/>
        </p:nvSpPr>
        <p:spPr>
          <a:xfrm>
            <a:off x="2080075" y="2234138"/>
            <a:ext cx="64625" cy="35725"/>
          </a:xfrm>
          <a:custGeom>
            <a:avLst/>
            <a:gdLst/>
            <a:ahLst/>
            <a:cxnLst/>
            <a:rect l="l" t="t" r="r" b="b"/>
            <a:pathLst>
              <a:path w="2585" h="1429" extrusionOk="0">
                <a:moveTo>
                  <a:pt x="2584" y="0"/>
                </a:moveTo>
                <a:lnTo>
                  <a:pt x="2584" y="0"/>
                </a:lnTo>
                <a:cubicBezTo>
                  <a:pt x="2098" y="91"/>
                  <a:pt x="1611" y="304"/>
                  <a:pt x="1186" y="547"/>
                </a:cubicBezTo>
                <a:cubicBezTo>
                  <a:pt x="760" y="790"/>
                  <a:pt x="365" y="1064"/>
                  <a:pt x="0" y="1429"/>
                </a:cubicBezTo>
                <a:cubicBezTo>
                  <a:pt x="487" y="1307"/>
                  <a:pt x="943" y="1125"/>
                  <a:pt x="1368" y="851"/>
                </a:cubicBezTo>
                <a:cubicBezTo>
                  <a:pt x="1824" y="638"/>
                  <a:pt x="2219" y="334"/>
                  <a:pt x="2584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38"/>
          <p:cNvSpPr/>
          <p:nvPr/>
        </p:nvSpPr>
        <p:spPr>
          <a:xfrm>
            <a:off x="1959250" y="2079863"/>
            <a:ext cx="38025" cy="63100"/>
          </a:xfrm>
          <a:custGeom>
            <a:avLst/>
            <a:gdLst/>
            <a:ahLst/>
            <a:cxnLst/>
            <a:rect l="l" t="t" r="r" b="b"/>
            <a:pathLst>
              <a:path w="1521" h="2524" extrusionOk="0">
                <a:moveTo>
                  <a:pt x="1520" y="1"/>
                </a:moveTo>
                <a:lnTo>
                  <a:pt x="1520" y="1"/>
                </a:lnTo>
                <a:cubicBezTo>
                  <a:pt x="1156" y="335"/>
                  <a:pt x="852" y="730"/>
                  <a:pt x="578" y="1156"/>
                </a:cubicBezTo>
                <a:cubicBezTo>
                  <a:pt x="335" y="1581"/>
                  <a:pt x="122" y="2037"/>
                  <a:pt x="0" y="2524"/>
                </a:cubicBezTo>
                <a:cubicBezTo>
                  <a:pt x="700" y="1825"/>
                  <a:pt x="1247" y="943"/>
                  <a:pt x="1520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38"/>
          <p:cNvSpPr/>
          <p:nvPr/>
        </p:nvSpPr>
        <p:spPr>
          <a:xfrm>
            <a:off x="4008375" y="3443306"/>
            <a:ext cx="1113442" cy="809576"/>
          </a:xfrm>
          <a:custGeom>
            <a:avLst/>
            <a:gdLst/>
            <a:ahLst/>
            <a:cxnLst/>
            <a:rect l="l" t="t" r="r" b="b"/>
            <a:pathLst>
              <a:path w="29849" h="21703" extrusionOk="0">
                <a:moveTo>
                  <a:pt x="14681" y="1"/>
                </a:moveTo>
                <a:cubicBezTo>
                  <a:pt x="6565" y="1"/>
                  <a:pt x="0" y="4864"/>
                  <a:pt x="0" y="10852"/>
                </a:cubicBezTo>
                <a:cubicBezTo>
                  <a:pt x="0" y="16840"/>
                  <a:pt x="6565" y="21703"/>
                  <a:pt x="14681" y="21703"/>
                </a:cubicBezTo>
                <a:cubicBezTo>
                  <a:pt x="18602" y="21703"/>
                  <a:pt x="22158" y="20548"/>
                  <a:pt x="24803" y="18694"/>
                </a:cubicBezTo>
                <a:lnTo>
                  <a:pt x="29849" y="19970"/>
                </a:lnTo>
                <a:lnTo>
                  <a:pt x="27903" y="15563"/>
                </a:lnTo>
                <a:cubicBezTo>
                  <a:pt x="28846" y="14165"/>
                  <a:pt x="29332" y="12523"/>
                  <a:pt x="29362" y="10852"/>
                </a:cubicBezTo>
                <a:cubicBezTo>
                  <a:pt x="29362" y="4864"/>
                  <a:pt x="22766" y="1"/>
                  <a:pt x="14681" y="1"/>
                </a:cubicBezTo>
                <a:close/>
              </a:path>
            </a:pathLst>
          </a:custGeom>
          <a:solidFill>
            <a:srgbClr val="FFC7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38"/>
          <p:cNvSpPr/>
          <p:nvPr/>
        </p:nvSpPr>
        <p:spPr>
          <a:xfrm>
            <a:off x="4226032" y="3791370"/>
            <a:ext cx="132722" cy="113362"/>
          </a:xfrm>
          <a:custGeom>
            <a:avLst/>
            <a:gdLst/>
            <a:ahLst/>
            <a:cxnLst/>
            <a:rect l="l" t="t" r="r" b="b"/>
            <a:pathLst>
              <a:path w="3558" h="3039" extrusionOk="0">
                <a:moveTo>
                  <a:pt x="2038" y="1"/>
                </a:moveTo>
                <a:cubicBezTo>
                  <a:pt x="700" y="1"/>
                  <a:pt x="1" y="1642"/>
                  <a:pt x="974" y="2585"/>
                </a:cubicBezTo>
                <a:cubicBezTo>
                  <a:pt x="1278" y="2899"/>
                  <a:pt x="1656" y="3039"/>
                  <a:pt x="2027" y="3039"/>
                </a:cubicBezTo>
                <a:cubicBezTo>
                  <a:pt x="2805" y="3039"/>
                  <a:pt x="3557" y="2426"/>
                  <a:pt x="3557" y="1521"/>
                </a:cubicBezTo>
                <a:cubicBezTo>
                  <a:pt x="3557" y="670"/>
                  <a:pt x="2889" y="1"/>
                  <a:pt x="2038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38"/>
          <p:cNvSpPr/>
          <p:nvPr/>
        </p:nvSpPr>
        <p:spPr>
          <a:xfrm>
            <a:off x="4499306" y="3791370"/>
            <a:ext cx="113400" cy="113437"/>
          </a:xfrm>
          <a:custGeom>
            <a:avLst/>
            <a:gdLst/>
            <a:ahLst/>
            <a:cxnLst/>
            <a:rect l="l" t="t" r="r" b="b"/>
            <a:pathLst>
              <a:path w="3040" h="3041" extrusionOk="0">
                <a:moveTo>
                  <a:pt x="1520" y="1"/>
                </a:moveTo>
                <a:cubicBezTo>
                  <a:pt x="669" y="1"/>
                  <a:pt x="0" y="670"/>
                  <a:pt x="0" y="1521"/>
                </a:cubicBezTo>
                <a:cubicBezTo>
                  <a:pt x="0" y="2372"/>
                  <a:pt x="669" y="3041"/>
                  <a:pt x="1520" y="3041"/>
                </a:cubicBezTo>
                <a:cubicBezTo>
                  <a:pt x="2371" y="3041"/>
                  <a:pt x="3040" y="2372"/>
                  <a:pt x="3040" y="1521"/>
                </a:cubicBezTo>
                <a:cubicBezTo>
                  <a:pt x="3040" y="670"/>
                  <a:pt x="2371" y="1"/>
                  <a:pt x="1520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38"/>
          <p:cNvSpPr/>
          <p:nvPr/>
        </p:nvSpPr>
        <p:spPr>
          <a:xfrm>
            <a:off x="4734009" y="3791370"/>
            <a:ext cx="132685" cy="113362"/>
          </a:xfrm>
          <a:custGeom>
            <a:avLst/>
            <a:gdLst/>
            <a:ahLst/>
            <a:cxnLst/>
            <a:rect l="l" t="t" r="r" b="b"/>
            <a:pathLst>
              <a:path w="3557" h="3039" extrusionOk="0">
                <a:moveTo>
                  <a:pt x="2037" y="1"/>
                </a:moveTo>
                <a:cubicBezTo>
                  <a:pt x="669" y="1"/>
                  <a:pt x="0" y="1642"/>
                  <a:pt x="943" y="2585"/>
                </a:cubicBezTo>
                <a:cubicBezTo>
                  <a:pt x="1257" y="2899"/>
                  <a:pt x="1641" y="3039"/>
                  <a:pt x="2017" y="3039"/>
                </a:cubicBezTo>
                <a:cubicBezTo>
                  <a:pt x="2805" y="3039"/>
                  <a:pt x="3557" y="2426"/>
                  <a:pt x="3557" y="1521"/>
                </a:cubicBezTo>
                <a:cubicBezTo>
                  <a:pt x="3557" y="670"/>
                  <a:pt x="2857" y="1"/>
                  <a:pt x="203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38"/>
          <p:cNvSpPr/>
          <p:nvPr/>
        </p:nvSpPr>
        <p:spPr>
          <a:xfrm>
            <a:off x="6985500" y="2142963"/>
            <a:ext cx="698000" cy="693025"/>
          </a:xfrm>
          <a:custGeom>
            <a:avLst/>
            <a:gdLst/>
            <a:ahLst/>
            <a:cxnLst/>
            <a:rect l="l" t="t" r="r" b="b"/>
            <a:pathLst>
              <a:path w="27920" h="27721" extrusionOk="0">
                <a:moveTo>
                  <a:pt x="13951" y="7444"/>
                </a:moveTo>
                <a:cubicBezTo>
                  <a:pt x="17903" y="7444"/>
                  <a:pt x="21427" y="11269"/>
                  <a:pt x="20081" y="15712"/>
                </a:cubicBezTo>
                <a:cubicBezTo>
                  <a:pt x="19170" y="18719"/>
                  <a:pt x="16560" y="20257"/>
                  <a:pt x="13947" y="20257"/>
                </a:cubicBezTo>
                <a:cubicBezTo>
                  <a:pt x="11487" y="20257"/>
                  <a:pt x="9024" y="18894"/>
                  <a:pt x="7972" y="16113"/>
                </a:cubicBezTo>
                <a:cubicBezTo>
                  <a:pt x="6972" y="13411"/>
                  <a:pt x="7872" y="10342"/>
                  <a:pt x="10241" y="8674"/>
                </a:cubicBezTo>
                <a:cubicBezTo>
                  <a:pt x="11428" y="7821"/>
                  <a:pt x="12710" y="7444"/>
                  <a:pt x="13951" y="7444"/>
                </a:cubicBezTo>
                <a:close/>
                <a:moveTo>
                  <a:pt x="10508" y="1"/>
                </a:moveTo>
                <a:lnTo>
                  <a:pt x="10441" y="2403"/>
                </a:lnTo>
                <a:cubicBezTo>
                  <a:pt x="10407" y="3070"/>
                  <a:pt x="9974" y="3704"/>
                  <a:pt x="9340" y="4004"/>
                </a:cubicBezTo>
                <a:cubicBezTo>
                  <a:pt x="9173" y="4071"/>
                  <a:pt x="9006" y="4171"/>
                  <a:pt x="8840" y="4271"/>
                </a:cubicBezTo>
                <a:cubicBezTo>
                  <a:pt x="8673" y="4337"/>
                  <a:pt x="8506" y="4437"/>
                  <a:pt x="8339" y="4538"/>
                </a:cubicBezTo>
                <a:cubicBezTo>
                  <a:pt x="8039" y="4721"/>
                  <a:pt x="7697" y="4813"/>
                  <a:pt x="7355" y="4813"/>
                </a:cubicBezTo>
                <a:cubicBezTo>
                  <a:pt x="7013" y="4813"/>
                  <a:pt x="6671" y="4721"/>
                  <a:pt x="6371" y="4538"/>
                </a:cubicBezTo>
                <a:lnTo>
                  <a:pt x="4336" y="3303"/>
                </a:lnTo>
                <a:lnTo>
                  <a:pt x="234" y="9941"/>
                </a:lnTo>
                <a:lnTo>
                  <a:pt x="2268" y="11176"/>
                </a:lnTo>
                <a:cubicBezTo>
                  <a:pt x="2869" y="11576"/>
                  <a:pt x="3169" y="12243"/>
                  <a:pt x="3102" y="12944"/>
                </a:cubicBezTo>
                <a:cubicBezTo>
                  <a:pt x="3069" y="13311"/>
                  <a:pt x="3069" y="13677"/>
                  <a:pt x="3069" y="14078"/>
                </a:cubicBezTo>
                <a:cubicBezTo>
                  <a:pt x="3102" y="14778"/>
                  <a:pt x="2735" y="15445"/>
                  <a:pt x="2102" y="15779"/>
                </a:cubicBezTo>
                <a:lnTo>
                  <a:pt x="0" y="16913"/>
                </a:lnTo>
                <a:lnTo>
                  <a:pt x="3736" y="23785"/>
                </a:lnTo>
                <a:lnTo>
                  <a:pt x="5804" y="22684"/>
                </a:lnTo>
                <a:cubicBezTo>
                  <a:pt x="6077" y="22532"/>
                  <a:pt x="6378" y="22456"/>
                  <a:pt x="6677" y="22456"/>
                </a:cubicBezTo>
                <a:cubicBezTo>
                  <a:pt x="7037" y="22456"/>
                  <a:pt x="7396" y="22566"/>
                  <a:pt x="7706" y="22784"/>
                </a:cubicBezTo>
                <a:cubicBezTo>
                  <a:pt x="8039" y="23017"/>
                  <a:pt x="8406" y="23218"/>
                  <a:pt x="8773" y="23418"/>
                </a:cubicBezTo>
                <a:cubicBezTo>
                  <a:pt x="9373" y="23751"/>
                  <a:pt x="9740" y="24418"/>
                  <a:pt x="9707" y="25086"/>
                </a:cubicBezTo>
                <a:lnTo>
                  <a:pt x="9640" y="27487"/>
                </a:lnTo>
                <a:lnTo>
                  <a:pt x="17446" y="27721"/>
                </a:lnTo>
                <a:lnTo>
                  <a:pt x="17513" y="25319"/>
                </a:lnTo>
                <a:cubicBezTo>
                  <a:pt x="17546" y="24652"/>
                  <a:pt x="17946" y="24018"/>
                  <a:pt x="18580" y="23718"/>
                </a:cubicBezTo>
                <a:cubicBezTo>
                  <a:pt x="18747" y="23651"/>
                  <a:pt x="18947" y="23551"/>
                  <a:pt x="19114" y="23451"/>
                </a:cubicBezTo>
                <a:cubicBezTo>
                  <a:pt x="19280" y="23351"/>
                  <a:pt x="19481" y="23251"/>
                  <a:pt x="19647" y="23151"/>
                </a:cubicBezTo>
                <a:cubicBezTo>
                  <a:pt x="19931" y="22967"/>
                  <a:pt x="20264" y="22876"/>
                  <a:pt x="20598" y="22876"/>
                </a:cubicBezTo>
                <a:cubicBezTo>
                  <a:pt x="20932" y="22876"/>
                  <a:pt x="21265" y="22967"/>
                  <a:pt x="21549" y="23151"/>
                </a:cubicBezTo>
                <a:lnTo>
                  <a:pt x="23617" y="24385"/>
                </a:lnTo>
                <a:lnTo>
                  <a:pt x="27720" y="17780"/>
                </a:lnTo>
                <a:lnTo>
                  <a:pt x="25652" y="16479"/>
                </a:lnTo>
                <a:cubicBezTo>
                  <a:pt x="25085" y="16113"/>
                  <a:pt x="24751" y="15445"/>
                  <a:pt x="24818" y="14745"/>
                </a:cubicBezTo>
                <a:cubicBezTo>
                  <a:pt x="24851" y="14378"/>
                  <a:pt x="24884" y="13978"/>
                  <a:pt x="24884" y="13611"/>
                </a:cubicBezTo>
                <a:cubicBezTo>
                  <a:pt x="24851" y="12910"/>
                  <a:pt x="25218" y="12243"/>
                  <a:pt x="25852" y="11909"/>
                </a:cubicBezTo>
                <a:lnTo>
                  <a:pt x="27920" y="10775"/>
                </a:lnTo>
                <a:lnTo>
                  <a:pt x="24251" y="3904"/>
                </a:lnTo>
                <a:lnTo>
                  <a:pt x="22116" y="5038"/>
                </a:lnTo>
                <a:cubicBezTo>
                  <a:pt x="21856" y="5182"/>
                  <a:pt x="21566" y="5251"/>
                  <a:pt x="21273" y="5251"/>
                </a:cubicBezTo>
                <a:cubicBezTo>
                  <a:pt x="20890" y="5251"/>
                  <a:pt x="20503" y="5132"/>
                  <a:pt x="20181" y="4904"/>
                </a:cubicBezTo>
                <a:cubicBezTo>
                  <a:pt x="19848" y="4671"/>
                  <a:pt x="19547" y="4471"/>
                  <a:pt x="19214" y="4304"/>
                </a:cubicBezTo>
                <a:cubicBezTo>
                  <a:pt x="18580" y="3970"/>
                  <a:pt x="18213" y="3337"/>
                  <a:pt x="18213" y="2636"/>
                </a:cubicBezTo>
                <a:lnTo>
                  <a:pt x="18313" y="234"/>
                </a:lnTo>
                <a:lnTo>
                  <a:pt x="1050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44D57-C015-F58D-C805-A1A9CB151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Modelo lógico basado en registros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883515E6-FA1C-FEB7-4F33-EEC31DD171D8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364647" y="2237977"/>
            <a:ext cx="3076536" cy="946800"/>
          </a:xfrm>
        </p:spPr>
        <p:txBody>
          <a:bodyPr/>
          <a:lstStyle/>
          <a:p>
            <a:pPr marL="139700" indent="0" algn="just">
              <a:buNone/>
            </a:pPr>
            <a:r>
              <a:rPr lang="es-ES" dirty="0"/>
              <a:t>Utilizan registros para representar la realidad, así como las relaciones que existen entre estos registros</a:t>
            </a:r>
            <a:endParaRPr lang="es-EC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B17741D-34FD-3CF2-E245-DAAAE859E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183" y="1172875"/>
            <a:ext cx="5439534" cy="3077004"/>
          </a:xfrm>
          <a:prstGeom prst="rect">
            <a:avLst/>
          </a:prstGeom>
        </p:spPr>
      </p:pic>
      <p:sp>
        <p:nvSpPr>
          <p:cNvPr id="11" name="Elipse 10">
            <a:extLst>
              <a:ext uri="{FF2B5EF4-FFF2-40B4-BE49-F238E27FC236}">
                <a16:creationId xmlns:a16="http://schemas.microsoft.com/office/drawing/2014/main" id="{7F7317AC-4D43-6B94-54EB-80AE5DAAA2C9}"/>
              </a:ext>
            </a:extLst>
          </p:cNvPr>
          <p:cNvSpPr/>
          <p:nvPr/>
        </p:nvSpPr>
        <p:spPr>
          <a:xfrm>
            <a:off x="7278624" y="1499617"/>
            <a:ext cx="1011936" cy="2391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142A8EE-7352-FE88-D19F-E4409369C5B0}"/>
              </a:ext>
            </a:extLst>
          </p:cNvPr>
          <p:cNvSpPr/>
          <p:nvPr/>
        </p:nvSpPr>
        <p:spPr>
          <a:xfrm>
            <a:off x="7290816" y="2249302"/>
            <a:ext cx="1316736" cy="2391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FAC23415-3BA6-614E-E3A7-0BC651ABB960}"/>
              </a:ext>
            </a:extLst>
          </p:cNvPr>
          <p:cNvSpPr/>
          <p:nvPr/>
        </p:nvSpPr>
        <p:spPr>
          <a:xfrm>
            <a:off x="7278624" y="1796145"/>
            <a:ext cx="1011936" cy="2391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43926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879D7-5B1C-409D-3969-3223C71BE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66161F-9653-52B4-332F-09EA69E3C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Modelo jerárquico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2B118A8E-9706-60B3-777D-0C7E26BC3502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206151" y="2262361"/>
            <a:ext cx="3076536" cy="946800"/>
          </a:xfrm>
        </p:spPr>
        <p:txBody>
          <a:bodyPr/>
          <a:lstStyle/>
          <a:p>
            <a:pPr marL="139700" indent="0" algn="just">
              <a:buNone/>
            </a:pPr>
            <a:r>
              <a:rPr lang="es-EC" dirty="0"/>
              <a:t>utiliza estructuras de árbol para representar los registros lógicos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B475527-AB49-30C9-2170-6DAACC1E6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687" y="1948442"/>
            <a:ext cx="5744576" cy="1914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123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11E0A-A893-A369-A1E2-5A25E4E33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60F94A-BD8A-367D-215E-6C4E93629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Modelo entidad relación e-r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B6CA168-829E-2A3F-D919-63DE63F39E44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487680" y="2335513"/>
            <a:ext cx="3629926" cy="946800"/>
          </a:xfrm>
        </p:spPr>
        <p:txBody>
          <a:bodyPr/>
          <a:lstStyle/>
          <a:p>
            <a:pPr marL="139700" indent="0" algn="just">
              <a:buNone/>
            </a:pPr>
            <a:r>
              <a:rPr lang="es-EC" dirty="0"/>
              <a:t>Representa a la realidad a través de </a:t>
            </a:r>
            <a:r>
              <a:rPr lang="es-EC" dirty="0">
                <a:solidFill>
                  <a:srgbClr val="FF0000"/>
                </a:solidFill>
              </a:rPr>
              <a:t>entidades -</a:t>
            </a:r>
            <a:r>
              <a:rPr lang="en-US" dirty="0">
                <a:solidFill>
                  <a:srgbClr val="FF0000"/>
                </a:solidFill>
              </a:rPr>
              <a:t>&gt; </a:t>
            </a:r>
            <a:r>
              <a:rPr lang="es-ES" dirty="0"/>
              <a:t>son objetos que existen y que se distinguen de otros por sus características</a:t>
            </a:r>
          </a:p>
          <a:p>
            <a:pPr marL="139700" indent="0" algn="just">
              <a:buNone/>
            </a:pPr>
            <a:endParaRPr lang="es-ES" dirty="0"/>
          </a:p>
          <a:p>
            <a:pPr marL="139700" indent="0" algn="just">
              <a:buNone/>
            </a:pPr>
            <a:r>
              <a:rPr lang="es-ES" dirty="0"/>
              <a:t>Las características de las entidades en base de datos se llaman </a:t>
            </a:r>
            <a:r>
              <a:rPr lang="es-ES" dirty="0">
                <a:solidFill>
                  <a:srgbClr val="FF0000"/>
                </a:solidFill>
              </a:rPr>
              <a:t>atributos</a:t>
            </a:r>
          </a:p>
          <a:p>
            <a:pPr marL="139700" indent="0" algn="just">
              <a:buNone/>
            </a:pPr>
            <a:endParaRPr lang="es-ES" dirty="0">
              <a:solidFill>
                <a:srgbClr val="FF0000"/>
              </a:solidFill>
            </a:endParaRPr>
          </a:p>
          <a:p>
            <a:pPr marL="139700" indent="0" algn="just">
              <a:buNone/>
            </a:pPr>
            <a:r>
              <a:rPr lang="es-ES" dirty="0"/>
              <a:t>A su vez una entidad se puede asociar o relacionar con más entidades a través de </a:t>
            </a:r>
            <a:r>
              <a:rPr lang="es-ES" dirty="0">
                <a:solidFill>
                  <a:srgbClr val="FF0000"/>
                </a:solidFill>
              </a:rPr>
              <a:t>relaciones</a:t>
            </a:r>
            <a:r>
              <a:rPr lang="es-ES" dirty="0"/>
              <a:t>.</a:t>
            </a:r>
            <a:endParaRPr lang="en-US" dirty="0">
              <a:solidFill>
                <a:srgbClr val="FF0000"/>
              </a:solidFill>
            </a:endParaRPr>
          </a:p>
          <a:p>
            <a:pPr marL="139700" indent="0" algn="just">
              <a:buNone/>
            </a:pPr>
            <a:endParaRPr lang="es-EC" dirty="0">
              <a:solidFill>
                <a:srgbClr val="FF0000"/>
              </a:solidFill>
            </a:endParaRPr>
          </a:p>
          <a:p>
            <a:pPr marL="139700" indent="0" algn="just">
              <a:buNone/>
            </a:pPr>
            <a:endParaRPr lang="es-EC" dirty="0">
              <a:solidFill>
                <a:srgbClr val="FF0000"/>
              </a:solidFill>
            </a:endParaRPr>
          </a:p>
          <a:p>
            <a:pPr marL="139700" indent="0" algn="just">
              <a:buNone/>
            </a:pPr>
            <a:endParaRPr lang="es-EC" dirty="0">
              <a:solidFill>
                <a:srgbClr val="FF000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0F798CB-2675-897F-2A5A-14BB5E3A8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863" y="1403779"/>
            <a:ext cx="4667901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678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DE727-CCAF-16E7-C3A1-722C0A2CA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E7B480-F392-3B86-E0A2-60283ACA8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Simbología del Modelo entidad relación e-r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9CA63F5-CA5F-ED4D-2076-CD50E52C7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46" y="1753496"/>
            <a:ext cx="808121" cy="5142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1368731-ABB8-5441-3C7B-C60357D69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69" y="2436594"/>
            <a:ext cx="1343212" cy="85737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490018C-BF9D-25C9-034F-23E66C22D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070" y="3462803"/>
            <a:ext cx="928003" cy="54836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10AC229-7088-EBB2-1AE3-B0FB8C69D8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069" y="4232917"/>
            <a:ext cx="928003" cy="49129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6BC684B9-841A-FA73-0AB9-25E21F15C7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0777" y="1308102"/>
            <a:ext cx="4967065" cy="2527295"/>
          </a:xfrm>
          <a:prstGeom prst="rect">
            <a:avLst/>
          </a:prstGeom>
        </p:spPr>
      </p:pic>
      <p:sp>
        <p:nvSpPr>
          <p:cNvPr id="17" name="Marcador de texto 6">
            <a:extLst>
              <a:ext uri="{FF2B5EF4-FFF2-40B4-BE49-F238E27FC236}">
                <a16:creationId xmlns:a16="http://schemas.microsoft.com/office/drawing/2014/main" id="{AEC46576-E1E3-739D-4622-1AC371D82DCC}"/>
              </a:ext>
            </a:extLst>
          </p:cNvPr>
          <p:cNvSpPr txBox="1">
            <a:spLocks/>
          </p:cNvSpPr>
          <p:nvPr/>
        </p:nvSpPr>
        <p:spPr>
          <a:xfrm>
            <a:off x="1429609" y="1866082"/>
            <a:ext cx="5166614" cy="43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39700" indent="0" algn="just">
              <a:buFont typeface="Lato"/>
              <a:buNone/>
            </a:pPr>
            <a:r>
              <a:rPr lang="es-EC" b="1" i="1" dirty="0"/>
              <a:t>Atributo Simple.</a:t>
            </a:r>
            <a:r>
              <a:rPr lang="es-EC" dirty="0"/>
              <a:t>- </a:t>
            </a:r>
            <a:r>
              <a:rPr lang="it-IT" dirty="0"/>
              <a:t>Tiene un solo valor</a:t>
            </a:r>
            <a:endParaRPr lang="es-ES" dirty="0"/>
          </a:p>
          <a:p>
            <a:pPr marL="139700" indent="0" algn="just">
              <a:buFont typeface="Lato"/>
              <a:buNone/>
            </a:pPr>
            <a:endParaRPr lang="es-EC" dirty="0">
              <a:solidFill>
                <a:srgbClr val="FF0000"/>
              </a:solidFill>
            </a:endParaRPr>
          </a:p>
          <a:p>
            <a:pPr marL="139700" indent="0" algn="just">
              <a:buFont typeface="Lato"/>
              <a:buNone/>
            </a:pPr>
            <a:endParaRPr lang="es-EC" dirty="0">
              <a:solidFill>
                <a:srgbClr val="FF0000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1EF6BFB-6BB6-3ED3-FE59-E2EF88A46A1D}"/>
              </a:ext>
            </a:extLst>
          </p:cNvPr>
          <p:cNvSpPr txBox="1"/>
          <p:nvPr/>
        </p:nvSpPr>
        <p:spPr>
          <a:xfrm>
            <a:off x="1880711" y="2591179"/>
            <a:ext cx="35569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Atributos Compuesto</a:t>
            </a:r>
            <a:r>
              <a:rPr lang="es-E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.- Es un atributo que se compone de otros atributos. </a:t>
            </a:r>
            <a:endParaRPr lang="es-EC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EB09208-9C61-8C54-E15D-9D7304F2AC1D}"/>
              </a:ext>
            </a:extLst>
          </p:cNvPr>
          <p:cNvSpPr txBox="1"/>
          <p:nvPr/>
        </p:nvSpPr>
        <p:spPr>
          <a:xfrm>
            <a:off x="1429609" y="3494253"/>
            <a:ext cx="334965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Atributo Multivaluado</a:t>
            </a:r>
            <a:r>
              <a:rPr lang="es-EC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.- </a:t>
            </a:r>
            <a:r>
              <a:rPr lang="es-E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Pueden tener un número máximo y un número mínimo de valores</a:t>
            </a:r>
            <a:endParaRPr lang="es-EC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DA02187-2A7E-3D81-1DD8-B6073374D52F}"/>
              </a:ext>
            </a:extLst>
          </p:cNvPr>
          <p:cNvSpPr txBox="1"/>
          <p:nvPr/>
        </p:nvSpPr>
        <p:spPr>
          <a:xfrm>
            <a:off x="1429609" y="4262111"/>
            <a:ext cx="51666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Atributo Derivado.</a:t>
            </a:r>
            <a:r>
              <a:rPr lang="es-EC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no está explícitamente almacenado porque puede ser calculado a partir de los valores de otros atributos.</a:t>
            </a:r>
          </a:p>
        </p:txBody>
      </p:sp>
    </p:spTree>
    <p:extLst>
      <p:ext uri="{BB962C8B-B14F-4D97-AF65-F5344CB8AC3E}">
        <p14:creationId xmlns:p14="http://schemas.microsoft.com/office/powerpoint/2010/main" val="338384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826FE-3140-85D4-E8FD-DA763BFC7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cardinalidades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9B562B3-BF82-1CFE-6D0E-0D2A198F8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127" y="1376195"/>
            <a:ext cx="6239746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715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E9436-15FD-4D0D-357A-FE6921213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680D1A-CDB3-BCAB-E4BD-B70384CB7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96" y="285308"/>
            <a:ext cx="7786800" cy="645600"/>
          </a:xfrm>
        </p:spPr>
        <p:txBody>
          <a:bodyPr/>
          <a:lstStyle/>
          <a:p>
            <a:r>
              <a:rPr lang="es-EC" dirty="0"/>
              <a:t>Uno a Uno (1:1) </a:t>
            </a:r>
          </a:p>
        </p:txBody>
      </p:sp>
      <p:sp>
        <p:nvSpPr>
          <p:cNvPr id="3" name="Marcador de texto 6">
            <a:extLst>
              <a:ext uri="{FF2B5EF4-FFF2-40B4-BE49-F238E27FC236}">
                <a16:creationId xmlns:a16="http://schemas.microsoft.com/office/drawing/2014/main" id="{16A8AA97-EFD5-A6DF-4FE3-974C05CB80BF}"/>
              </a:ext>
            </a:extLst>
          </p:cNvPr>
          <p:cNvSpPr txBox="1">
            <a:spLocks/>
          </p:cNvSpPr>
          <p:nvPr/>
        </p:nvSpPr>
        <p:spPr>
          <a:xfrm>
            <a:off x="573024" y="1019776"/>
            <a:ext cx="8241792" cy="43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39700" indent="0">
              <a:buFont typeface="Lato"/>
              <a:buNone/>
            </a:pPr>
            <a:r>
              <a:rPr lang="es-ES" dirty="0"/>
              <a:t>Una entidad en A esta asociada únicamente con una entidad en B, y una entidad en B esta asociada sólo con una entidad en A.</a:t>
            </a:r>
            <a:endParaRPr lang="es-EC" dirty="0">
              <a:solidFill>
                <a:srgbClr val="FF0000"/>
              </a:solidFill>
            </a:endParaRPr>
          </a:p>
          <a:p>
            <a:pPr marL="139700" indent="0">
              <a:buFont typeface="Lato"/>
              <a:buNone/>
            </a:pPr>
            <a:endParaRPr lang="es-EC" dirty="0">
              <a:solidFill>
                <a:srgbClr val="FF0000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6DFCB88-61D6-3DAA-2128-FB318BD40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215" y="1454434"/>
            <a:ext cx="2162477" cy="140989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7949CDF-74D2-D7A6-BA4F-223D66CC0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9" y="2901866"/>
            <a:ext cx="4896533" cy="162900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68E99A3-41C8-BF12-EA80-241A6C01BD2D}"/>
              </a:ext>
            </a:extLst>
          </p:cNvPr>
          <p:cNvSpPr txBox="1"/>
          <p:nvPr/>
        </p:nvSpPr>
        <p:spPr>
          <a:xfrm>
            <a:off x="678596" y="4568403"/>
            <a:ext cx="79167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i="1" dirty="0"/>
              <a:t>Un estudiante se matricula en </a:t>
            </a:r>
            <a:r>
              <a:rPr lang="es-ES" i="1" dirty="0">
                <a:solidFill>
                  <a:schemeClr val="accent4">
                    <a:lumMod val="50000"/>
                  </a:schemeClr>
                </a:solidFill>
              </a:rPr>
              <a:t>una</a:t>
            </a:r>
            <a:r>
              <a:rPr lang="es-ES" i="1" dirty="0"/>
              <a:t> materia, y una materia sólo tiene </a:t>
            </a:r>
            <a:r>
              <a:rPr lang="es-ES" i="1" dirty="0">
                <a:solidFill>
                  <a:schemeClr val="accent4">
                    <a:lumMod val="50000"/>
                  </a:schemeClr>
                </a:solidFill>
              </a:rPr>
              <a:t>un</a:t>
            </a:r>
            <a:r>
              <a:rPr lang="es-ES" i="1" dirty="0"/>
              <a:t> estudiante matriculado </a:t>
            </a:r>
            <a:endParaRPr lang="es-EC" i="1" dirty="0"/>
          </a:p>
        </p:txBody>
      </p:sp>
    </p:spTree>
    <p:extLst>
      <p:ext uri="{BB962C8B-B14F-4D97-AF65-F5344CB8AC3E}">
        <p14:creationId xmlns:p14="http://schemas.microsoft.com/office/powerpoint/2010/main" val="3269346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F9FD8-0C05-F792-2F61-7F2435EF3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6408C2-3536-3FA8-1F3D-E97E97D44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96" y="285308"/>
            <a:ext cx="7786800" cy="645600"/>
          </a:xfrm>
        </p:spPr>
        <p:txBody>
          <a:bodyPr/>
          <a:lstStyle/>
          <a:p>
            <a:r>
              <a:rPr lang="es-EC" dirty="0"/>
              <a:t>Uno a Varios (1:N) </a:t>
            </a:r>
          </a:p>
        </p:txBody>
      </p:sp>
      <p:sp>
        <p:nvSpPr>
          <p:cNvPr id="3" name="Marcador de texto 6">
            <a:extLst>
              <a:ext uri="{FF2B5EF4-FFF2-40B4-BE49-F238E27FC236}">
                <a16:creationId xmlns:a16="http://schemas.microsoft.com/office/drawing/2014/main" id="{F4866ACA-401C-F1EB-F057-DFE8F44D6BA9}"/>
              </a:ext>
            </a:extLst>
          </p:cNvPr>
          <p:cNvSpPr txBox="1">
            <a:spLocks/>
          </p:cNvSpPr>
          <p:nvPr/>
        </p:nvSpPr>
        <p:spPr>
          <a:xfrm>
            <a:off x="573024" y="1019776"/>
            <a:ext cx="8241792" cy="43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39700" indent="0">
              <a:buFont typeface="Lato"/>
              <a:buNone/>
            </a:pPr>
            <a:r>
              <a:rPr lang="es-ES" dirty="0"/>
              <a:t>Una entidad en A se asocia con cualquier número de entidades en B, pero una entidad en B puede asociarse únicamente con una entidad en A. </a:t>
            </a:r>
            <a:endParaRPr lang="es-EC" dirty="0">
              <a:solidFill>
                <a:srgbClr val="FF0000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33A254-E076-ECDC-8628-9E63BD1C7BEC}"/>
              </a:ext>
            </a:extLst>
          </p:cNvPr>
          <p:cNvSpPr txBox="1"/>
          <p:nvPr/>
        </p:nvSpPr>
        <p:spPr>
          <a:xfrm>
            <a:off x="678596" y="4568403"/>
            <a:ext cx="79167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i="1" dirty="0">
                <a:solidFill>
                  <a:schemeClr val="accent4">
                    <a:lumMod val="50000"/>
                  </a:schemeClr>
                </a:solidFill>
              </a:rPr>
              <a:t>Un</a:t>
            </a:r>
            <a:r>
              <a:rPr lang="es-ES" i="1" dirty="0"/>
              <a:t> estudiante se matricula en </a:t>
            </a:r>
            <a:r>
              <a:rPr lang="es-ES" i="1" dirty="0">
                <a:solidFill>
                  <a:schemeClr val="accent4">
                    <a:lumMod val="50000"/>
                  </a:schemeClr>
                </a:solidFill>
              </a:rPr>
              <a:t>varias</a:t>
            </a:r>
            <a:r>
              <a:rPr lang="es-ES" i="1" dirty="0"/>
              <a:t> materias, y </a:t>
            </a:r>
            <a:r>
              <a:rPr lang="es-ES" i="1" dirty="0">
                <a:solidFill>
                  <a:schemeClr val="accent4">
                    <a:lumMod val="50000"/>
                  </a:schemeClr>
                </a:solidFill>
              </a:rPr>
              <a:t>una</a:t>
            </a:r>
            <a:r>
              <a:rPr lang="es-ES" i="1" dirty="0"/>
              <a:t> materia sólo tiene </a:t>
            </a:r>
            <a:r>
              <a:rPr lang="es-ES" i="1" dirty="0">
                <a:solidFill>
                  <a:schemeClr val="accent4">
                    <a:lumMod val="50000"/>
                  </a:schemeClr>
                </a:solidFill>
              </a:rPr>
              <a:t>un</a:t>
            </a:r>
            <a:r>
              <a:rPr lang="es-ES" i="1" dirty="0"/>
              <a:t> estudiante matriculado </a:t>
            </a:r>
            <a:endParaRPr lang="es-EC" i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D2E04A0-89FB-484D-4377-D5B621ED4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155" y="1543302"/>
            <a:ext cx="2181529" cy="147658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6A12F02-E56F-4655-1A07-537FCA514E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284"/>
          <a:stretch/>
        </p:blipFill>
        <p:spPr>
          <a:xfrm>
            <a:off x="2306044" y="3017460"/>
            <a:ext cx="4848902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3834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D0406-6105-ED06-5BFE-3BE0D6093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D8FC64-E932-95D9-EA29-8E79678FA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96" y="285308"/>
            <a:ext cx="7786800" cy="645600"/>
          </a:xfrm>
        </p:spPr>
        <p:txBody>
          <a:bodyPr/>
          <a:lstStyle/>
          <a:p>
            <a:r>
              <a:rPr lang="es-EC" dirty="0"/>
              <a:t>Varios  a uno (n:1) </a:t>
            </a:r>
          </a:p>
        </p:txBody>
      </p:sp>
      <p:sp>
        <p:nvSpPr>
          <p:cNvPr id="3" name="Marcador de texto 6">
            <a:extLst>
              <a:ext uri="{FF2B5EF4-FFF2-40B4-BE49-F238E27FC236}">
                <a16:creationId xmlns:a16="http://schemas.microsoft.com/office/drawing/2014/main" id="{A6020424-41EF-3836-0C0F-C28465AE0F65}"/>
              </a:ext>
            </a:extLst>
          </p:cNvPr>
          <p:cNvSpPr txBox="1">
            <a:spLocks/>
          </p:cNvSpPr>
          <p:nvPr/>
        </p:nvSpPr>
        <p:spPr>
          <a:xfrm>
            <a:off x="573024" y="1019776"/>
            <a:ext cx="8241792" cy="43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39700" indent="0">
              <a:buFont typeface="Lato"/>
              <a:buNone/>
            </a:pPr>
            <a:r>
              <a:rPr lang="es-ES" dirty="0"/>
              <a:t>Una entidad en A esta asociada únicamente con una entidad en B, y una entidad en B se vincula con cualquier número de entidades en A. </a:t>
            </a:r>
            <a:endParaRPr lang="es-EC" dirty="0">
              <a:solidFill>
                <a:srgbClr val="FF0000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60423AA-F9D6-A4AF-E4A3-AEC9F35E3B1B}"/>
              </a:ext>
            </a:extLst>
          </p:cNvPr>
          <p:cNvSpPr txBox="1"/>
          <p:nvPr/>
        </p:nvSpPr>
        <p:spPr>
          <a:xfrm>
            <a:off x="678596" y="4568403"/>
            <a:ext cx="79167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i="1" dirty="0">
                <a:solidFill>
                  <a:schemeClr val="accent4">
                    <a:lumMod val="50000"/>
                  </a:schemeClr>
                </a:solidFill>
              </a:rPr>
              <a:t>Un</a:t>
            </a:r>
            <a:r>
              <a:rPr lang="es-ES" i="1" dirty="0"/>
              <a:t> estudiante se matricula </a:t>
            </a:r>
            <a:r>
              <a:rPr lang="es-ES" i="1" dirty="0">
                <a:solidFill>
                  <a:schemeClr val="accent4">
                    <a:lumMod val="50000"/>
                  </a:schemeClr>
                </a:solidFill>
              </a:rPr>
              <a:t>solamente en una </a:t>
            </a:r>
            <a:r>
              <a:rPr lang="es-ES" i="1" dirty="0"/>
              <a:t>materia, y </a:t>
            </a:r>
            <a:r>
              <a:rPr lang="es-ES" i="1" dirty="0">
                <a:solidFill>
                  <a:schemeClr val="accent4">
                    <a:lumMod val="50000"/>
                  </a:schemeClr>
                </a:solidFill>
              </a:rPr>
              <a:t>una</a:t>
            </a:r>
            <a:r>
              <a:rPr lang="es-ES" i="1" dirty="0"/>
              <a:t> materia tiene matriculados a </a:t>
            </a:r>
            <a:r>
              <a:rPr lang="es-ES" i="1" dirty="0">
                <a:solidFill>
                  <a:schemeClr val="accent4">
                    <a:lumMod val="50000"/>
                  </a:schemeClr>
                </a:solidFill>
              </a:rPr>
              <a:t>varios</a:t>
            </a:r>
            <a:r>
              <a:rPr lang="es-ES" i="1" dirty="0"/>
              <a:t> estudiantes </a:t>
            </a:r>
            <a:endParaRPr lang="es-EC" i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E036EE8-E227-FDFD-0E44-FE0AFAF94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072" y="1528796"/>
            <a:ext cx="2114845" cy="143847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5A5FD41-CB0F-D937-861C-7E0978266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124" y="2954318"/>
            <a:ext cx="5153744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0117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78B74-AB2D-FC7D-01FC-3A98AA300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593D5-432D-D9C7-B1AD-498A3D069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96" y="285308"/>
            <a:ext cx="7786800" cy="645600"/>
          </a:xfrm>
        </p:spPr>
        <p:txBody>
          <a:bodyPr/>
          <a:lstStyle/>
          <a:p>
            <a:r>
              <a:rPr lang="es-EC" dirty="0"/>
              <a:t>Varios  a varios (</a:t>
            </a:r>
            <a:r>
              <a:rPr lang="es-EC" dirty="0" err="1"/>
              <a:t>n:m</a:t>
            </a:r>
            <a:r>
              <a:rPr lang="es-EC" dirty="0"/>
              <a:t>) </a:t>
            </a:r>
          </a:p>
        </p:txBody>
      </p:sp>
      <p:sp>
        <p:nvSpPr>
          <p:cNvPr id="3" name="Marcador de texto 6">
            <a:extLst>
              <a:ext uri="{FF2B5EF4-FFF2-40B4-BE49-F238E27FC236}">
                <a16:creationId xmlns:a16="http://schemas.microsoft.com/office/drawing/2014/main" id="{1FB4F588-6B3B-2DA3-E7A8-3C8BA95B75BC}"/>
              </a:ext>
            </a:extLst>
          </p:cNvPr>
          <p:cNvSpPr txBox="1">
            <a:spLocks/>
          </p:cNvSpPr>
          <p:nvPr/>
        </p:nvSpPr>
        <p:spPr>
          <a:xfrm>
            <a:off x="573024" y="1019776"/>
            <a:ext cx="8241792" cy="434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39700" indent="0">
              <a:buFont typeface="Lato"/>
              <a:buNone/>
            </a:pPr>
            <a:r>
              <a:rPr lang="es-ES" dirty="0"/>
              <a:t>Una </a:t>
            </a:r>
            <a:r>
              <a:rPr lang="es-ES" dirty="0" err="1"/>
              <a:t>entidadad</a:t>
            </a:r>
            <a:r>
              <a:rPr lang="es-ES" dirty="0"/>
              <a:t> en A esta </a:t>
            </a:r>
            <a:r>
              <a:rPr lang="es-ES" dirty="0" err="1"/>
              <a:t>sociada</a:t>
            </a:r>
            <a:r>
              <a:rPr lang="es-ES" dirty="0"/>
              <a:t> con cualquier </a:t>
            </a:r>
            <a:r>
              <a:rPr lang="es-ES" dirty="0" err="1"/>
              <a:t>núumero</a:t>
            </a:r>
            <a:r>
              <a:rPr lang="es-ES" dirty="0"/>
              <a:t> de entidades en B y una entidad en B esta vinculada con cualquier número de entidades en A.</a:t>
            </a:r>
            <a:endParaRPr lang="es-EC" dirty="0">
              <a:solidFill>
                <a:srgbClr val="FF0000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9A488C1-2974-FDF4-94C5-DEEB40B0910E}"/>
              </a:ext>
            </a:extLst>
          </p:cNvPr>
          <p:cNvSpPr txBox="1"/>
          <p:nvPr/>
        </p:nvSpPr>
        <p:spPr>
          <a:xfrm>
            <a:off x="678596" y="4568403"/>
            <a:ext cx="79167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i="1" dirty="0">
                <a:solidFill>
                  <a:schemeClr val="accent4">
                    <a:lumMod val="50000"/>
                  </a:schemeClr>
                </a:solidFill>
              </a:rPr>
              <a:t>Un</a:t>
            </a:r>
            <a:r>
              <a:rPr lang="es-ES" i="1" dirty="0"/>
              <a:t> estudiante se  matricula en  </a:t>
            </a:r>
            <a:r>
              <a:rPr lang="es-ES" i="1" dirty="0">
                <a:solidFill>
                  <a:schemeClr val="accent4">
                    <a:lumMod val="50000"/>
                  </a:schemeClr>
                </a:solidFill>
              </a:rPr>
              <a:t>varias</a:t>
            </a:r>
            <a:r>
              <a:rPr lang="es-ES" i="1" dirty="0"/>
              <a:t> materias, y </a:t>
            </a:r>
            <a:r>
              <a:rPr lang="es-ES" i="1" dirty="0">
                <a:solidFill>
                  <a:schemeClr val="accent4">
                    <a:lumMod val="50000"/>
                  </a:schemeClr>
                </a:solidFill>
              </a:rPr>
              <a:t>una</a:t>
            </a:r>
            <a:r>
              <a:rPr lang="es-ES" i="1" dirty="0"/>
              <a:t> materia tiene matriculados a </a:t>
            </a:r>
            <a:r>
              <a:rPr lang="es-ES" i="1" dirty="0">
                <a:solidFill>
                  <a:schemeClr val="accent4">
                    <a:lumMod val="50000"/>
                  </a:schemeClr>
                </a:solidFill>
              </a:rPr>
              <a:t>varios</a:t>
            </a:r>
            <a:r>
              <a:rPr lang="es-ES" i="1" dirty="0"/>
              <a:t> estudiantes</a:t>
            </a:r>
            <a:endParaRPr lang="es-EC" i="1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8F6B0DE-867B-FA85-C4C3-CB7192A40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681" y="1525254"/>
            <a:ext cx="2162477" cy="139084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5CEBBAD-BB3D-C378-920E-D5DBA6DB1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784" y="2930267"/>
            <a:ext cx="4982270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6832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3B197-5594-20BF-C253-1AD3084FE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13BC45-AD75-E956-FB15-52B8D4288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Modelo relacional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F0663361-C8DE-F989-24AE-0E064AF2B80B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487680" y="2335513"/>
            <a:ext cx="3629926" cy="946800"/>
          </a:xfrm>
        </p:spPr>
        <p:txBody>
          <a:bodyPr/>
          <a:lstStyle/>
          <a:p>
            <a:pPr marL="139700" indent="0" algn="just">
              <a:buNone/>
            </a:pPr>
            <a:r>
              <a:rPr lang="es-ES" dirty="0"/>
              <a:t>Los datos y las relaciones se representan por medio de una serie de </a:t>
            </a:r>
            <a:r>
              <a:rPr lang="es-ES" dirty="0">
                <a:solidFill>
                  <a:srgbClr val="FF0000"/>
                </a:solidFill>
              </a:rPr>
              <a:t>tablas</a:t>
            </a:r>
            <a:r>
              <a:rPr lang="es-ES" dirty="0"/>
              <a:t> cada una de las cuales tienen varias columnas con nombres únicos.</a:t>
            </a:r>
          </a:p>
          <a:p>
            <a:pPr marL="139700" indent="0" algn="just">
              <a:buNone/>
            </a:pPr>
            <a:r>
              <a:rPr lang="es-ES" dirty="0"/>
              <a:t>Cada fila, denominada TUPLA es un REGISTRO</a:t>
            </a:r>
            <a:endParaRPr lang="es-EC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ED7CBC3-445C-6D89-401D-E0065EE5F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395" y="1018958"/>
            <a:ext cx="3439005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226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242A4E63-1B72-5829-A5DC-16101B122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4">
            <a:extLst>
              <a:ext uri="{FF2B5EF4-FFF2-40B4-BE49-F238E27FC236}">
                <a16:creationId xmlns:a16="http://schemas.microsoft.com/office/drawing/2014/main" id="{5BAC6518-06AB-2BC6-CE66-6E1553EDB1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8856" y="1890247"/>
            <a:ext cx="3284101" cy="13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/>
              <a:t>CLAVES</a:t>
            </a:r>
            <a:endParaRPr dirty="0"/>
          </a:p>
        </p:txBody>
      </p:sp>
      <p:sp>
        <p:nvSpPr>
          <p:cNvPr id="486" name="Google Shape;486;p34">
            <a:extLst>
              <a:ext uri="{FF2B5EF4-FFF2-40B4-BE49-F238E27FC236}">
                <a16:creationId xmlns:a16="http://schemas.microsoft.com/office/drawing/2014/main" id="{67FB4554-0D48-EB2F-3C96-11543D490CDB}"/>
              </a:ext>
            </a:extLst>
          </p:cNvPr>
          <p:cNvSpPr/>
          <p:nvPr/>
        </p:nvSpPr>
        <p:spPr>
          <a:xfrm>
            <a:off x="0" y="0"/>
            <a:ext cx="418500" cy="261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290" name="Picture 2" descr="Capítulo 4 Modelamiento de Datos | Base de Datos">
            <a:extLst>
              <a:ext uri="{FF2B5EF4-FFF2-40B4-BE49-F238E27FC236}">
                <a16:creationId xmlns:a16="http://schemas.microsoft.com/office/drawing/2014/main" id="{3C9F0D95-1293-8454-14F2-3AA8FA9E9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00" y="683275"/>
            <a:ext cx="4744394" cy="3388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8683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87B48-77B3-D5A9-E758-4201C1845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40A39-9B2D-A9A0-1BEC-FD9E8946D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PRIMARY KEY (PK)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C156168-0F57-5DF4-8749-74AC71C1A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87" y="1514289"/>
            <a:ext cx="7786800" cy="230818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F2BF05E-71D2-78DE-4A63-CE6872FA8501}"/>
              </a:ext>
            </a:extLst>
          </p:cNvPr>
          <p:cNvSpPr txBox="1"/>
          <p:nvPr/>
        </p:nvSpPr>
        <p:spPr>
          <a:xfrm>
            <a:off x="1882692" y="4163885"/>
            <a:ext cx="53786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EMPLEADO (</a:t>
            </a:r>
            <a:r>
              <a:rPr lang="es-ES" u="sng" dirty="0" err="1">
                <a:solidFill>
                  <a:srgbClr val="FF0000"/>
                </a:solidFill>
              </a:rPr>
              <a:t>CodEmp</a:t>
            </a:r>
            <a:r>
              <a:rPr lang="es-ES" dirty="0">
                <a:solidFill>
                  <a:srgbClr val="FF0000"/>
                </a:solidFill>
              </a:rPr>
              <a:t>, </a:t>
            </a:r>
            <a:r>
              <a:rPr lang="es-ES" dirty="0" err="1">
                <a:solidFill>
                  <a:srgbClr val="FF0000"/>
                </a:solidFill>
              </a:rPr>
              <a:t>CIEmp</a:t>
            </a:r>
            <a:r>
              <a:rPr lang="es-ES" dirty="0">
                <a:solidFill>
                  <a:srgbClr val="FF0000"/>
                </a:solidFill>
              </a:rPr>
              <a:t>, </a:t>
            </a:r>
            <a:r>
              <a:rPr lang="es-ES" dirty="0" err="1">
                <a:solidFill>
                  <a:srgbClr val="FF0000"/>
                </a:solidFill>
              </a:rPr>
              <a:t>NombreEmp</a:t>
            </a:r>
            <a:r>
              <a:rPr lang="es-ES" dirty="0">
                <a:solidFill>
                  <a:srgbClr val="FF0000"/>
                </a:solidFill>
              </a:rPr>
              <a:t>, </a:t>
            </a:r>
            <a:r>
              <a:rPr lang="es-ES" dirty="0" err="1">
                <a:solidFill>
                  <a:srgbClr val="FF0000"/>
                </a:solidFill>
              </a:rPr>
              <a:t>Direccion</a:t>
            </a:r>
            <a:r>
              <a:rPr lang="es-ES" dirty="0">
                <a:solidFill>
                  <a:srgbClr val="FF0000"/>
                </a:solidFill>
              </a:rPr>
              <a:t>, Genero) </a:t>
            </a:r>
            <a:endParaRPr lang="es-EC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6462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A99EF-BEC3-D743-BD3D-6A98B4E0D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898FDB-BF14-BC3D-8D25-977EA2116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 err="1"/>
              <a:t>Primary</a:t>
            </a:r>
            <a:r>
              <a:rPr lang="es-EC" dirty="0"/>
              <a:t> </a:t>
            </a:r>
            <a:r>
              <a:rPr lang="es-EC" dirty="0" err="1"/>
              <a:t>key</a:t>
            </a:r>
            <a:r>
              <a:rPr lang="es-EC" dirty="0"/>
              <a:t> (</a:t>
            </a:r>
            <a:r>
              <a:rPr lang="es-EC" dirty="0" err="1"/>
              <a:t>pk</a:t>
            </a:r>
            <a:r>
              <a:rPr lang="es-EC" dirty="0"/>
              <a:t>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5DF15FC-7D1F-7474-544F-874F838CC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711" y="1402459"/>
            <a:ext cx="6616578" cy="321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6817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D3E4E-EA28-D083-E317-4A95FDA50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0AC7A-E8D1-83D6-79BA-BA7E0CD2B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CLAVE FORANEA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4606505-76A8-43C6-9E4F-BFA0999961C1}"/>
              </a:ext>
            </a:extLst>
          </p:cNvPr>
          <p:cNvSpPr txBox="1"/>
          <p:nvPr/>
        </p:nvSpPr>
        <p:spPr>
          <a:xfrm>
            <a:off x="678600" y="1471100"/>
            <a:ext cx="50901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también llamada externa o ajena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es un atributo o un conjunto de atributos de una relación cuyos valores </a:t>
            </a:r>
            <a:r>
              <a:rPr lang="es-ES" dirty="0">
                <a:solidFill>
                  <a:srgbClr val="FF0000"/>
                </a:solidFill>
              </a:rPr>
              <a:t>coinciden</a:t>
            </a:r>
            <a:r>
              <a:rPr lang="es-ES" dirty="0"/>
              <a:t> con los valores de la </a:t>
            </a:r>
            <a:r>
              <a:rPr lang="es-ES" dirty="0">
                <a:solidFill>
                  <a:srgbClr val="FF0000"/>
                </a:solidFill>
              </a:rPr>
              <a:t>clave primaria</a:t>
            </a:r>
            <a:r>
              <a:rPr lang="es-ES" dirty="0"/>
              <a:t> de alguna otra relación</a:t>
            </a:r>
            <a:endParaRPr lang="es-EC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3055483-372F-63D7-AA57-6255870A2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820" y="2718294"/>
            <a:ext cx="5934903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6104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5F9E6-7593-03DF-592F-AB645487E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46F583-A992-F52E-A622-7BFEE20FD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Referencia padre - hijo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7378954-1E1C-2DBE-4C63-DC1B96DD507B}"/>
              </a:ext>
            </a:extLst>
          </p:cNvPr>
          <p:cNvSpPr txBox="1"/>
          <p:nvPr/>
        </p:nvSpPr>
        <p:spPr>
          <a:xfrm>
            <a:off x="678600" y="1471100"/>
            <a:ext cx="75753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C" dirty="0"/>
              <a:t>analogía Padre – Hijo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C" dirty="0"/>
              <a:t>Restricción: </a:t>
            </a:r>
            <a:r>
              <a:rPr lang="es-ES" dirty="0">
                <a:solidFill>
                  <a:schemeClr val="accent4">
                    <a:lumMod val="50000"/>
                  </a:schemeClr>
                </a:solidFill>
              </a:rPr>
              <a:t>un padre puede tener uno o varios hijos, y un hijo tenga solo un padre.</a:t>
            </a:r>
            <a:endParaRPr lang="es-EC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F5E338C-93B6-149E-2CD9-41542E755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185" y="2048155"/>
            <a:ext cx="4055630" cy="220205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34FDB1B-7B22-7DD2-758B-FC04B9392AEA}"/>
              </a:ext>
            </a:extLst>
          </p:cNvPr>
          <p:cNvSpPr txBox="1"/>
          <p:nvPr/>
        </p:nvSpPr>
        <p:spPr>
          <a:xfrm>
            <a:off x="1027176" y="4354615"/>
            <a:ext cx="70896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accent4">
                    <a:lumMod val="50000"/>
                  </a:schemeClr>
                </a:solidFill>
              </a:rPr>
              <a:t>La clave foránea es aquella que permite establecer una referencia entre dos tablas, y ésta clave (FK) se ubica en la tabla hija.</a:t>
            </a:r>
            <a:endParaRPr lang="es-EC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5743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BF5CB4-4CAB-500E-D464-4FCEC67B6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Reglas de integridad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7A8684F-8B8D-734E-8735-8927EB0ECAC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78600" y="1526443"/>
            <a:ext cx="7234008" cy="699300"/>
          </a:xfrm>
        </p:spPr>
        <p:txBody>
          <a:bodyPr/>
          <a:lstStyle/>
          <a:p>
            <a:pPr marL="139700" indent="0">
              <a:buNone/>
            </a:pPr>
            <a:r>
              <a:rPr lang="es-ES" b="1" dirty="0">
                <a:solidFill>
                  <a:schemeClr val="accent4">
                    <a:lumMod val="50000"/>
                  </a:schemeClr>
                </a:solidFill>
              </a:rPr>
              <a:t>Datos requeridos (obligatorio -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&gt;</a:t>
            </a:r>
            <a:r>
              <a:rPr lang="es-ES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s-ES" b="1" dirty="0" err="1">
                <a:solidFill>
                  <a:schemeClr val="accent4">
                    <a:lumMod val="50000"/>
                  </a:schemeClr>
                </a:solidFill>
              </a:rPr>
              <a:t>Not</a:t>
            </a:r>
            <a:r>
              <a:rPr lang="es-ES" b="1" dirty="0">
                <a:solidFill>
                  <a:schemeClr val="accent4">
                    <a:lumMod val="50000"/>
                  </a:schemeClr>
                </a:solidFill>
              </a:rPr>
              <a:t> NULL) </a:t>
            </a:r>
          </a:p>
          <a:p>
            <a:pPr marL="139700" indent="0">
              <a:buNone/>
            </a:pPr>
            <a:endParaRPr lang="es-ES" dirty="0"/>
          </a:p>
          <a:p>
            <a:pPr marL="139700" indent="0">
              <a:buNone/>
            </a:pPr>
            <a:r>
              <a:rPr lang="es-ES" b="1" dirty="0"/>
              <a:t>NULL-</a:t>
            </a:r>
            <a:r>
              <a:rPr lang="es-ES" dirty="0"/>
              <a:t>&gt; Cuando en una tupla un atributo es desconocido, se dice que es nulo. Un nulo NO representa el valor cero ni la cadena vacía, éstos son valores que tienen significado.</a:t>
            </a:r>
          </a:p>
          <a:p>
            <a:pPr marL="139700" indent="0">
              <a:buNone/>
            </a:pPr>
            <a:endParaRPr lang="es-ES" dirty="0"/>
          </a:p>
          <a:p>
            <a:pPr marL="139700" indent="0" algn="ctr">
              <a:buNone/>
            </a:pPr>
            <a:r>
              <a:rPr lang="es-EC" dirty="0" err="1">
                <a:solidFill>
                  <a:srgbClr val="FF0000"/>
                </a:solidFill>
              </a:rPr>
              <a:t>Null</a:t>
            </a:r>
            <a:r>
              <a:rPr lang="es-EC" dirty="0">
                <a:solidFill>
                  <a:srgbClr val="FF0000"/>
                </a:solidFill>
              </a:rPr>
              <a:t> = sin dato </a:t>
            </a:r>
            <a:r>
              <a:rPr lang="es-ES" dirty="0">
                <a:solidFill>
                  <a:srgbClr val="FF0000"/>
                </a:solidFill>
              </a:rPr>
              <a:t> </a:t>
            </a:r>
            <a:endParaRPr lang="es-EC" dirty="0">
              <a:solidFill>
                <a:srgbClr val="FF0000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006FB3B-4C3C-6CB3-EF9D-1DFD21F9E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697" y="2835246"/>
            <a:ext cx="5663538" cy="129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0496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E5121-3E1C-5862-90B5-05158AB9E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217CA3-C1D9-B158-222C-1BF803C16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Reglas de integridad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48DC078-6332-739F-2572-932E7755E6E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78600" y="1526443"/>
            <a:ext cx="7234008" cy="699300"/>
          </a:xfrm>
        </p:spPr>
        <p:txBody>
          <a:bodyPr/>
          <a:lstStyle/>
          <a:p>
            <a:pPr marL="139700" indent="0">
              <a:buNone/>
            </a:pPr>
            <a:r>
              <a:rPr lang="es-EC" b="1" dirty="0">
                <a:solidFill>
                  <a:schemeClr val="accent4">
                    <a:lumMod val="50000"/>
                  </a:schemeClr>
                </a:solidFill>
              </a:rPr>
              <a:t>Integridad de entidad o integridad CLAVE</a:t>
            </a:r>
            <a:r>
              <a:rPr lang="es-ES" b="1" dirty="0">
                <a:solidFill>
                  <a:schemeClr val="accent4">
                    <a:lumMod val="50000"/>
                  </a:schemeClr>
                </a:solidFill>
              </a:rPr>
              <a:t>  </a:t>
            </a:r>
          </a:p>
          <a:p>
            <a:pPr marL="139700" indent="0">
              <a:buNone/>
            </a:pPr>
            <a:endParaRPr lang="es-ES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s-ES" dirty="0"/>
              <a:t>Se aplica a las claves primarias de las relaciones</a:t>
            </a:r>
          </a:p>
          <a:p>
            <a:r>
              <a:rPr lang="es-ES" dirty="0"/>
              <a:t>Restringe que: </a:t>
            </a:r>
          </a:p>
          <a:p>
            <a:endParaRPr lang="es-ES" dirty="0"/>
          </a:p>
          <a:p>
            <a:pPr marL="139700" indent="0">
              <a:buNone/>
            </a:pPr>
            <a:r>
              <a:rPr lang="es-ES" b="1" i="1" dirty="0"/>
              <a:t>	“Ninguno de los atributos que componen la clave primaria puede ser nulo ni 	duplicados”. </a:t>
            </a:r>
          </a:p>
        </p:txBody>
      </p:sp>
      <p:sp>
        <p:nvSpPr>
          <p:cNvPr id="3" name="Marcador de texto 4">
            <a:extLst>
              <a:ext uri="{FF2B5EF4-FFF2-40B4-BE49-F238E27FC236}">
                <a16:creationId xmlns:a16="http://schemas.microsoft.com/office/drawing/2014/main" id="{12ADD2A0-CA64-EC5F-41F1-B0464DCB94C3}"/>
              </a:ext>
            </a:extLst>
          </p:cNvPr>
          <p:cNvSpPr txBox="1">
            <a:spLocks/>
          </p:cNvSpPr>
          <p:nvPr/>
        </p:nvSpPr>
        <p:spPr>
          <a:xfrm>
            <a:off x="678600" y="3544219"/>
            <a:ext cx="7234008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39700" indent="0">
              <a:buFont typeface="Lato"/>
              <a:buNone/>
            </a:pPr>
            <a:r>
              <a:rPr lang="es-EC" b="1" dirty="0">
                <a:solidFill>
                  <a:schemeClr val="accent4">
                    <a:lumMod val="50000"/>
                  </a:schemeClr>
                </a:solidFill>
              </a:rPr>
              <a:t>Integridad REFERENCIAL (IR)</a:t>
            </a:r>
            <a:r>
              <a:rPr lang="es-ES" b="1" dirty="0">
                <a:solidFill>
                  <a:schemeClr val="accent4">
                    <a:lumMod val="50000"/>
                  </a:schemeClr>
                </a:solidFill>
              </a:rPr>
              <a:t>  </a:t>
            </a:r>
          </a:p>
          <a:p>
            <a:pPr marL="139700" indent="0">
              <a:buFont typeface="Lato"/>
              <a:buNone/>
            </a:pPr>
            <a:endParaRPr lang="es-ES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s-ES" dirty="0"/>
              <a:t>Se aplica a las claves </a:t>
            </a:r>
            <a:r>
              <a:rPr lang="es-ES" dirty="0" err="1"/>
              <a:t>foraneas</a:t>
            </a:r>
            <a:r>
              <a:rPr lang="es-ES" dirty="0"/>
              <a:t> de las relaciones</a:t>
            </a:r>
          </a:p>
          <a:p>
            <a:r>
              <a:rPr lang="es-ES" dirty="0"/>
              <a:t>Restringe que: </a:t>
            </a:r>
          </a:p>
          <a:p>
            <a:endParaRPr lang="es-ES" dirty="0"/>
          </a:p>
          <a:p>
            <a:pPr marL="139700" indent="0">
              <a:buFont typeface="Lato"/>
              <a:buNone/>
            </a:pPr>
            <a:r>
              <a:rPr lang="es-ES" b="1" i="1" dirty="0"/>
              <a:t>	“si en una relación hay alguna clave foránea, sus valores deben coincidir con 	valores de la clave primaria a la que hace referencia</a:t>
            </a:r>
            <a:r>
              <a:rPr lang="es-EC" b="1" i="1" dirty="0"/>
              <a:t>”</a:t>
            </a:r>
            <a:endParaRPr lang="es-ES" b="1" i="1" dirty="0"/>
          </a:p>
        </p:txBody>
      </p:sp>
    </p:spTree>
    <p:extLst>
      <p:ext uri="{BB962C8B-B14F-4D97-AF65-F5344CB8AC3E}">
        <p14:creationId xmlns:p14="http://schemas.microsoft.com/office/powerpoint/2010/main" val="40301746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C8BEE7-E4C5-1837-1F2A-60AA25F6A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Ejercicios: modelo relacional</a:t>
            </a:r>
            <a:endParaRPr lang="es-EC" dirty="0"/>
          </a:p>
        </p:txBody>
      </p:sp>
      <p:sp>
        <p:nvSpPr>
          <p:cNvPr id="19" name="Marcador de texto 4">
            <a:extLst>
              <a:ext uri="{FF2B5EF4-FFF2-40B4-BE49-F238E27FC236}">
                <a16:creationId xmlns:a16="http://schemas.microsoft.com/office/drawing/2014/main" id="{E60CC32A-0576-76B4-4BC0-A22E95264BA5}"/>
              </a:ext>
            </a:extLst>
          </p:cNvPr>
          <p:cNvSpPr txBox="1">
            <a:spLocks/>
          </p:cNvSpPr>
          <p:nvPr/>
        </p:nvSpPr>
        <p:spPr>
          <a:xfrm>
            <a:off x="678600" y="1989739"/>
            <a:ext cx="7234008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482600" indent="-342900">
              <a:buFont typeface="Lato"/>
              <a:buAutoNum type="arabicParenR"/>
            </a:pPr>
            <a:r>
              <a:rPr lang="es-ES" dirty="0"/>
              <a:t>Dadas las siguientes relaciones: identificar las claves primarias y foráneas, y realizar el esquema gráfico correspondiente </a:t>
            </a:r>
          </a:p>
          <a:p>
            <a:pPr marL="139700" indent="0">
              <a:buNone/>
            </a:pPr>
            <a:endParaRPr lang="es-ES" dirty="0"/>
          </a:p>
          <a:p>
            <a:pPr marL="139700" indent="0">
              <a:buNone/>
            </a:pPr>
            <a:r>
              <a:rPr lang="es-ES" dirty="0"/>
              <a:t>VENDEDOR (</a:t>
            </a:r>
            <a:r>
              <a:rPr lang="es-ES" dirty="0" err="1"/>
              <a:t>IDVen</a:t>
            </a:r>
            <a:r>
              <a:rPr lang="es-ES" dirty="0"/>
              <a:t>, </a:t>
            </a:r>
            <a:r>
              <a:rPr lang="es-ES" dirty="0" err="1"/>
              <a:t>NombreVen</a:t>
            </a:r>
            <a:r>
              <a:rPr lang="es-ES" dirty="0"/>
              <a:t>, Salario) </a:t>
            </a:r>
          </a:p>
          <a:p>
            <a:pPr marL="139700" indent="0">
              <a:buNone/>
            </a:pPr>
            <a:r>
              <a:rPr lang="es-ES" dirty="0"/>
              <a:t>ORDEN_COMPRA (</a:t>
            </a:r>
            <a:r>
              <a:rPr lang="es-ES" dirty="0" err="1"/>
              <a:t>NumOC</a:t>
            </a:r>
            <a:r>
              <a:rPr lang="es-ES" dirty="0"/>
              <a:t>, </a:t>
            </a:r>
            <a:r>
              <a:rPr lang="es-ES" dirty="0" err="1"/>
              <a:t>IDVen</a:t>
            </a:r>
            <a:r>
              <a:rPr lang="es-ES" dirty="0"/>
              <a:t>, </a:t>
            </a:r>
            <a:r>
              <a:rPr lang="es-ES" dirty="0" err="1"/>
              <a:t>IDCli</a:t>
            </a:r>
            <a:r>
              <a:rPr lang="es-ES" dirty="0"/>
              <a:t>, Fecha) </a:t>
            </a:r>
          </a:p>
          <a:p>
            <a:pPr marL="139700" indent="0">
              <a:buNone/>
            </a:pPr>
            <a:r>
              <a:rPr lang="es-ES" dirty="0"/>
              <a:t>CLIENTE (</a:t>
            </a:r>
            <a:r>
              <a:rPr lang="es-ES" dirty="0" err="1"/>
              <a:t>IDCli</a:t>
            </a:r>
            <a:r>
              <a:rPr lang="es-ES" dirty="0"/>
              <a:t>, </a:t>
            </a:r>
            <a:r>
              <a:rPr lang="es-ES" dirty="0" err="1"/>
              <a:t>NombreCli</a:t>
            </a:r>
            <a:r>
              <a:rPr lang="es-ES" dirty="0"/>
              <a:t>, Ciudad, </a:t>
            </a:r>
            <a:r>
              <a:rPr lang="es-ES" dirty="0" err="1"/>
              <a:t>TipoCli</a:t>
            </a:r>
            <a:r>
              <a:rPr lang="es-ES" dirty="0"/>
              <a:t>) </a:t>
            </a:r>
          </a:p>
          <a:p>
            <a:pPr marL="139700" indent="0">
              <a:buNone/>
            </a:pPr>
            <a:r>
              <a:rPr lang="es-ES" dirty="0"/>
              <a:t>TIPOCLI (</a:t>
            </a:r>
            <a:r>
              <a:rPr lang="es-ES" dirty="0" err="1"/>
              <a:t>IDTipo</a:t>
            </a:r>
            <a:r>
              <a:rPr lang="es-ES" dirty="0"/>
              <a:t>, Descripción) </a:t>
            </a:r>
            <a:endParaRPr lang="es-ES" b="1" i="1" dirty="0"/>
          </a:p>
        </p:txBody>
      </p:sp>
    </p:spTree>
    <p:extLst>
      <p:ext uri="{BB962C8B-B14F-4D97-AF65-F5344CB8AC3E}">
        <p14:creationId xmlns:p14="http://schemas.microsoft.com/office/powerpoint/2010/main" val="7064818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491C9-F83A-E0EB-4F64-F65594FAE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721E7-7328-8C1D-A301-5E1A00909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Ejercicios: modelo relacional</a:t>
            </a:r>
            <a:endParaRPr lang="es-EC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AECB145-1B9D-3557-BC3B-9C10C26DA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820" y="1276784"/>
            <a:ext cx="5418959" cy="3135889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AEFF099-93B7-7521-9579-E7D52260B43F}"/>
              </a:ext>
            </a:extLst>
          </p:cNvPr>
          <p:cNvSpPr/>
          <p:nvPr/>
        </p:nvSpPr>
        <p:spPr>
          <a:xfrm>
            <a:off x="2057400" y="2763983"/>
            <a:ext cx="3221182" cy="13577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3443930-9005-8783-50A9-6303ABC8CC55}"/>
              </a:ext>
            </a:extLst>
          </p:cNvPr>
          <p:cNvSpPr/>
          <p:nvPr/>
        </p:nvSpPr>
        <p:spPr>
          <a:xfrm>
            <a:off x="5742709" y="2438400"/>
            <a:ext cx="353291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73AEE07-B8F8-A174-B4FC-F55733A13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162" y="2407867"/>
            <a:ext cx="339436" cy="15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6754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1F0E3-EBE1-1833-02D0-559DBE7A1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B71027-74BC-652E-515A-DC5AC4467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Ejercicios: modelo relacional</a:t>
            </a:r>
            <a:endParaRPr lang="es-EC" dirty="0"/>
          </a:p>
        </p:txBody>
      </p:sp>
      <p:sp>
        <p:nvSpPr>
          <p:cNvPr id="19" name="Marcador de texto 4">
            <a:extLst>
              <a:ext uri="{FF2B5EF4-FFF2-40B4-BE49-F238E27FC236}">
                <a16:creationId xmlns:a16="http://schemas.microsoft.com/office/drawing/2014/main" id="{D0D83CE0-D1F0-C623-0C58-1520F41AFC2D}"/>
              </a:ext>
            </a:extLst>
          </p:cNvPr>
          <p:cNvSpPr txBox="1">
            <a:spLocks/>
          </p:cNvSpPr>
          <p:nvPr/>
        </p:nvSpPr>
        <p:spPr>
          <a:xfrm>
            <a:off x="954996" y="1770663"/>
            <a:ext cx="7234008" cy="1953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39700" indent="0">
              <a:buNone/>
            </a:pPr>
            <a:r>
              <a:rPr lang="es-ES" dirty="0"/>
              <a:t>2) Dadas las siguientes relaciones: identificar las claves primarias y foráneas, y realizar el esquema gráfico correspondiente </a:t>
            </a:r>
          </a:p>
          <a:p>
            <a:pPr marL="139700" indent="0">
              <a:buNone/>
            </a:pPr>
            <a:endParaRPr lang="es-ES" dirty="0"/>
          </a:p>
          <a:p>
            <a:pPr marL="139700" indent="0">
              <a:buNone/>
            </a:pPr>
            <a:r>
              <a:rPr lang="pt-BR" dirty="0"/>
              <a:t>R1(A1,A2) 	R2(B1, B2, A1)	 R3(C1,C2,B1)	 R4(D1,D2) </a:t>
            </a:r>
          </a:p>
          <a:p>
            <a:pPr marL="139700" indent="0">
              <a:buNone/>
            </a:pPr>
            <a:endParaRPr lang="pt-BR" dirty="0"/>
          </a:p>
          <a:p>
            <a:pPr marL="139700" indent="0">
              <a:buNone/>
            </a:pPr>
            <a:r>
              <a:rPr lang="pt-BR" dirty="0"/>
              <a:t>R5(C1,D1)</a:t>
            </a:r>
            <a:endParaRPr lang="es-ES" b="1" i="1" dirty="0"/>
          </a:p>
        </p:txBody>
      </p:sp>
    </p:spTree>
    <p:extLst>
      <p:ext uri="{BB962C8B-B14F-4D97-AF65-F5344CB8AC3E}">
        <p14:creationId xmlns:p14="http://schemas.microsoft.com/office/powerpoint/2010/main" val="37731303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72E78-2952-A169-96AD-E79C7BAB5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6D968-1556-8321-4AF5-C1DF3543C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Ejercicios: modelo relacional</a:t>
            </a:r>
            <a:endParaRPr lang="es-EC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2B212FE-97C9-8C01-74D1-BA6FD9897468}"/>
              </a:ext>
            </a:extLst>
          </p:cNvPr>
          <p:cNvSpPr/>
          <p:nvPr/>
        </p:nvSpPr>
        <p:spPr>
          <a:xfrm>
            <a:off x="2057400" y="2763983"/>
            <a:ext cx="3221182" cy="13577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FA8AC2B-4979-ACD0-9D7C-9C1DA6E67C14}"/>
              </a:ext>
            </a:extLst>
          </p:cNvPr>
          <p:cNvSpPr/>
          <p:nvPr/>
        </p:nvSpPr>
        <p:spPr>
          <a:xfrm>
            <a:off x="5742709" y="2438400"/>
            <a:ext cx="353291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CE93774-23BB-06DE-ACDF-2B076A06C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162" y="2407867"/>
            <a:ext cx="339436" cy="15013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0D3B4D7-3567-2A56-519B-A373813E7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496" y="1444586"/>
            <a:ext cx="4887007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644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CFEA8-BAA4-AFAF-6F72-7C10A14AB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6291F-7013-A392-B372-A373E44FA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Ejercicios: modelo relacional</a:t>
            </a:r>
            <a:endParaRPr lang="es-EC" dirty="0"/>
          </a:p>
        </p:txBody>
      </p:sp>
      <p:sp>
        <p:nvSpPr>
          <p:cNvPr id="19" name="Marcador de texto 4">
            <a:extLst>
              <a:ext uri="{FF2B5EF4-FFF2-40B4-BE49-F238E27FC236}">
                <a16:creationId xmlns:a16="http://schemas.microsoft.com/office/drawing/2014/main" id="{7CCE6BE2-C93E-BA18-68B0-9D5CBF94F59F}"/>
              </a:ext>
            </a:extLst>
          </p:cNvPr>
          <p:cNvSpPr txBox="1">
            <a:spLocks/>
          </p:cNvSpPr>
          <p:nvPr/>
        </p:nvSpPr>
        <p:spPr>
          <a:xfrm>
            <a:off x="954996" y="1594944"/>
            <a:ext cx="7234008" cy="1953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39700" indent="0">
              <a:buNone/>
            </a:pPr>
            <a:r>
              <a:rPr lang="es-ES" dirty="0"/>
              <a:t>Ejemplo de dos tablas con REFERENCIA padre - hijo (1 –N) y represente los datos en las tablas</a:t>
            </a:r>
          </a:p>
          <a:p>
            <a:pPr marL="139700" indent="0">
              <a:buNone/>
            </a:pPr>
            <a:endParaRPr lang="es-ES" dirty="0"/>
          </a:p>
          <a:p>
            <a:pPr marL="139700" indent="0">
              <a:buNone/>
            </a:pPr>
            <a:r>
              <a:rPr lang="es-ES" dirty="0"/>
              <a:t>AUTOR - LIBRO</a:t>
            </a:r>
          </a:p>
          <a:p>
            <a:pPr marL="139700" indent="0">
              <a:buNone/>
            </a:pPr>
            <a:endParaRPr lang="es-ES" dirty="0"/>
          </a:p>
          <a:p>
            <a:pPr marL="13970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152120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AB1E4-1350-3A27-0F91-278CAA400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2263D0-A145-1957-D144-CF64CE9E3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Ejercicios: modelo relacional</a:t>
            </a:r>
            <a:endParaRPr lang="es-EC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00AEEAE-F1C4-04AE-8359-03E798EBC4BA}"/>
              </a:ext>
            </a:extLst>
          </p:cNvPr>
          <p:cNvSpPr/>
          <p:nvPr/>
        </p:nvSpPr>
        <p:spPr>
          <a:xfrm>
            <a:off x="2057400" y="2763983"/>
            <a:ext cx="3221182" cy="13577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F8DA6D5-E288-27DC-C288-7E6F0A9D92AA}"/>
              </a:ext>
            </a:extLst>
          </p:cNvPr>
          <p:cNvSpPr/>
          <p:nvPr/>
        </p:nvSpPr>
        <p:spPr>
          <a:xfrm>
            <a:off x="5742709" y="2438400"/>
            <a:ext cx="353291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87A0EDE-356A-78A4-4DE6-199FB65CB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19" y="1108259"/>
            <a:ext cx="2953162" cy="104789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4C6B36E-26FB-C33E-993A-AECD34DB6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56155"/>
            <a:ext cx="5249008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2096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546F5-3525-54F6-668C-94524BC8F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F286E7-7777-98D7-C06B-074C82254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Ejercicios: modelo relacional</a:t>
            </a:r>
            <a:endParaRPr lang="es-EC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F80F49C-D6E5-6BF2-E6CD-658741FE71DC}"/>
              </a:ext>
            </a:extLst>
          </p:cNvPr>
          <p:cNvSpPr/>
          <p:nvPr/>
        </p:nvSpPr>
        <p:spPr>
          <a:xfrm>
            <a:off x="678600" y="1892877"/>
            <a:ext cx="7786800" cy="13577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C" sz="1600" dirty="0">
                <a:solidFill>
                  <a:schemeClr val="tx1"/>
                </a:solidFill>
              </a:rPr>
              <a:t>Se desea diseñar la base de datos de una tienda:</a:t>
            </a:r>
          </a:p>
          <a:p>
            <a:endParaRPr lang="es-EC" sz="1600" dirty="0">
              <a:solidFill>
                <a:schemeClr val="tx1"/>
              </a:solidFill>
            </a:endParaRPr>
          </a:p>
          <a:p>
            <a:pPr lvl="0"/>
            <a:r>
              <a:rPr lang="es-EC" sz="1600" dirty="0">
                <a:solidFill>
                  <a:schemeClr val="tx1"/>
                </a:solidFill>
              </a:rPr>
              <a:t>Cada cliente pertenece a un único país, y en un país pueden residir varios clientes.</a:t>
            </a:r>
          </a:p>
          <a:p>
            <a:pPr lvl="0"/>
            <a:r>
              <a:rPr lang="es-EC" sz="1600" dirty="0">
                <a:solidFill>
                  <a:schemeClr val="tx1"/>
                </a:solidFill>
              </a:rPr>
              <a:t>Un cliente puede realizar múltiples pedidos, pero cada pedido pertenece a un solo cliente.</a:t>
            </a:r>
          </a:p>
          <a:p>
            <a:pPr lvl="0"/>
            <a:r>
              <a:rPr lang="es-EC" sz="1600" dirty="0">
                <a:solidFill>
                  <a:schemeClr val="tx1"/>
                </a:solidFill>
              </a:rPr>
              <a:t>Un pedido puede contener varios productos, y un mismo producto puede estar presente en diferentes pedidos.</a:t>
            </a:r>
          </a:p>
          <a:p>
            <a:pPr lvl="0"/>
            <a:r>
              <a:rPr lang="es-EC" sz="1600" dirty="0">
                <a:solidFill>
                  <a:schemeClr val="tx1"/>
                </a:solidFill>
              </a:rPr>
              <a:t>Se dispone del catálogo de productos con su identificador y descripción.</a:t>
            </a:r>
          </a:p>
          <a:p>
            <a:pPr lvl="0"/>
            <a:endParaRPr lang="es-EC" sz="1600" dirty="0">
              <a:solidFill>
                <a:schemeClr val="tx1"/>
              </a:solidFill>
            </a:endParaRPr>
          </a:p>
          <a:p>
            <a:r>
              <a:rPr lang="es-EC" sz="1600" dirty="0">
                <a:solidFill>
                  <a:schemeClr val="tx1"/>
                </a:solidFill>
              </a:rPr>
              <a:t>Diseñe el modelo relacional correspondiente indicando claves primarias y foráneas.</a:t>
            </a:r>
          </a:p>
        </p:txBody>
      </p:sp>
    </p:spTree>
    <p:extLst>
      <p:ext uri="{BB962C8B-B14F-4D97-AF65-F5344CB8AC3E}">
        <p14:creationId xmlns:p14="http://schemas.microsoft.com/office/powerpoint/2010/main" val="36001125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D3B7A-7BB7-138A-363F-5F28486FE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C8467A-0C05-888F-79E1-4BC0E90C8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Ejercicios: modelo relacional</a:t>
            </a:r>
            <a:endParaRPr lang="es-EC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3D95682-E771-B528-8F36-B81EE31A0E58}"/>
              </a:ext>
            </a:extLst>
          </p:cNvPr>
          <p:cNvSpPr/>
          <p:nvPr/>
        </p:nvSpPr>
        <p:spPr>
          <a:xfrm>
            <a:off x="2057400" y="2763983"/>
            <a:ext cx="3221182" cy="13577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1814C03-D30A-A0D7-B729-EE737AA5DE5D}"/>
              </a:ext>
            </a:extLst>
          </p:cNvPr>
          <p:cNvSpPr/>
          <p:nvPr/>
        </p:nvSpPr>
        <p:spPr>
          <a:xfrm>
            <a:off x="5742709" y="2438400"/>
            <a:ext cx="353291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EB51FC0-AA5F-291D-6065-71CC84FB2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162" y="2407867"/>
            <a:ext cx="339436" cy="15013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E380AC8-ADC6-DDF5-46D4-BF7A8DD4E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8496" y="1444586"/>
            <a:ext cx="4887007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864670"/>
      </p:ext>
    </p:extLst>
  </p:cSld>
  <p:clrMapOvr>
    <a:masterClrMapping/>
  </p:clrMapOvr>
</p:sld>
</file>

<file path=ppt/theme/theme1.xml><?xml version="1.0" encoding="utf-8"?>
<a:theme xmlns:a="http://schemas.openxmlformats.org/drawingml/2006/main" name="Social Skills Learning by Slidesgo">
  <a:themeElements>
    <a:clrScheme name="Simple Light">
      <a:dk1>
        <a:srgbClr val="263238"/>
      </a:dk1>
      <a:lt1>
        <a:srgbClr val="FFFFFF"/>
      </a:lt1>
      <a:dk2>
        <a:srgbClr val="455A64"/>
      </a:dk2>
      <a:lt2>
        <a:srgbClr val="EEEEEE"/>
      </a:lt2>
      <a:accent1>
        <a:srgbClr val="FFC727"/>
      </a:accent1>
      <a:accent2>
        <a:srgbClr val="2C2945"/>
      </a:accent2>
      <a:accent3>
        <a:srgbClr val="AD6359"/>
      </a:accent3>
      <a:accent4>
        <a:srgbClr val="F7A9A0"/>
      </a:accent4>
      <a:accent5>
        <a:srgbClr val="EFEFEF"/>
      </a:accent5>
      <a:accent6>
        <a:srgbClr val="F3F3F3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ADE2FC0A3858847B3A72F667BC6B0B5" ma:contentTypeVersion="4" ma:contentTypeDescription="Crear nuevo documento." ma:contentTypeScope="" ma:versionID="f74b63031a735e15303013f4a5b119fc">
  <xsd:schema xmlns:xsd="http://www.w3.org/2001/XMLSchema" xmlns:xs="http://www.w3.org/2001/XMLSchema" xmlns:p="http://schemas.microsoft.com/office/2006/metadata/properties" xmlns:ns3="7ee4e685-ee66-4e42-a1ac-a56027f7008b" targetNamespace="http://schemas.microsoft.com/office/2006/metadata/properties" ma:root="true" ma:fieldsID="dd48a4b2af74ece3991f90fdaef4c77b" ns3:_="">
    <xsd:import namespace="7ee4e685-ee66-4e42-a1ac-a56027f7008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e4e685-ee66-4e42-a1ac-a56027f7008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4CCBDA-9EDA-4837-8B62-216007D54C5C}">
  <ds:schemaRefs>
    <ds:schemaRef ds:uri="http://purl.org/dc/elements/1.1/"/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7ee4e685-ee66-4e42-a1ac-a56027f7008b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5CF23FB-AC90-4801-B688-BB68951D89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ee4e685-ee66-4e42-a1ac-a56027f700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6865315-44D2-4BE2-93F8-F68F77855B2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1925</Words>
  <Application>Microsoft Office PowerPoint</Application>
  <PresentationFormat>Presentación en pantalla (16:9)</PresentationFormat>
  <Paragraphs>205</Paragraphs>
  <Slides>41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7" baseType="lpstr">
      <vt:lpstr>Lato</vt:lpstr>
      <vt:lpstr>Wingdings</vt:lpstr>
      <vt:lpstr>Arial</vt:lpstr>
      <vt:lpstr>Google Sans</vt:lpstr>
      <vt:lpstr>Bebas Neue</vt:lpstr>
      <vt:lpstr>Social Skills Learning by Slidesgo</vt:lpstr>
      <vt:lpstr>Base de datos y sus usuarios</vt:lpstr>
      <vt:lpstr>CONCEPTOS BÁSICOS</vt:lpstr>
      <vt:lpstr>definiciones</vt:lpstr>
      <vt:lpstr>Conceptos y caracteristicas </vt:lpstr>
      <vt:lpstr>Presentación de PowerPoint</vt:lpstr>
      <vt:lpstr>Arquitecturas y tipos</vt:lpstr>
      <vt:lpstr>Arquitecturas de Bases de Datos</vt:lpstr>
      <vt:lpstr>Centralizada</vt:lpstr>
      <vt:lpstr>Cliente servidor</vt:lpstr>
      <vt:lpstr>distribuida</vt:lpstr>
      <vt:lpstr>Multinivel (3 capas)</vt:lpstr>
      <vt:lpstr>En la nube</vt:lpstr>
      <vt:lpstr>Tipos de Bases de Datos</vt:lpstr>
      <vt:lpstr>Relacional (SQL)</vt:lpstr>
      <vt:lpstr>Usuarios y administradores de una base de datos</vt:lpstr>
      <vt:lpstr>terminos</vt:lpstr>
      <vt:lpstr>Modelo lógico basado en registros</vt:lpstr>
      <vt:lpstr>Modelo jerárquico</vt:lpstr>
      <vt:lpstr>Modelo entidad relación e-r</vt:lpstr>
      <vt:lpstr>Simbología del Modelo entidad relación e-r</vt:lpstr>
      <vt:lpstr>cardinalidades</vt:lpstr>
      <vt:lpstr>Uno a Uno (1:1) </vt:lpstr>
      <vt:lpstr>Uno a Varios (1:N) </vt:lpstr>
      <vt:lpstr>Varios  a uno (n:1) </vt:lpstr>
      <vt:lpstr>Varios  a varios (n:m) </vt:lpstr>
      <vt:lpstr>Modelo relacional</vt:lpstr>
      <vt:lpstr>CLAVES</vt:lpstr>
      <vt:lpstr>PRIMARY KEY (PK)</vt:lpstr>
      <vt:lpstr>Primary key (pk)</vt:lpstr>
      <vt:lpstr>CLAVE FORANEA</vt:lpstr>
      <vt:lpstr>Referencia padre - hijo</vt:lpstr>
      <vt:lpstr>Reglas de integridad</vt:lpstr>
      <vt:lpstr>Reglas de integridad</vt:lpstr>
      <vt:lpstr>Ejercicios: modelo relacional</vt:lpstr>
      <vt:lpstr>Ejercicios: modelo relacional</vt:lpstr>
      <vt:lpstr>Ejercicios: modelo relacional</vt:lpstr>
      <vt:lpstr>Ejercicios: modelo relacional</vt:lpstr>
      <vt:lpstr>Ejercicios: modelo relacional</vt:lpstr>
      <vt:lpstr>Ejercicios: modelo relacional</vt:lpstr>
      <vt:lpstr>Ejercicios: modelo relacional</vt:lpstr>
      <vt:lpstr>Ejercicios: modelo relacional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Jahel Nogales</dc:creator>
  <cp:lastModifiedBy>NOGALES CARRERA JAHEL LILIANA</cp:lastModifiedBy>
  <cp:revision>8</cp:revision>
  <dcterms:modified xsi:type="dcterms:W3CDTF">2026-10-19T02:43:07Z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0x0101006ADE2FC0A3858847B3A72F667BC6B0B5</vt:lpwstr>
  </property>
</Properties>
</file>